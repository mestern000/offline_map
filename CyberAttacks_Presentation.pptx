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welcome.
My name is [Your Name], and today I'm going to take you on a journey into the world of cyber attacks — not from the perspective of a defender, but from the perspective of the attacker.
I think a lot of people imagine hackers as geniuses sitting in dark rooms typing frantically. The reality is far more methodical, and honestly, far more interesting.
By the end of this presentation, you'll understand exactly how cyber attacks unfold — step by step — and why understanding the attacker's mindset is the most important thing we can do to protect ourselves.
Let's dive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what we're going to cover in the next few minutes.
We'll start with the big picture — understanding the motivation behind cyber attacks. Then I'll walk you through each phase of a real attack: the reconnaissance, the preparation, the delivery, and what happens once an attacker is inside.
We'll also look at a real-world example that ties everything together, and finally, we'll talk about defense — because understanding the attack is only useful if it helps us protect ourselves.
Let's start at the beginning.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talk about HOW attacks happen, we need to ask WHY.
The answer is: it depends on the attacker.
The most common motivation is money. Ransomware attacks alone cost the world billions every year. Attackers encrypt your files and demand payment to restore them.
Then there's espionage — nation-states hacking each other to steal secrets. This is cyber warfare, and it's happening right now, invisibly, at a massive scale.
Some attacks are about disruption — taking down critical infrastructure to send a message or cause chaos. The Colonial Pipeline attack in 2021 shut down fuel supplies across the eastern United States for days.
And yes, sometimes people do it just to see if they can. But regardless of the motivation, the technical steps attackers follow are almost always the same.
And that's what we're going to break down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attack begins with reconnaissance — information gathering. This is the phase where the attacker is watching, learning, and mapping their target. They haven't done anything illegal yet. They're just observing.
There are two types of reconnaissance.
Passive reconnaissance means gathering information without touching the target's systems at all. An attacker might spend hours reading LinkedIn profiles to figure out which software a company uses. They might search Google for accidentally exposed documents. They might use a service called Shodan — which is basically a search engine for internet-connected devices — to find servers that are exposed and vulnerable.
Here's a scary fact: job postings are a goldmine for attackers. If a company posts a job saying "must know AWS, Kubernetes, and Salesforce," the attacker now knows exactly what tools they're running.
Active reconnaissance goes further. The attacker starts directly probing the target — scanning ports to see what doors are open, discovering subdomains, identifying software versions. This carries more risk for the attacker but gives them much more precise information.
By the end of this phase, a skilled attacker knows more about your network than some of your own employees.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attacker has a detailed picture of their target. The next phase is weaponization and delivery — actually building and launching the attack.
Step one: find a vulnerability. This could be a known software bug — these are published in public databases called CVE lists. Or it could be a "zero-day" — a vulnerability that nobody knows about yet, which makes it extremely dangerous and valuable.
Step two: build or buy the exploit. Attackers don't always write their own tools. There are entire marketplaces on the dark web selling exploit kits. Tools like Metasploit, which is actually used by legitimate security researchers, are also in every hacker's toolkit.
Step three: package the payload. The attacker wraps their malware in something that looks harmless — a PDF attachment, a Word document with macros, or a fake software update.
Step four: deliver it. And this is where it gets human.
The number one delivery method for cyber attacks is still email phishing. A cleverly crafted email that looks like it's from your boss, your bank, or a package delivery service. One click, and the payload is executed.
Let's talk about what happens at that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critical moment. The click. The exploit fires.
What happens in those milliseconds is fascinating. The malicious code runs inside a legitimate application — maybe Microsoft Word opens normally, and you see a normal document. But in the background, a process has started that the operating system thinks is legitimate.
The attacker's code exploits a flaw — maybe a buffer overflow, where too much data is crammed into a memory space and the overflow area happens to contain attacker code. Or it's a SQL injection that tricks a web server into dumping its entire database.
Here's the clever part: most attacks establish what's called a "reverse shell." Instead of the attacker connecting TO your computer — which firewalls would block — your computer initiates a connection OUT to the attacker. Firewalls generally allow outbound connections. So the attacker now has a tunnel into your system, and it looks like normal traffic.
And perhaps the most terrifying type is the zero-click exploit — where no user action is needed at all. Your phone or laptop is compromised just by receiving a specially crafted message. This is how Pegasus spyware works.
The door is now open. What does the attacker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part that most people don't realize: when attackers get in, they don't immediately grab data and leave. They settle in.
The IBM Cost of a Data Breach report found that attackers spend an average of 197 days inside a network before being detected. Nearly seven months. Living silently inside company systems.
So what do they do during that time?
First, they establish persistence. They create hidden backdoors — secret accounts, scheduled tasks that run on startup — so that even if the original vulnerability is patched, they still have access.
Then they escalate their privileges. They went in as a regular employee. They want to become an administrator. They do this by exploiting misconfigurations, stealing authentication tokens, or cracking password hashes they find in memory.
Then lateral movement. They hop from machine to machine across the internal network, using legitimate credentials they've stolen. They look like a real employee to all the monitoring tools.
And finally — the payoff. They exfiltrate sensitive data, they deploy ransomware, or they destroy the backups first and then encrypt everything to maximize damage.
This is a professional operation. And it's happening to organizations around the world every single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this concrete with a real example. The SolarWinds attack is widely considered one of the most sophisticated cyber attacks ever executed.
SolarWinds makes a network monitoring tool called Orion. It's used by governments, Fortune 500 companies, and military organizations around the world.
In October 2019 — a full year before anyone knew — attackers quietly gained access to SolarWinds' software development environment. They weren't after the company's data. They were after the company's customers.
In February 2020, they inserted a tiny piece of malicious code — called SUNBURST — into the Orion software update. Just a few lines, hidden in hundreds of thousands of lines of legitimate code.
In March 2020, SolarWinds pushed out the update to 18,000 of their customers. Because it was a legitimate update from a trusted vendor, with a valid digital signature, nobody questioned it. It installed quietly and waited.
For the next several months, the attackers used the backdoor to silently access their chosen targets — including the United States Treasury, the Department of Homeland Security, and Microsoft.
It wasn't until December 2020 that a cybersecurity firm called FireEye discovered the attack — and only because they noticed unusual activity in their own network.
Ten months. Inside the most sensitive government networks in the world. And no one knew.
This is why cybersecurity is not just an IT problem. It's a national security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defend ourselves? Understanding the attack chain gives us the blueprint.
Zero Trust Architecture is the modern gold standard. The old model assumed everything inside the company network was safe. Zero Trust says: trust nobody, verify everything, always. Even employees connecting from inside the office must prove who they are for every resource they access.
Patch management sounds boring but it's critical. The majority of successful attacks exploit known vulnerabilities that have been patched — just not applied. Organizations need a fast, systematic way to deploy patches.
Multi-factor authentication stops the overwhelming majority of credential attacks. Even if an attacker steals your password, they can't log in without your phone.
Network segmentation means dividing your network into isolated zones. If an attacker gets into the HR network, they can't automatically reach the financial systems. You contain the damage.
Security awareness training addresses the human element — because all the technical controls in the world can be bypassed by one employee clicking one bad link. Organizations that invest in training see dramatically lower breach rates.
And finally, proactive threat hunting. Don't wait for your systems to fire an alert. Assume you're already compromised and go looking. This is how the best security teams operate.
Defense is not about being impenetrable — it's about making the attack so difficult and detectable that the attacker moves on to an easier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the four things I want you to remember.
One: attacks are methodical, not magical. There's a clear step-by-step process — reconnaissance, weaponization, delivery, exploitation, persistence, exfiltration. If you understand the process, you can interrupt it.
Two: the human is the weakest link. No matter how sophisticated your firewall, a well-crafted phishing email can walk right past it. The most important security investment any organization can make is educating its people.
Three: dwell time is your enemy. The real damage happens not in the first hour, but in the first days, weeks, and months of undetected access. Fast detection — and a practiced incident response plan — is what separates manageable incidents from catastrophic ones.
And four: defense mirrors offense. The best cybersecurity professionals think like attackers. They run penetration tests, they red-team their own systems, they understand the adversary's mindset. You cannot protect what you don't understand.
Cybersecurity is not just for technical people. It affects everyone — every organization, every government, every individual. The more we understand it, the better equipped we all are.
Thank you very much for your attention.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Shape 1"/>
          <p:cNvSpPr/>
          <p:nvPr/>
        </p:nvSpPr>
        <p:spPr>
          <a:xfrm>
            <a:off x="0" y="4937760"/>
            <a:ext cx="9144000" cy="205740"/>
          </a:xfrm>
          <a:prstGeom prst="rect">
            <a:avLst/>
          </a:prstGeom>
          <a:solidFill>
            <a:srgbClr val="161B22"/>
          </a:solidFill>
          <a:ln w="12700">
            <a:solidFill>
              <a:srgbClr val="161B22"/>
            </a:solidFill>
            <a:prstDash val="solid"/>
          </a:ln>
        </p:spPr>
      </p:sp>
      <p:sp>
        <p:nvSpPr>
          <p:cNvPr id="4" name="Text 2"/>
          <p:cNvSpPr/>
          <p:nvPr/>
        </p:nvSpPr>
        <p:spPr>
          <a:xfrm>
            <a:off x="457200" y="731520"/>
            <a:ext cx="8229600" cy="1005840"/>
          </a:xfrm>
          <a:prstGeom prst="rect">
            <a:avLst/>
          </a:prstGeom>
          <a:noFill/>
          <a:ln/>
        </p:spPr>
        <p:txBody>
          <a:bodyPr wrap="square" rtlCol="0" anchor="ctr"/>
          <a:lstStyle/>
          <a:p>
            <a:pPr algn="l" indent="0" marL="0">
              <a:buNone/>
            </a:pPr>
            <a:r>
              <a:rPr lang="en-US" sz="5200" b="1" dirty="0">
                <a:solidFill>
                  <a:srgbClr val="FFFFFF"/>
                </a:solidFill>
                <a:latin typeface="Consolas" pitchFamily="34" charset="0"/>
                <a:ea typeface="Consolas" pitchFamily="34" charset="-122"/>
                <a:cs typeface="Consolas" pitchFamily="34" charset="-120"/>
              </a:rPr>
              <a:t>HOW CYBER ATTACKS</a:t>
            </a:r>
            <a:endParaRPr lang="en-US" sz="5200" dirty="0"/>
          </a:p>
        </p:txBody>
      </p:sp>
      <p:sp>
        <p:nvSpPr>
          <p:cNvPr id="5" name="Text 3"/>
          <p:cNvSpPr/>
          <p:nvPr/>
        </p:nvSpPr>
        <p:spPr>
          <a:xfrm>
            <a:off x="457200" y="1691640"/>
            <a:ext cx="8229600" cy="1005840"/>
          </a:xfrm>
          <a:prstGeom prst="rect">
            <a:avLst/>
          </a:prstGeom>
          <a:noFill/>
          <a:ln/>
        </p:spPr>
        <p:txBody>
          <a:bodyPr wrap="square" rtlCol="0" anchor="ctr"/>
          <a:lstStyle/>
          <a:p>
            <a:pPr algn="l" indent="0" marL="0">
              <a:buNone/>
            </a:pPr>
            <a:r>
              <a:rPr lang="en-US" sz="5200" b="1" dirty="0">
                <a:solidFill>
                  <a:srgbClr val="00D4FF"/>
                </a:solidFill>
                <a:latin typeface="Consolas" pitchFamily="34" charset="0"/>
                <a:ea typeface="Consolas" pitchFamily="34" charset="-122"/>
                <a:cs typeface="Consolas" pitchFamily="34" charset="-120"/>
              </a:rPr>
              <a:t>REALLY HAPPEN</a:t>
            </a:r>
            <a:endParaRPr lang="en-US" sz="5200" dirty="0"/>
          </a:p>
        </p:txBody>
      </p:sp>
      <p:sp>
        <p:nvSpPr>
          <p:cNvPr id="6" name="Text 4"/>
          <p:cNvSpPr/>
          <p:nvPr/>
        </p:nvSpPr>
        <p:spPr>
          <a:xfrm>
            <a:off x="457200" y="2743200"/>
            <a:ext cx="8229600" cy="457200"/>
          </a:xfrm>
          <a:prstGeom prst="rect">
            <a:avLst/>
          </a:prstGeom>
          <a:noFill/>
          <a:ln/>
        </p:spPr>
        <p:txBody>
          <a:bodyPr wrap="square" rtlCol="0" anchor="ctr"/>
          <a:lstStyle/>
          <a:p>
            <a:pPr algn="l" indent="0" marL="0">
              <a:buNone/>
            </a:pPr>
            <a:r>
              <a:rPr lang="en-US" sz="1800" i="1" dirty="0">
                <a:solidFill>
                  <a:srgbClr val="8B949E"/>
                </a:solidFill>
                <a:latin typeface="Calibri" pitchFamily="34" charset="0"/>
                <a:ea typeface="Calibri" pitchFamily="34" charset="-122"/>
                <a:cs typeface="Calibri" pitchFamily="34" charset="-120"/>
              </a:rPr>
              <a:t>A step-by-step look inside the mind of a hacker</a:t>
            </a:r>
            <a:endParaRPr lang="en-US" sz="1800" dirty="0"/>
          </a:p>
        </p:txBody>
      </p:sp>
      <p:sp>
        <p:nvSpPr>
          <p:cNvPr id="7" name="Shape 5"/>
          <p:cNvSpPr/>
          <p:nvPr/>
        </p:nvSpPr>
        <p:spPr>
          <a:xfrm>
            <a:off x="457200" y="3246120"/>
            <a:ext cx="54864" cy="1097280"/>
          </a:xfrm>
          <a:prstGeom prst="rect">
            <a:avLst/>
          </a:prstGeom>
          <a:solidFill>
            <a:srgbClr val="00D4FF"/>
          </a:solidFill>
          <a:ln w="12700">
            <a:solidFill>
              <a:srgbClr val="00D4FF"/>
            </a:solidFill>
            <a:prstDash val="solid"/>
          </a:ln>
        </p:spPr>
      </p:sp>
      <p:sp>
        <p:nvSpPr>
          <p:cNvPr id="8" name="Text 6"/>
          <p:cNvSpPr/>
          <p:nvPr/>
        </p:nvSpPr>
        <p:spPr>
          <a:xfrm>
            <a:off x="640080" y="3291840"/>
            <a:ext cx="7772400" cy="365760"/>
          </a:xfrm>
          <a:prstGeom prst="rect">
            <a:avLst/>
          </a:prstGeom>
          <a:noFill/>
          <a:ln/>
        </p:spPr>
        <p:txBody>
          <a:bodyPr wrap="square" rtlCol="0" anchor="ctr"/>
          <a:lstStyle/>
          <a:p>
            <a:pPr algn="l" indent="0" marL="0">
              <a:buNone/>
            </a:pPr>
            <a:r>
              <a:rPr lang="en-US" sz="1300" dirty="0">
                <a:solidFill>
                  <a:srgbClr val="8B949E"/>
                </a:solidFill>
                <a:latin typeface="Calibri" pitchFamily="34" charset="0"/>
                <a:ea typeface="Calibri" pitchFamily="34" charset="-122"/>
                <a:cs typeface="Calibri" pitchFamily="34" charset="-120"/>
              </a:rPr>
              <a:t>University Presentation  |  Cybersecurity Fundamentals</a:t>
            </a:r>
            <a:endParaRPr lang="en-US" sz="1300" dirty="0"/>
          </a:p>
        </p:txBody>
      </p:sp>
      <p:sp>
        <p:nvSpPr>
          <p:cNvPr id="9" name="Text 7"/>
          <p:cNvSpPr/>
          <p:nvPr/>
        </p:nvSpPr>
        <p:spPr>
          <a:xfrm>
            <a:off x="640080" y="3657600"/>
            <a:ext cx="7772400" cy="365760"/>
          </a:xfrm>
          <a:prstGeom prst="rect">
            <a:avLst/>
          </a:prstGeom>
          <a:noFill/>
          <a:ln/>
        </p:spPr>
        <p:txBody>
          <a:bodyPr wrap="square" rtlCol="0" anchor="ctr"/>
          <a:lstStyle/>
          <a:p>
            <a:pPr algn="l" indent="0" marL="0">
              <a:buNone/>
            </a:pPr>
            <a:r>
              <a:rPr lang="en-US" sz="1300" dirty="0">
                <a:solidFill>
                  <a:srgbClr val="8B949E"/>
                </a:solidFill>
                <a:latin typeface="Calibri" pitchFamily="34" charset="0"/>
                <a:ea typeface="Calibri" pitchFamily="34" charset="-122"/>
                <a:cs typeface="Calibri" pitchFamily="34" charset="-120"/>
              </a:rPr>
              <a:t>Prepared by: [Your Name]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228600"/>
            <a:ext cx="8229600" cy="822960"/>
          </a:xfrm>
          <a:prstGeom prst="rect">
            <a:avLst/>
          </a:prstGeom>
          <a:noFill/>
          <a:ln/>
        </p:spPr>
        <p:txBody>
          <a:bodyPr wrap="square" rtlCol="0" anchor="ctr"/>
          <a:lstStyle/>
          <a:p>
            <a:pPr algn="l" indent="0" marL="0">
              <a:buNone/>
            </a:pPr>
            <a:r>
              <a:rPr lang="en-US" sz="2800" b="1" dirty="0">
                <a:solidFill>
                  <a:srgbClr val="00D4FF"/>
                </a:solidFill>
                <a:latin typeface="Consolas" pitchFamily="34" charset="0"/>
                <a:ea typeface="Consolas" pitchFamily="34" charset="-122"/>
                <a:cs typeface="Consolas" pitchFamily="34" charset="-120"/>
              </a:rPr>
              <a:t>&gt; WHAT WE'LL COVER TODAY</a:t>
            </a:r>
            <a:endParaRPr lang="en-US" sz="2800" dirty="0"/>
          </a:p>
        </p:txBody>
      </p:sp>
      <p:sp>
        <p:nvSpPr>
          <p:cNvPr id="4" name="Shape 2"/>
          <p:cNvSpPr/>
          <p:nvPr/>
        </p:nvSpPr>
        <p:spPr>
          <a:xfrm>
            <a:off x="457200" y="960120"/>
            <a:ext cx="4114800" cy="731520"/>
          </a:xfrm>
          <a:prstGeom prst="rect">
            <a:avLst/>
          </a:prstGeom>
          <a:solidFill>
            <a:srgbClr val="1F2937"/>
          </a:solidFill>
          <a:ln w="12700">
            <a:solidFill>
              <a:srgbClr val="161B22"/>
            </a:solidFill>
            <a:prstDash val="solid"/>
          </a:ln>
        </p:spPr>
      </p:sp>
      <p:sp>
        <p:nvSpPr>
          <p:cNvPr id="5" name="Shape 3"/>
          <p:cNvSpPr/>
          <p:nvPr/>
        </p:nvSpPr>
        <p:spPr>
          <a:xfrm>
            <a:off x="457200" y="960120"/>
            <a:ext cx="54864" cy="731520"/>
          </a:xfrm>
          <a:prstGeom prst="rect">
            <a:avLst/>
          </a:prstGeom>
          <a:solidFill>
            <a:srgbClr val="00D4FF"/>
          </a:solidFill>
          <a:ln w="12700">
            <a:solidFill>
              <a:srgbClr val="00D4FF"/>
            </a:solidFill>
            <a:prstDash val="solid"/>
          </a:ln>
        </p:spPr>
      </p:sp>
      <p:sp>
        <p:nvSpPr>
          <p:cNvPr id="6" name="Text 4"/>
          <p:cNvSpPr/>
          <p:nvPr/>
        </p:nvSpPr>
        <p:spPr>
          <a:xfrm>
            <a:off x="594360" y="1005840"/>
            <a:ext cx="502920" cy="502920"/>
          </a:xfrm>
          <a:prstGeom prst="rect">
            <a:avLst/>
          </a:prstGeom>
          <a:noFill/>
          <a:ln/>
        </p:spPr>
        <p:txBody>
          <a:bodyPr wrap="square" rtlCol="0" anchor="ctr"/>
          <a:lstStyle/>
          <a:p>
            <a:pPr indent="0" marL="0">
              <a:buNone/>
            </a:pPr>
            <a:r>
              <a:rPr lang="en-US" sz="1400" b="1" dirty="0">
                <a:solidFill>
                  <a:srgbClr val="00D4FF"/>
                </a:solidFill>
                <a:latin typeface="Consolas" pitchFamily="34" charset="0"/>
                <a:ea typeface="Consolas" pitchFamily="34" charset="-122"/>
                <a:cs typeface="Consolas" pitchFamily="34" charset="-120"/>
              </a:rPr>
              <a:t>01</a:t>
            </a:r>
            <a:endParaRPr lang="en-US" sz="1400" dirty="0"/>
          </a:p>
        </p:txBody>
      </p:sp>
      <p:sp>
        <p:nvSpPr>
          <p:cNvPr id="7" name="Text 5"/>
          <p:cNvSpPr/>
          <p:nvPr/>
        </p:nvSpPr>
        <p:spPr>
          <a:xfrm>
            <a:off x="1097280" y="1005840"/>
            <a:ext cx="3383280" cy="5943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Big Picture — Why Attacks Happen</a:t>
            </a:r>
            <a:endParaRPr lang="en-US" sz="1350" dirty="0"/>
          </a:p>
        </p:txBody>
      </p:sp>
      <p:sp>
        <p:nvSpPr>
          <p:cNvPr id="8" name="Shape 6"/>
          <p:cNvSpPr/>
          <p:nvPr/>
        </p:nvSpPr>
        <p:spPr>
          <a:xfrm>
            <a:off x="457200" y="1856232"/>
            <a:ext cx="4114800" cy="731520"/>
          </a:xfrm>
          <a:prstGeom prst="rect">
            <a:avLst/>
          </a:prstGeom>
          <a:solidFill>
            <a:srgbClr val="1F2937"/>
          </a:solidFill>
          <a:ln w="12700">
            <a:solidFill>
              <a:srgbClr val="161B22"/>
            </a:solidFill>
            <a:prstDash val="solid"/>
          </a:ln>
        </p:spPr>
      </p:sp>
      <p:sp>
        <p:nvSpPr>
          <p:cNvPr id="9" name="Shape 7"/>
          <p:cNvSpPr/>
          <p:nvPr/>
        </p:nvSpPr>
        <p:spPr>
          <a:xfrm>
            <a:off x="457200" y="1856232"/>
            <a:ext cx="54864" cy="731520"/>
          </a:xfrm>
          <a:prstGeom prst="rect">
            <a:avLst/>
          </a:prstGeom>
          <a:solidFill>
            <a:srgbClr val="00D4FF"/>
          </a:solidFill>
          <a:ln w="12700">
            <a:solidFill>
              <a:srgbClr val="00D4FF"/>
            </a:solidFill>
            <a:prstDash val="solid"/>
          </a:ln>
        </p:spPr>
      </p:sp>
      <p:sp>
        <p:nvSpPr>
          <p:cNvPr id="10" name="Text 8"/>
          <p:cNvSpPr/>
          <p:nvPr/>
        </p:nvSpPr>
        <p:spPr>
          <a:xfrm>
            <a:off x="594360" y="1901952"/>
            <a:ext cx="502920" cy="502920"/>
          </a:xfrm>
          <a:prstGeom prst="rect">
            <a:avLst/>
          </a:prstGeom>
          <a:noFill/>
          <a:ln/>
        </p:spPr>
        <p:txBody>
          <a:bodyPr wrap="square" rtlCol="0" anchor="ctr"/>
          <a:lstStyle/>
          <a:p>
            <a:pPr indent="0" marL="0">
              <a:buNone/>
            </a:pPr>
            <a:r>
              <a:rPr lang="en-US" sz="1400" b="1" dirty="0">
                <a:solidFill>
                  <a:srgbClr val="00D4FF"/>
                </a:solidFill>
                <a:latin typeface="Consolas" pitchFamily="34" charset="0"/>
                <a:ea typeface="Consolas" pitchFamily="34" charset="-122"/>
                <a:cs typeface="Consolas" pitchFamily="34" charset="-120"/>
              </a:rPr>
              <a:t>02</a:t>
            </a:r>
            <a:endParaRPr lang="en-US" sz="1400" dirty="0"/>
          </a:p>
        </p:txBody>
      </p:sp>
      <p:sp>
        <p:nvSpPr>
          <p:cNvPr id="11" name="Text 9"/>
          <p:cNvSpPr/>
          <p:nvPr/>
        </p:nvSpPr>
        <p:spPr>
          <a:xfrm>
            <a:off x="1097280" y="1901952"/>
            <a:ext cx="3383280" cy="5943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Reconnaissance — The Stalking Phase</a:t>
            </a:r>
            <a:endParaRPr lang="en-US" sz="1350" dirty="0"/>
          </a:p>
        </p:txBody>
      </p:sp>
      <p:sp>
        <p:nvSpPr>
          <p:cNvPr id="12" name="Shape 10"/>
          <p:cNvSpPr/>
          <p:nvPr/>
        </p:nvSpPr>
        <p:spPr>
          <a:xfrm>
            <a:off x="457200" y="2752344"/>
            <a:ext cx="4114800" cy="731520"/>
          </a:xfrm>
          <a:prstGeom prst="rect">
            <a:avLst/>
          </a:prstGeom>
          <a:solidFill>
            <a:srgbClr val="1F2937"/>
          </a:solidFill>
          <a:ln w="12700">
            <a:solidFill>
              <a:srgbClr val="161B22"/>
            </a:solidFill>
            <a:prstDash val="solid"/>
          </a:ln>
        </p:spPr>
      </p:sp>
      <p:sp>
        <p:nvSpPr>
          <p:cNvPr id="13" name="Shape 11"/>
          <p:cNvSpPr/>
          <p:nvPr/>
        </p:nvSpPr>
        <p:spPr>
          <a:xfrm>
            <a:off x="457200" y="2752344"/>
            <a:ext cx="54864" cy="731520"/>
          </a:xfrm>
          <a:prstGeom prst="rect">
            <a:avLst/>
          </a:prstGeom>
          <a:solidFill>
            <a:srgbClr val="00D4FF"/>
          </a:solidFill>
          <a:ln w="12700">
            <a:solidFill>
              <a:srgbClr val="00D4FF"/>
            </a:solidFill>
            <a:prstDash val="solid"/>
          </a:ln>
        </p:spPr>
      </p:sp>
      <p:sp>
        <p:nvSpPr>
          <p:cNvPr id="14" name="Text 12"/>
          <p:cNvSpPr/>
          <p:nvPr/>
        </p:nvSpPr>
        <p:spPr>
          <a:xfrm>
            <a:off x="594360" y="2798064"/>
            <a:ext cx="502920" cy="502920"/>
          </a:xfrm>
          <a:prstGeom prst="rect">
            <a:avLst/>
          </a:prstGeom>
          <a:noFill/>
          <a:ln/>
        </p:spPr>
        <p:txBody>
          <a:bodyPr wrap="square" rtlCol="0" anchor="ctr"/>
          <a:lstStyle/>
          <a:p>
            <a:pPr indent="0" marL="0">
              <a:buNone/>
            </a:pPr>
            <a:r>
              <a:rPr lang="en-US" sz="1400" b="1" dirty="0">
                <a:solidFill>
                  <a:srgbClr val="00D4FF"/>
                </a:solidFill>
                <a:latin typeface="Consolas" pitchFamily="34" charset="0"/>
                <a:ea typeface="Consolas" pitchFamily="34" charset="-122"/>
                <a:cs typeface="Consolas" pitchFamily="34" charset="-120"/>
              </a:rPr>
              <a:t>03</a:t>
            </a:r>
            <a:endParaRPr lang="en-US" sz="1400" dirty="0"/>
          </a:p>
        </p:txBody>
      </p:sp>
      <p:sp>
        <p:nvSpPr>
          <p:cNvPr id="15" name="Text 13"/>
          <p:cNvSpPr/>
          <p:nvPr/>
        </p:nvSpPr>
        <p:spPr>
          <a:xfrm>
            <a:off x="1097280" y="2798064"/>
            <a:ext cx="3383280" cy="5943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Weaponization &amp; Delivery</a:t>
            </a:r>
            <a:endParaRPr lang="en-US" sz="1350" dirty="0"/>
          </a:p>
        </p:txBody>
      </p:sp>
      <p:sp>
        <p:nvSpPr>
          <p:cNvPr id="16" name="Shape 14"/>
          <p:cNvSpPr/>
          <p:nvPr/>
        </p:nvSpPr>
        <p:spPr>
          <a:xfrm>
            <a:off x="457200" y="3648456"/>
            <a:ext cx="4114800" cy="731520"/>
          </a:xfrm>
          <a:prstGeom prst="rect">
            <a:avLst/>
          </a:prstGeom>
          <a:solidFill>
            <a:srgbClr val="1F2937"/>
          </a:solidFill>
          <a:ln w="12700">
            <a:solidFill>
              <a:srgbClr val="161B22"/>
            </a:solidFill>
            <a:prstDash val="solid"/>
          </a:ln>
        </p:spPr>
      </p:sp>
      <p:sp>
        <p:nvSpPr>
          <p:cNvPr id="17" name="Shape 15"/>
          <p:cNvSpPr/>
          <p:nvPr/>
        </p:nvSpPr>
        <p:spPr>
          <a:xfrm>
            <a:off x="457200" y="3648456"/>
            <a:ext cx="54864" cy="731520"/>
          </a:xfrm>
          <a:prstGeom prst="rect">
            <a:avLst/>
          </a:prstGeom>
          <a:solidFill>
            <a:srgbClr val="00D4FF"/>
          </a:solidFill>
          <a:ln w="12700">
            <a:solidFill>
              <a:srgbClr val="00D4FF"/>
            </a:solidFill>
            <a:prstDash val="solid"/>
          </a:ln>
        </p:spPr>
      </p:sp>
      <p:sp>
        <p:nvSpPr>
          <p:cNvPr id="18" name="Text 16"/>
          <p:cNvSpPr/>
          <p:nvPr/>
        </p:nvSpPr>
        <p:spPr>
          <a:xfrm>
            <a:off x="594360" y="3694176"/>
            <a:ext cx="502920" cy="502920"/>
          </a:xfrm>
          <a:prstGeom prst="rect">
            <a:avLst/>
          </a:prstGeom>
          <a:noFill/>
          <a:ln/>
        </p:spPr>
        <p:txBody>
          <a:bodyPr wrap="square" rtlCol="0" anchor="ctr"/>
          <a:lstStyle/>
          <a:p>
            <a:pPr indent="0" marL="0">
              <a:buNone/>
            </a:pPr>
            <a:r>
              <a:rPr lang="en-US" sz="1400" b="1" dirty="0">
                <a:solidFill>
                  <a:srgbClr val="00D4FF"/>
                </a:solidFill>
                <a:latin typeface="Consolas" pitchFamily="34" charset="0"/>
                <a:ea typeface="Consolas" pitchFamily="34" charset="-122"/>
                <a:cs typeface="Consolas" pitchFamily="34" charset="-120"/>
              </a:rPr>
              <a:t>04</a:t>
            </a:r>
            <a:endParaRPr lang="en-US" sz="1400" dirty="0"/>
          </a:p>
        </p:txBody>
      </p:sp>
      <p:sp>
        <p:nvSpPr>
          <p:cNvPr id="19" name="Text 17"/>
          <p:cNvSpPr/>
          <p:nvPr/>
        </p:nvSpPr>
        <p:spPr>
          <a:xfrm>
            <a:off x="1097280" y="3694176"/>
            <a:ext cx="3383280" cy="5943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Exploitation — The Moment of Entry</a:t>
            </a:r>
            <a:endParaRPr lang="en-US" sz="1350" dirty="0"/>
          </a:p>
        </p:txBody>
      </p:sp>
      <p:sp>
        <p:nvSpPr>
          <p:cNvPr id="20" name="Shape 18"/>
          <p:cNvSpPr/>
          <p:nvPr/>
        </p:nvSpPr>
        <p:spPr>
          <a:xfrm>
            <a:off x="4846320" y="960120"/>
            <a:ext cx="4114800" cy="731520"/>
          </a:xfrm>
          <a:prstGeom prst="rect">
            <a:avLst/>
          </a:prstGeom>
          <a:solidFill>
            <a:srgbClr val="1F2937"/>
          </a:solidFill>
          <a:ln w="12700">
            <a:solidFill>
              <a:srgbClr val="161B22"/>
            </a:solidFill>
            <a:prstDash val="solid"/>
          </a:ln>
        </p:spPr>
      </p:sp>
      <p:sp>
        <p:nvSpPr>
          <p:cNvPr id="21" name="Shape 19"/>
          <p:cNvSpPr/>
          <p:nvPr/>
        </p:nvSpPr>
        <p:spPr>
          <a:xfrm>
            <a:off x="4846320" y="960120"/>
            <a:ext cx="54864" cy="731520"/>
          </a:xfrm>
          <a:prstGeom prst="rect">
            <a:avLst/>
          </a:prstGeom>
          <a:solidFill>
            <a:srgbClr val="00D4FF"/>
          </a:solidFill>
          <a:ln w="12700">
            <a:solidFill>
              <a:srgbClr val="00D4FF"/>
            </a:solidFill>
            <a:prstDash val="solid"/>
          </a:ln>
        </p:spPr>
      </p:sp>
      <p:sp>
        <p:nvSpPr>
          <p:cNvPr id="22" name="Text 20"/>
          <p:cNvSpPr/>
          <p:nvPr/>
        </p:nvSpPr>
        <p:spPr>
          <a:xfrm>
            <a:off x="4983480" y="1005840"/>
            <a:ext cx="502920" cy="502920"/>
          </a:xfrm>
          <a:prstGeom prst="rect">
            <a:avLst/>
          </a:prstGeom>
          <a:noFill/>
          <a:ln/>
        </p:spPr>
        <p:txBody>
          <a:bodyPr wrap="square" rtlCol="0" anchor="ctr"/>
          <a:lstStyle/>
          <a:p>
            <a:pPr indent="0" marL="0">
              <a:buNone/>
            </a:pPr>
            <a:r>
              <a:rPr lang="en-US" sz="1400" b="1" dirty="0">
                <a:solidFill>
                  <a:srgbClr val="00D4FF"/>
                </a:solidFill>
                <a:latin typeface="Consolas" pitchFamily="34" charset="0"/>
                <a:ea typeface="Consolas" pitchFamily="34" charset="-122"/>
                <a:cs typeface="Consolas" pitchFamily="34" charset="-120"/>
              </a:rPr>
              <a:t>05</a:t>
            </a:r>
            <a:endParaRPr lang="en-US" sz="1400" dirty="0"/>
          </a:p>
        </p:txBody>
      </p:sp>
      <p:sp>
        <p:nvSpPr>
          <p:cNvPr id="23" name="Text 21"/>
          <p:cNvSpPr/>
          <p:nvPr/>
        </p:nvSpPr>
        <p:spPr>
          <a:xfrm>
            <a:off x="5486400" y="1005840"/>
            <a:ext cx="3383280" cy="5943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Post-Exploitation — What Happens Next</a:t>
            </a:r>
            <a:endParaRPr lang="en-US" sz="1350" dirty="0"/>
          </a:p>
        </p:txBody>
      </p:sp>
      <p:sp>
        <p:nvSpPr>
          <p:cNvPr id="24" name="Shape 22"/>
          <p:cNvSpPr/>
          <p:nvPr/>
        </p:nvSpPr>
        <p:spPr>
          <a:xfrm>
            <a:off x="4846320" y="1856232"/>
            <a:ext cx="4114800" cy="731520"/>
          </a:xfrm>
          <a:prstGeom prst="rect">
            <a:avLst/>
          </a:prstGeom>
          <a:solidFill>
            <a:srgbClr val="1F2937"/>
          </a:solidFill>
          <a:ln w="12700">
            <a:solidFill>
              <a:srgbClr val="161B22"/>
            </a:solidFill>
            <a:prstDash val="solid"/>
          </a:ln>
        </p:spPr>
      </p:sp>
      <p:sp>
        <p:nvSpPr>
          <p:cNvPr id="25" name="Shape 23"/>
          <p:cNvSpPr/>
          <p:nvPr/>
        </p:nvSpPr>
        <p:spPr>
          <a:xfrm>
            <a:off x="4846320" y="1856232"/>
            <a:ext cx="54864" cy="731520"/>
          </a:xfrm>
          <a:prstGeom prst="rect">
            <a:avLst/>
          </a:prstGeom>
          <a:solidFill>
            <a:srgbClr val="00D4FF"/>
          </a:solidFill>
          <a:ln w="12700">
            <a:solidFill>
              <a:srgbClr val="00D4FF"/>
            </a:solidFill>
            <a:prstDash val="solid"/>
          </a:ln>
        </p:spPr>
      </p:sp>
      <p:sp>
        <p:nvSpPr>
          <p:cNvPr id="26" name="Text 24"/>
          <p:cNvSpPr/>
          <p:nvPr/>
        </p:nvSpPr>
        <p:spPr>
          <a:xfrm>
            <a:off x="4983480" y="1901952"/>
            <a:ext cx="502920" cy="502920"/>
          </a:xfrm>
          <a:prstGeom prst="rect">
            <a:avLst/>
          </a:prstGeom>
          <a:noFill/>
          <a:ln/>
        </p:spPr>
        <p:txBody>
          <a:bodyPr wrap="square" rtlCol="0" anchor="ctr"/>
          <a:lstStyle/>
          <a:p>
            <a:pPr indent="0" marL="0">
              <a:buNone/>
            </a:pPr>
            <a:r>
              <a:rPr lang="en-US" sz="1400" b="1" dirty="0">
                <a:solidFill>
                  <a:srgbClr val="00D4FF"/>
                </a:solidFill>
                <a:latin typeface="Consolas" pitchFamily="34" charset="0"/>
                <a:ea typeface="Consolas" pitchFamily="34" charset="-122"/>
                <a:cs typeface="Consolas" pitchFamily="34" charset="-120"/>
              </a:rPr>
              <a:t>06</a:t>
            </a:r>
            <a:endParaRPr lang="en-US" sz="1400" dirty="0"/>
          </a:p>
        </p:txBody>
      </p:sp>
      <p:sp>
        <p:nvSpPr>
          <p:cNvPr id="27" name="Text 25"/>
          <p:cNvSpPr/>
          <p:nvPr/>
        </p:nvSpPr>
        <p:spPr>
          <a:xfrm>
            <a:off x="5486400" y="1901952"/>
            <a:ext cx="3383280" cy="5943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Real-World Example — A Full Attack Chain</a:t>
            </a:r>
            <a:endParaRPr lang="en-US" sz="1350" dirty="0"/>
          </a:p>
        </p:txBody>
      </p:sp>
      <p:sp>
        <p:nvSpPr>
          <p:cNvPr id="28" name="Shape 26"/>
          <p:cNvSpPr/>
          <p:nvPr/>
        </p:nvSpPr>
        <p:spPr>
          <a:xfrm>
            <a:off x="4846320" y="2752344"/>
            <a:ext cx="4114800" cy="731520"/>
          </a:xfrm>
          <a:prstGeom prst="rect">
            <a:avLst/>
          </a:prstGeom>
          <a:solidFill>
            <a:srgbClr val="1F2937"/>
          </a:solidFill>
          <a:ln w="12700">
            <a:solidFill>
              <a:srgbClr val="161B22"/>
            </a:solidFill>
            <a:prstDash val="solid"/>
          </a:ln>
        </p:spPr>
      </p:sp>
      <p:sp>
        <p:nvSpPr>
          <p:cNvPr id="29" name="Shape 27"/>
          <p:cNvSpPr/>
          <p:nvPr/>
        </p:nvSpPr>
        <p:spPr>
          <a:xfrm>
            <a:off x="4846320" y="2752344"/>
            <a:ext cx="54864" cy="731520"/>
          </a:xfrm>
          <a:prstGeom prst="rect">
            <a:avLst/>
          </a:prstGeom>
          <a:solidFill>
            <a:srgbClr val="00D4FF"/>
          </a:solidFill>
          <a:ln w="12700">
            <a:solidFill>
              <a:srgbClr val="00D4FF"/>
            </a:solidFill>
            <a:prstDash val="solid"/>
          </a:ln>
        </p:spPr>
      </p:sp>
      <p:sp>
        <p:nvSpPr>
          <p:cNvPr id="30" name="Text 28"/>
          <p:cNvSpPr/>
          <p:nvPr/>
        </p:nvSpPr>
        <p:spPr>
          <a:xfrm>
            <a:off x="4983480" y="2798064"/>
            <a:ext cx="502920" cy="502920"/>
          </a:xfrm>
          <a:prstGeom prst="rect">
            <a:avLst/>
          </a:prstGeom>
          <a:noFill/>
          <a:ln/>
        </p:spPr>
        <p:txBody>
          <a:bodyPr wrap="square" rtlCol="0" anchor="ctr"/>
          <a:lstStyle/>
          <a:p>
            <a:pPr indent="0" marL="0">
              <a:buNone/>
            </a:pPr>
            <a:r>
              <a:rPr lang="en-US" sz="1400" b="1" dirty="0">
                <a:solidFill>
                  <a:srgbClr val="00D4FF"/>
                </a:solidFill>
                <a:latin typeface="Consolas" pitchFamily="34" charset="0"/>
                <a:ea typeface="Consolas" pitchFamily="34" charset="-122"/>
                <a:cs typeface="Consolas" pitchFamily="34" charset="-120"/>
              </a:rPr>
              <a:t>07</a:t>
            </a:r>
            <a:endParaRPr lang="en-US" sz="1400" dirty="0"/>
          </a:p>
        </p:txBody>
      </p:sp>
      <p:sp>
        <p:nvSpPr>
          <p:cNvPr id="31" name="Text 29"/>
          <p:cNvSpPr/>
          <p:nvPr/>
        </p:nvSpPr>
        <p:spPr>
          <a:xfrm>
            <a:off x="5486400" y="2798064"/>
            <a:ext cx="3383280" cy="5943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How We Defend Against This</a:t>
            </a:r>
            <a:endParaRPr lang="en-US" sz="1350" dirty="0"/>
          </a:p>
        </p:txBody>
      </p:sp>
      <p:sp>
        <p:nvSpPr>
          <p:cNvPr id="32" name="Shape 30"/>
          <p:cNvSpPr/>
          <p:nvPr/>
        </p:nvSpPr>
        <p:spPr>
          <a:xfrm>
            <a:off x="4846320" y="3648456"/>
            <a:ext cx="4114800" cy="731520"/>
          </a:xfrm>
          <a:prstGeom prst="rect">
            <a:avLst/>
          </a:prstGeom>
          <a:solidFill>
            <a:srgbClr val="1F2937"/>
          </a:solidFill>
          <a:ln w="12700">
            <a:solidFill>
              <a:srgbClr val="161B22"/>
            </a:solidFill>
            <a:prstDash val="solid"/>
          </a:ln>
        </p:spPr>
      </p:sp>
      <p:sp>
        <p:nvSpPr>
          <p:cNvPr id="33" name="Shape 31"/>
          <p:cNvSpPr/>
          <p:nvPr/>
        </p:nvSpPr>
        <p:spPr>
          <a:xfrm>
            <a:off x="4846320" y="3648456"/>
            <a:ext cx="54864" cy="731520"/>
          </a:xfrm>
          <a:prstGeom prst="rect">
            <a:avLst/>
          </a:prstGeom>
          <a:solidFill>
            <a:srgbClr val="00D4FF"/>
          </a:solidFill>
          <a:ln w="12700">
            <a:solidFill>
              <a:srgbClr val="00D4FF"/>
            </a:solidFill>
            <a:prstDash val="solid"/>
          </a:ln>
        </p:spPr>
      </p:sp>
      <p:sp>
        <p:nvSpPr>
          <p:cNvPr id="34" name="Text 32"/>
          <p:cNvSpPr/>
          <p:nvPr/>
        </p:nvSpPr>
        <p:spPr>
          <a:xfrm>
            <a:off x="4983480" y="3694176"/>
            <a:ext cx="502920" cy="502920"/>
          </a:xfrm>
          <a:prstGeom prst="rect">
            <a:avLst/>
          </a:prstGeom>
          <a:noFill/>
          <a:ln/>
        </p:spPr>
        <p:txBody>
          <a:bodyPr wrap="square" rtlCol="0" anchor="ctr"/>
          <a:lstStyle/>
          <a:p>
            <a:pPr indent="0" marL="0">
              <a:buNone/>
            </a:pPr>
            <a:r>
              <a:rPr lang="en-US" sz="1400" b="1" dirty="0">
                <a:solidFill>
                  <a:srgbClr val="00D4FF"/>
                </a:solidFill>
                <a:latin typeface="Consolas" pitchFamily="34" charset="0"/>
                <a:ea typeface="Consolas" pitchFamily="34" charset="-122"/>
                <a:cs typeface="Consolas" pitchFamily="34" charset="-120"/>
              </a:rPr>
              <a:t>08</a:t>
            </a:r>
            <a:endParaRPr lang="en-US" sz="1400" dirty="0"/>
          </a:p>
        </p:txBody>
      </p:sp>
      <p:sp>
        <p:nvSpPr>
          <p:cNvPr id="35" name="Text 33"/>
          <p:cNvSpPr/>
          <p:nvPr/>
        </p:nvSpPr>
        <p:spPr>
          <a:xfrm>
            <a:off x="5486400" y="3694176"/>
            <a:ext cx="3383280" cy="5943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Key Takeaways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82880"/>
            <a:ext cx="8229600" cy="822960"/>
          </a:xfrm>
          <a:prstGeom prst="rect">
            <a:avLst/>
          </a:prstGeom>
          <a:noFill/>
          <a:ln/>
        </p:spPr>
        <p:txBody>
          <a:bodyPr wrap="square" rtlCol="0" anchor="ctr"/>
          <a:lstStyle/>
          <a:p>
            <a:pPr algn="l" indent="0" marL="0">
              <a:buNone/>
            </a:pPr>
            <a:r>
              <a:rPr lang="en-US" sz="2600" b="1" dirty="0">
                <a:solidFill>
                  <a:srgbClr val="00D4FF"/>
                </a:solidFill>
                <a:latin typeface="Consolas" pitchFamily="34" charset="0"/>
                <a:ea typeface="Consolas" pitchFamily="34" charset="-122"/>
                <a:cs typeface="Consolas" pitchFamily="34" charset="-120"/>
              </a:rPr>
              <a:t>01  |  THE BIG PICTURE</a:t>
            </a:r>
            <a:endParaRPr lang="en-US" sz="2600" dirty="0"/>
          </a:p>
        </p:txBody>
      </p:sp>
      <p:sp>
        <p:nvSpPr>
          <p:cNvPr id="4" name="Text 2"/>
          <p:cNvSpPr/>
          <p:nvPr/>
        </p:nvSpPr>
        <p:spPr>
          <a:xfrm>
            <a:off x="457200" y="777240"/>
            <a:ext cx="8229600" cy="4572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Why do cyber attacks happen?</a:t>
            </a:r>
            <a:endParaRPr lang="en-US" sz="2000" dirty="0"/>
          </a:p>
        </p:txBody>
      </p:sp>
      <p:sp>
        <p:nvSpPr>
          <p:cNvPr id="5" name="Shape 3"/>
          <p:cNvSpPr/>
          <p:nvPr/>
        </p:nvSpPr>
        <p:spPr>
          <a:xfrm>
            <a:off x="365760" y="1371600"/>
            <a:ext cx="1965960" cy="3200400"/>
          </a:xfrm>
          <a:prstGeom prst="rect">
            <a:avLst/>
          </a:prstGeom>
          <a:solidFill>
            <a:srgbClr val="1F2937"/>
          </a:solidFill>
          <a:ln w="12700">
            <a:solidFill>
              <a:srgbClr val="161B22"/>
            </a:solidFill>
            <a:prstDash val="solid"/>
          </a:ln>
        </p:spPr>
      </p:sp>
      <p:sp>
        <p:nvSpPr>
          <p:cNvPr id="6" name="Shape 4"/>
          <p:cNvSpPr/>
          <p:nvPr/>
        </p:nvSpPr>
        <p:spPr>
          <a:xfrm>
            <a:off x="365760" y="1371600"/>
            <a:ext cx="1965960" cy="64008"/>
          </a:xfrm>
          <a:prstGeom prst="rect">
            <a:avLst/>
          </a:prstGeom>
          <a:solidFill>
            <a:srgbClr val="39D353"/>
          </a:solidFill>
          <a:ln w="12700">
            <a:solidFill>
              <a:srgbClr val="39D353"/>
            </a:solidFill>
            <a:prstDash val="solid"/>
          </a:ln>
        </p:spPr>
      </p:sp>
      <p:sp>
        <p:nvSpPr>
          <p:cNvPr id="7" name="Text 5"/>
          <p:cNvSpPr/>
          <p:nvPr/>
        </p:nvSpPr>
        <p:spPr>
          <a:xfrm>
            <a:off x="365760" y="1508760"/>
            <a:ext cx="1965960" cy="502920"/>
          </a:xfrm>
          <a:prstGeom prst="rect">
            <a:avLst/>
          </a:prstGeom>
          <a:noFill/>
          <a:ln/>
        </p:spPr>
        <p:txBody>
          <a:bodyPr wrap="square" rtlCol="0" anchor="ctr"/>
          <a:lstStyle/>
          <a:p>
            <a:pPr algn="ctr" indent="0" marL="0">
              <a:buNone/>
            </a:pPr>
            <a:r>
              <a:rPr lang="en-US" sz="2400" dirty="0">
                <a:solidFill>
                  <a:srgbClr val="39D353"/>
                </a:solidFill>
                <a:latin typeface="Consolas" pitchFamily="34" charset="0"/>
                <a:ea typeface="Consolas" pitchFamily="34" charset="-122"/>
                <a:cs typeface="Consolas" pitchFamily="34" charset="-120"/>
              </a:rPr>
              <a:t>$</a:t>
            </a:r>
            <a:endParaRPr lang="en-US" sz="2400" dirty="0"/>
          </a:p>
        </p:txBody>
      </p:sp>
      <p:sp>
        <p:nvSpPr>
          <p:cNvPr id="8" name="Text 6"/>
          <p:cNvSpPr/>
          <p:nvPr/>
        </p:nvSpPr>
        <p:spPr>
          <a:xfrm>
            <a:off x="365760" y="2057400"/>
            <a:ext cx="19659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Financial Gain</a:t>
            </a:r>
            <a:endParaRPr lang="en-US" sz="1400" dirty="0"/>
          </a:p>
        </p:txBody>
      </p:sp>
      <p:sp>
        <p:nvSpPr>
          <p:cNvPr id="9" name="Text 7"/>
          <p:cNvSpPr/>
          <p:nvPr/>
        </p:nvSpPr>
        <p:spPr>
          <a:xfrm>
            <a:off x="475488" y="2560320"/>
            <a:ext cx="1737360" cy="1828800"/>
          </a:xfrm>
          <a:prstGeom prst="rect">
            <a:avLst/>
          </a:prstGeom>
          <a:noFill/>
          <a:ln/>
        </p:spPr>
        <p:txBody>
          <a:bodyPr wrap="square" rtlCol="0" anchor="ctr"/>
          <a:lstStyle/>
          <a:p>
            <a:pPr algn="l" indent="0" marL="0">
              <a:buNone/>
            </a:pPr>
            <a:r>
              <a:rPr lang="en-US" sz="1200" dirty="0">
                <a:solidFill>
                  <a:srgbClr val="8B949E"/>
                </a:solidFill>
                <a:latin typeface="Calibri" pitchFamily="34" charset="0"/>
                <a:ea typeface="Calibri" pitchFamily="34" charset="-122"/>
                <a:cs typeface="Calibri" pitchFamily="34" charset="-120"/>
              </a:rPr>
              <a:t>Ransomware, bank fraud, stolen credit cards. Most attackers are just criminals motivated by money.</a:t>
            </a:r>
            <a:endParaRPr lang="en-US" sz="1200" dirty="0"/>
          </a:p>
        </p:txBody>
      </p:sp>
      <p:sp>
        <p:nvSpPr>
          <p:cNvPr id="10" name="Shape 8"/>
          <p:cNvSpPr/>
          <p:nvPr/>
        </p:nvSpPr>
        <p:spPr>
          <a:xfrm>
            <a:off x="2514600" y="1371600"/>
            <a:ext cx="1965960" cy="3200400"/>
          </a:xfrm>
          <a:prstGeom prst="rect">
            <a:avLst/>
          </a:prstGeom>
          <a:solidFill>
            <a:srgbClr val="1F2937"/>
          </a:solidFill>
          <a:ln w="12700">
            <a:solidFill>
              <a:srgbClr val="161B22"/>
            </a:solidFill>
            <a:prstDash val="solid"/>
          </a:ln>
        </p:spPr>
      </p:sp>
      <p:sp>
        <p:nvSpPr>
          <p:cNvPr id="11" name="Shape 9"/>
          <p:cNvSpPr/>
          <p:nvPr/>
        </p:nvSpPr>
        <p:spPr>
          <a:xfrm>
            <a:off x="2514600" y="1371600"/>
            <a:ext cx="1965960" cy="64008"/>
          </a:xfrm>
          <a:prstGeom prst="rect">
            <a:avLst/>
          </a:prstGeom>
          <a:solidFill>
            <a:srgbClr val="00D4FF"/>
          </a:solidFill>
          <a:ln w="12700">
            <a:solidFill>
              <a:srgbClr val="00D4FF"/>
            </a:solidFill>
            <a:prstDash val="solid"/>
          </a:ln>
        </p:spPr>
      </p:sp>
      <p:sp>
        <p:nvSpPr>
          <p:cNvPr id="12" name="Text 10"/>
          <p:cNvSpPr/>
          <p:nvPr/>
        </p:nvSpPr>
        <p:spPr>
          <a:xfrm>
            <a:off x="2514600" y="1508760"/>
            <a:ext cx="1965960" cy="502920"/>
          </a:xfrm>
          <a:prstGeom prst="rect">
            <a:avLst/>
          </a:prstGeom>
          <a:noFill/>
          <a:ln/>
        </p:spPr>
        <p:txBody>
          <a:bodyPr wrap="square" rtlCol="0" anchor="ctr"/>
          <a:lstStyle/>
          <a:p>
            <a:pPr algn="ctr" indent="0" marL="0">
              <a:buNone/>
            </a:pPr>
            <a:r>
              <a:rPr lang="en-US" sz="2400" dirty="0">
                <a:solidFill>
                  <a:srgbClr val="00D4FF"/>
                </a:solidFill>
                <a:latin typeface="Consolas" pitchFamily="34" charset="0"/>
                <a:ea typeface="Consolas" pitchFamily="34" charset="-122"/>
                <a:cs typeface="Consolas" pitchFamily="34" charset="-120"/>
              </a:rPr>
              <a:t>⚑</a:t>
            </a:r>
            <a:endParaRPr lang="en-US" sz="2400" dirty="0"/>
          </a:p>
        </p:txBody>
      </p:sp>
      <p:sp>
        <p:nvSpPr>
          <p:cNvPr id="13" name="Text 11"/>
          <p:cNvSpPr/>
          <p:nvPr/>
        </p:nvSpPr>
        <p:spPr>
          <a:xfrm>
            <a:off x="2514600" y="2057400"/>
            <a:ext cx="19659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Espionage</a:t>
            </a:r>
            <a:endParaRPr lang="en-US" sz="1400" dirty="0"/>
          </a:p>
        </p:txBody>
      </p:sp>
      <p:sp>
        <p:nvSpPr>
          <p:cNvPr id="14" name="Text 12"/>
          <p:cNvSpPr/>
          <p:nvPr/>
        </p:nvSpPr>
        <p:spPr>
          <a:xfrm>
            <a:off x="2624328" y="2560320"/>
            <a:ext cx="1737360" cy="1828800"/>
          </a:xfrm>
          <a:prstGeom prst="rect">
            <a:avLst/>
          </a:prstGeom>
          <a:noFill/>
          <a:ln/>
        </p:spPr>
        <p:txBody>
          <a:bodyPr wrap="square" rtlCol="0" anchor="ctr"/>
          <a:lstStyle/>
          <a:p>
            <a:pPr algn="l" indent="0" marL="0">
              <a:buNone/>
            </a:pPr>
            <a:r>
              <a:rPr lang="en-US" sz="1200" dirty="0">
                <a:solidFill>
                  <a:srgbClr val="8B949E"/>
                </a:solidFill>
                <a:latin typeface="Calibri" pitchFamily="34" charset="0"/>
                <a:ea typeface="Calibri" pitchFamily="34" charset="-122"/>
                <a:cs typeface="Calibri" pitchFamily="34" charset="-120"/>
              </a:rPr>
              <a:t>Nation-states stealing government secrets, IP theft, military intelligence. Think Russia, China, North Korea.</a:t>
            </a:r>
            <a:endParaRPr lang="en-US" sz="1200" dirty="0"/>
          </a:p>
        </p:txBody>
      </p:sp>
      <p:sp>
        <p:nvSpPr>
          <p:cNvPr id="15" name="Shape 13"/>
          <p:cNvSpPr/>
          <p:nvPr/>
        </p:nvSpPr>
        <p:spPr>
          <a:xfrm>
            <a:off x="4663440" y="1371600"/>
            <a:ext cx="1965960" cy="3200400"/>
          </a:xfrm>
          <a:prstGeom prst="rect">
            <a:avLst/>
          </a:prstGeom>
          <a:solidFill>
            <a:srgbClr val="1F2937"/>
          </a:solidFill>
          <a:ln w="12700">
            <a:solidFill>
              <a:srgbClr val="161B22"/>
            </a:solidFill>
            <a:prstDash val="solid"/>
          </a:ln>
        </p:spPr>
      </p:sp>
      <p:sp>
        <p:nvSpPr>
          <p:cNvPr id="16" name="Shape 14"/>
          <p:cNvSpPr/>
          <p:nvPr/>
        </p:nvSpPr>
        <p:spPr>
          <a:xfrm>
            <a:off x="4663440" y="1371600"/>
            <a:ext cx="1965960" cy="64008"/>
          </a:xfrm>
          <a:prstGeom prst="rect">
            <a:avLst/>
          </a:prstGeom>
          <a:solidFill>
            <a:srgbClr val="FF4444"/>
          </a:solidFill>
          <a:ln w="12700">
            <a:solidFill>
              <a:srgbClr val="FF4444"/>
            </a:solidFill>
            <a:prstDash val="solid"/>
          </a:ln>
        </p:spPr>
      </p:sp>
      <p:sp>
        <p:nvSpPr>
          <p:cNvPr id="17" name="Text 15"/>
          <p:cNvSpPr/>
          <p:nvPr/>
        </p:nvSpPr>
        <p:spPr>
          <a:xfrm>
            <a:off x="4663440" y="1508760"/>
            <a:ext cx="1965960" cy="502920"/>
          </a:xfrm>
          <a:prstGeom prst="rect">
            <a:avLst/>
          </a:prstGeom>
          <a:noFill/>
          <a:ln/>
        </p:spPr>
        <p:txBody>
          <a:bodyPr wrap="square" rtlCol="0" anchor="ctr"/>
          <a:lstStyle/>
          <a:p>
            <a:pPr algn="ctr" indent="0" marL="0">
              <a:buNone/>
            </a:pPr>
            <a:r>
              <a:rPr lang="en-US" sz="2400" dirty="0">
                <a:solidFill>
                  <a:srgbClr val="FF4444"/>
                </a:solidFill>
                <a:latin typeface="Consolas" pitchFamily="34" charset="0"/>
                <a:ea typeface="Consolas" pitchFamily="34" charset="-122"/>
                <a:cs typeface="Consolas" pitchFamily="34" charset="-120"/>
              </a:rPr>
              <a:t>✕</a:t>
            </a:r>
            <a:endParaRPr lang="en-US" sz="2400" dirty="0"/>
          </a:p>
        </p:txBody>
      </p:sp>
      <p:sp>
        <p:nvSpPr>
          <p:cNvPr id="18" name="Text 16"/>
          <p:cNvSpPr/>
          <p:nvPr/>
        </p:nvSpPr>
        <p:spPr>
          <a:xfrm>
            <a:off x="4663440" y="2057400"/>
            <a:ext cx="19659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Disruption</a:t>
            </a:r>
            <a:endParaRPr lang="en-US" sz="1400" dirty="0"/>
          </a:p>
        </p:txBody>
      </p:sp>
      <p:sp>
        <p:nvSpPr>
          <p:cNvPr id="19" name="Text 17"/>
          <p:cNvSpPr/>
          <p:nvPr/>
        </p:nvSpPr>
        <p:spPr>
          <a:xfrm>
            <a:off x="4773168" y="2560320"/>
            <a:ext cx="1737360" cy="1828800"/>
          </a:xfrm>
          <a:prstGeom prst="rect">
            <a:avLst/>
          </a:prstGeom>
          <a:noFill/>
          <a:ln/>
        </p:spPr>
        <p:txBody>
          <a:bodyPr wrap="square" rtlCol="0" anchor="ctr"/>
          <a:lstStyle/>
          <a:p>
            <a:pPr algn="l" indent="0" marL="0">
              <a:buNone/>
            </a:pPr>
            <a:r>
              <a:rPr lang="en-US" sz="1200" dirty="0">
                <a:solidFill>
                  <a:srgbClr val="8B949E"/>
                </a:solidFill>
                <a:latin typeface="Calibri" pitchFamily="34" charset="0"/>
                <a:ea typeface="Calibri" pitchFamily="34" charset="-122"/>
                <a:cs typeface="Calibri" pitchFamily="34" charset="-120"/>
              </a:rPr>
              <a:t>Hacktivists or rivals trying to take down services. Remember the 2021 Colonial Pipeline attack?</a:t>
            </a:r>
            <a:endParaRPr lang="en-US" sz="1200" dirty="0"/>
          </a:p>
        </p:txBody>
      </p:sp>
      <p:sp>
        <p:nvSpPr>
          <p:cNvPr id="20" name="Shape 18"/>
          <p:cNvSpPr/>
          <p:nvPr/>
        </p:nvSpPr>
        <p:spPr>
          <a:xfrm>
            <a:off x="6812280" y="1371600"/>
            <a:ext cx="1965960" cy="3200400"/>
          </a:xfrm>
          <a:prstGeom prst="rect">
            <a:avLst/>
          </a:prstGeom>
          <a:solidFill>
            <a:srgbClr val="1F2937"/>
          </a:solidFill>
          <a:ln w="12700">
            <a:solidFill>
              <a:srgbClr val="161B22"/>
            </a:solidFill>
            <a:prstDash val="solid"/>
          </a:ln>
        </p:spPr>
      </p:sp>
      <p:sp>
        <p:nvSpPr>
          <p:cNvPr id="21" name="Shape 19"/>
          <p:cNvSpPr/>
          <p:nvPr/>
        </p:nvSpPr>
        <p:spPr>
          <a:xfrm>
            <a:off x="6812280" y="1371600"/>
            <a:ext cx="1965960" cy="64008"/>
          </a:xfrm>
          <a:prstGeom prst="rect">
            <a:avLst/>
          </a:prstGeom>
          <a:solidFill>
            <a:srgbClr val="FFA500"/>
          </a:solidFill>
          <a:ln w="12700">
            <a:solidFill>
              <a:srgbClr val="FFA500"/>
            </a:solidFill>
            <a:prstDash val="solid"/>
          </a:ln>
        </p:spPr>
      </p:sp>
      <p:sp>
        <p:nvSpPr>
          <p:cNvPr id="22" name="Text 20"/>
          <p:cNvSpPr/>
          <p:nvPr/>
        </p:nvSpPr>
        <p:spPr>
          <a:xfrm>
            <a:off x="6812280" y="1508760"/>
            <a:ext cx="1965960" cy="502920"/>
          </a:xfrm>
          <a:prstGeom prst="rect">
            <a:avLst/>
          </a:prstGeom>
          <a:noFill/>
          <a:ln/>
        </p:spPr>
        <p:txBody>
          <a:bodyPr wrap="square" rtlCol="0" anchor="ctr"/>
          <a:lstStyle/>
          <a:p>
            <a:pPr algn="ctr" indent="0" marL="0">
              <a:buNone/>
            </a:pPr>
            <a:r>
              <a:rPr lang="en-US" sz="2400" dirty="0">
                <a:solidFill>
                  <a:srgbClr val="FFA500"/>
                </a:solidFill>
                <a:latin typeface="Consolas" pitchFamily="34" charset="0"/>
                <a:ea typeface="Consolas" pitchFamily="34" charset="-122"/>
                <a:cs typeface="Consolas" pitchFamily="34" charset="-120"/>
              </a:rPr>
              <a:t>?</a:t>
            </a:r>
            <a:endParaRPr lang="en-US" sz="2400" dirty="0"/>
          </a:p>
        </p:txBody>
      </p:sp>
      <p:sp>
        <p:nvSpPr>
          <p:cNvPr id="23" name="Text 21"/>
          <p:cNvSpPr/>
          <p:nvPr/>
        </p:nvSpPr>
        <p:spPr>
          <a:xfrm>
            <a:off x="6812280" y="2057400"/>
            <a:ext cx="19659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Fun / Challenge</a:t>
            </a:r>
            <a:endParaRPr lang="en-US" sz="1400" dirty="0"/>
          </a:p>
        </p:txBody>
      </p:sp>
      <p:sp>
        <p:nvSpPr>
          <p:cNvPr id="24" name="Text 22"/>
          <p:cNvSpPr/>
          <p:nvPr/>
        </p:nvSpPr>
        <p:spPr>
          <a:xfrm>
            <a:off x="6922008" y="2560320"/>
            <a:ext cx="1737360" cy="1828800"/>
          </a:xfrm>
          <a:prstGeom prst="rect">
            <a:avLst/>
          </a:prstGeom>
          <a:noFill/>
          <a:ln/>
        </p:spPr>
        <p:txBody>
          <a:bodyPr wrap="square" rtlCol="0" anchor="ctr"/>
          <a:lstStyle/>
          <a:p>
            <a:pPr algn="l" indent="0" marL="0">
              <a:buNone/>
            </a:pPr>
            <a:r>
              <a:rPr lang="en-US" sz="1200" dirty="0">
                <a:solidFill>
                  <a:srgbClr val="8B949E"/>
                </a:solidFill>
                <a:latin typeface="Calibri" pitchFamily="34" charset="0"/>
                <a:ea typeface="Calibri" pitchFamily="34" charset="-122"/>
                <a:cs typeface="Calibri" pitchFamily="34" charset="-120"/>
              </a:rPr>
              <a:t>Script kiddies and researchers testing boundaries — less common, but it happens.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82880"/>
            <a:ext cx="8229600" cy="822960"/>
          </a:xfrm>
          <a:prstGeom prst="rect">
            <a:avLst/>
          </a:prstGeom>
          <a:noFill/>
          <a:ln/>
        </p:spPr>
        <p:txBody>
          <a:bodyPr wrap="square" rtlCol="0" anchor="ctr"/>
          <a:lstStyle/>
          <a:p>
            <a:pPr algn="l" indent="0" marL="0">
              <a:buNone/>
            </a:pPr>
            <a:r>
              <a:rPr lang="en-US" sz="2600" b="1" dirty="0">
                <a:solidFill>
                  <a:srgbClr val="00D4FF"/>
                </a:solidFill>
                <a:latin typeface="Consolas" pitchFamily="34" charset="0"/>
                <a:ea typeface="Consolas" pitchFamily="34" charset="-122"/>
                <a:cs typeface="Consolas" pitchFamily="34" charset="-120"/>
              </a:rPr>
              <a:t>02  |  RECONNAISSANCE</a:t>
            </a:r>
            <a:endParaRPr lang="en-US" sz="2600" dirty="0"/>
          </a:p>
        </p:txBody>
      </p:sp>
      <p:sp>
        <p:nvSpPr>
          <p:cNvPr id="4" name="Text 2"/>
          <p:cNvSpPr/>
          <p:nvPr/>
        </p:nvSpPr>
        <p:spPr>
          <a:xfrm>
            <a:off x="457200" y="777240"/>
            <a:ext cx="8229600" cy="365760"/>
          </a:xfrm>
          <a:prstGeom prst="rect">
            <a:avLst/>
          </a:prstGeom>
          <a:noFill/>
          <a:ln/>
        </p:spPr>
        <p:txBody>
          <a:bodyPr wrap="square" rtlCol="0" anchor="ctr"/>
          <a:lstStyle/>
          <a:p>
            <a:pPr indent="0" marL="0">
              <a:buNone/>
            </a:pPr>
            <a:r>
              <a:rPr lang="en-US" sz="1600" i="1" dirty="0">
                <a:solidFill>
                  <a:srgbClr val="8B949E"/>
                </a:solidFill>
                <a:latin typeface="Calibri" pitchFamily="34" charset="0"/>
                <a:ea typeface="Calibri" pitchFamily="34" charset="-122"/>
                <a:cs typeface="Calibri" pitchFamily="34" charset="-120"/>
              </a:rPr>
              <a:t>"Know your enemy" — Sun Tzu</a:t>
            </a:r>
            <a:endParaRPr lang="en-US" sz="1600" dirty="0"/>
          </a:p>
        </p:txBody>
      </p:sp>
      <p:sp>
        <p:nvSpPr>
          <p:cNvPr id="5" name="Shape 3"/>
          <p:cNvSpPr/>
          <p:nvPr/>
        </p:nvSpPr>
        <p:spPr>
          <a:xfrm>
            <a:off x="365760" y="1234440"/>
            <a:ext cx="3931920" cy="3566160"/>
          </a:xfrm>
          <a:prstGeom prst="rect">
            <a:avLst/>
          </a:prstGeom>
          <a:solidFill>
            <a:srgbClr val="1F2937"/>
          </a:solidFill>
          <a:ln w="12700">
            <a:solidFill>
              <a:srgbClr val="161B22"/>
            </a:solidFill>
            <a:prstDash val="solid"/>
          </a:ln>
        </p:spPr>
      </p:sp>
      <p:sp>
        <p:nvSpPr>
          <p:cNvPr id="6" name="Shape 4"/>
          <p:cNvSpPr/>
          <p:nvPr/>
        </p:nvSpPr>
        <p:spPr>
          <a:xfrm>
            <a:off x="365760" y="1234440"/>
            <a:ext cx="54864" cy="3566160"/>
          </a:xfrm>
          <a:prstGeom prst="rect">
            <a:avLst/>
          </a:prstGeom>
          <a:solidFill>
            <a:srgbClr val="00D4FF"/>
          </a:solidFill>
          <a:ln w="12700">
            <a:solidFill>
              <a:srgbClr val="00D4FF"/>
            </a:solidFill>
            <a:prstDash val="solid"/>
          </a:ln>
        </p:spPr>
      </p:sp>
      <p:sp>
        <p:nvSpPr>
          <p:cNvPr id="7" name="Text 5"/>
          <p:cNvSpPr/>
          <p:nvPr/>
        </p:nvSpPr>
        <p:spPr>
          <a:xfrm>
            <a:off x="548640" y="1325880"/>
            <a:ext cx="3657600" cy="365760"/>
          </a:xfrm>
          <a:prstGeom prst="rect">
            <a:avLst/>
          </a:prstGeom>
          <a:noFill/>
          <a:ln/>
        </p:spPr>
        <p:txBody>
          <a:bodyPr wrap="square" rtlCol="0" anchor="ctr"/>
          <a:lstStyle/>
          <a:p>
            <a:pPr indent="0" marL="0">
              <a:buNone/>
            </a:pPr>
            <a:r>
              <a:rPr lang="en-US" sz="1400" b="1" dirty="0">
                <a:solidFill>
                  <a:srgbClr val="00D4FF"/>
                </a:solidFill>
                <a:latin typeface="Consolas" pitchFamily="34" charset="0"/>
                <a:ea typeface="Consolas" pitchFamily="34" charset="-122"/>
                <a:cs typeface="Consolas" pitchFamily="34" charset="-120"/>
              </a:rPr>
              <a:t>PASSIVE RECON</a:t>
            </a:r>
            <a:endParaRPr lang="en-US" sz="1400" dirty="0"/>
          </a:p>
        </p:txBody>
      </p:sp>
      <p:sp>
        <p:nvSpPr>
          <p:cNvPr id="8" name="Text 6"/>
          <p:cNvSpPr/>
          <p:nvPr/>
        </p:nvSpPr>
        <p:spPr>
          <a:xfrm>
            <a:off x="548640" y="1737360"/>
            <a:ext cx="3657600" cy="2743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LinkedIn profiles — job titles, tech stack hints
</a:t>
            </a:r>
            <a:pPr indent="0" marL="0">
              <a:buNone/>
            </a:pPr>
            <a:r>
              <a:rPr lang="en-US" sz="1300" dirty="0">
                <a:solidFill>
                  <a:srgbClr val="39D353"/>
                </a:solidFill>
                <a:latin typeface="Calibri" pitchFamily="34" charset="0"/>
                <a:ea typeface="Calibri" pitchFamily="34" charset="-122"/>
                <a:cs typeface="Calibri" pitchFamily="34" charset="-120"/>
              </a:rPr>
              <a:t>• Google: site:target.com filetype:pdf
</a:t>
            </a:r>
            <a:pPr indent="0" marL="0">
              <a:buNone/>
            </a:pPr>
            <a:r>
              <a:rPr lang="en-US" sz="1300" dirty="0">
                <a:solidFill>
                  <a:srgbClr val="FFFFFF"/>
                </a:solidFill>
                <a:latin typeface="Calibri" pitchFamily="34" charset="0"/>
                <a:ea typeface="Calibri" pitchFamily="34" charset="-122"/>
                <a:cs typeface="Calibri" pitchFamily="34" charset="-120"/>
              </a:rPr>
              <a:t>• Shodan.io — publicly exposed servers
</a:t>
            </a:r>
            <a:pPr indent="0" marL="0">
              <a:buNone/>
            </a:pPr>
            <a:r>
              <a:rPr lang="en-US" sz="1300" dirty="0">
                <a:solidFill>
                  <a:srgbClr val="FFFFFF"/>
                </a:solidFill>
                <a:latin typeface="Calibri" pitchFamily="34" charset="0"/>
                <a:ea typeface="Calibri" pitchFamily="34" charset="-122"/>
                <a:cs typeface="Calibri" pitchFamily="34" charset="-120"/>
              </a:rPr>
              <a:t>• WHOIS lookups — domain registrar info
</a:t>
            </a:r>
            <a:pPr indent="0" marL="0">
              <a:buNone/>
            </a:pPr>
            <a:r>
              <a:rPr lang="en-US" sz="1300" dirty="0">
                <a:solidFill>
                  <a:srgbClr val="FFFFFF"/>
                </a:solidFill>
                <a:latin typeface="Calibri" pitchFamily="34" charset="0"/>
                <a:ea typeface="Calibri" pitchFamily="34" charset="-122"/>
                <a:cs typeface="Calibri" pitchFamily="34" charset="-120"/>
              </a:rPr>
              <a:t>• Job postings reveal internal tools used
</a:t>
            </a:r>
            <a:endParaRPr lang="en-US" sz="1300" dirty="0"/>
          </a:p>
        </p:txBody>
      </p:sp>
      <p:sp>
        <p:nvSpPr>
          <p:cNvPr id="9" name="Shape 7"/>
          <p:cNvSpPr/>
          <p:nvPr/>
        </p:nvSpPr>
        <p:spPr>
          <a:xfrm>
            <a:off x="4572000" y="1234440"/>
            <a:ext cx="4114800" cy="3566160"/>
          </a:xfrm>
          <a:prstGeom prst="rect">
            <a:avLst/>
          </a:prstGeom>
          <a:solidFill>
            <a:srgbClr val="1F2937"/>
          </a:solidFill>
          <a:ln w="12700">
            <a:solidFill>
              <a:srgbClr val="161B22"/>
            </a:solidFill>
            <a:prstDash val="solid"/>
          </a:ln>
        </p:spPr>
      </p:sp>
      <p:sp>
        <p:nvSpPr>
          <p:cNvPr id="10" name="Shape 8"/>
          <p:cNvSpPr/>
          <p:nvPr/>
        </p:nvSpPr>
        <p:spPr>
          <a:xfrm>
            <a:off x="4572000" y="1234440"/>
            <a:ext cx="54864" cy="3566160"/>
          </a:xfrm>
          <a:prstGeom prst="rect">
            <a:avLst/>
          </a:prstGeom>
          <a:solidFill>
            <a:srgbClr val="FF4444"/>
          </a:solidFill>
          <a:ln w="12700">
            <a:solidFill>
              <a:srgbClr val="FF4444"/>
            </a:solidFill>
            <a:prstDash val="solid"/>
          </a:ln>
        </p:spPr>
      </p:sp>
      <p:sp>
        <p:nvSpPr>
          <p:cNvPr id="11" name="Text 9"/>
          <p:cNvSpPr/>
          <p:nvPr/>
        </p:nvSpPr>
        <p:spPr>
          <a:xfrm>
            <a:off x="4754880" y="1325880"/>
            <a:ext cx="3749040" cy="365760"/>
          </a:xfrm>
          <a:prstGeom prst="rect">
            <a:avLst/>
          </a:prstGeom>
          <a:noFill/>
          <a:ln/>
        </p:spPr>
        <p:txBody>
          <a:bodyPr wrap="square" rtlCol="0" anchor="ctr"/>
          <a:lstStyle/>
          <a:p>
            <a:pPr indent="0" marL="0">
              <a:buNone/>
            </a:pPr>
            <a:r>
              <a:rPr lang="en-US" sz="1400" b="1" dirty="0">
                <a:solidFill>
                  <a:srgbClr val="FF4444"/>
                </a:solidFill>
                <a:latin typeface="Consolas" pitchFamily="34" charset="0"/>
                <a:ea typeface="Consolas" pitchFamily="34" charset="-122"/>
                <a:cs typeface="Consolas" pitchFamily="34" charset="-120"/>
              </a:rPr>
              <a:t>ACTIVE RECON</a:t>
            </a:r>
            <a:endParaRPr lang="en-US" sz="1400" dirty="0"/>
          </a:p>
        </p:txBody>
      </p:sp>
      <p:sp>
        <p:nvSpPr>
          <p:cNvPr id="12" name="Text 10"/>
          <p:cNvSpPr/>
          <p:nvPr/>
        </p:nvSpPr>
        <p:spPr>
          <a:xfrm>
            <a:off x="4754880" y="1737360"/>
            <a:ext cx="3840480" cy="27432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 Port scanning (nmap) — open doors on a server
</a:t>
            </a:r>
            <a:pPr indent="0" marL="0">
              <a:buNone/>
            </a:pPr>
            <a:r>
              <a:rPr lang="en-US" sz="1300" dirty="0">
                <a:solidFill>
                  <a:srgbClr val="FFFFFF"/>
                </a:solidFill>
                <a:latin typeface="Calibri" pitchFamily="34" charset="0"/>
                <a:ea typeface="Calibri" pitchFamily="34" charset="-122"/>
                <a:cs typeface="Calibri" pitchFamily="34" charset="-120"/>
              </a:rPr>
              <a:t>• DNS enumeration — finding subdomains
</a:t>
            </a:r>
            <a:pPr indent="0" marL="0">
              <a:buNone/>
            </a:pPr>
            <a:r>
              <a:rPr lang="en-US" sz="1300" dirty="0">
                <a:solidFill>
                  <a:srgbClr val="FFFFFF"/>
                </a:solidFill>
                <a:latin typeface="Calibri" pitchFamily="34" charset="0"/>
                <a:ea typeface="Calibri" pitchFamily="34" charset="-122"/>
                <a:cs typeface="Calibri" pitchFamily="34" charset="-120"/>
              </a:rPr>
              <a:t>• Banner grabbing — software version detection
</a:t>
            </a:r>
            <a:pPr indent="0" marL="0">
              <a:buNone/>
            </a:pPr>
            <a:r>
              <a:rPr lang="en-US" sz="1300" dirty="0">
                <a:solidFill>
                  <a:srgbClr val="FFFFFF"/>
                </a:solidFill>
                <a:latin typeface="Calibri" pitchFamily="34" charset="0"/>
                <a:ea typeface="Calibri" pitchFamily="34" charset="-122"/>
                <a:cs typeface="Calibri" pitchFamily="34" charset="-120"/>
              </a:rPr>
              <a:t>• Phishing test emails — mapping email filters
</a:t>
            </a:r>
            <a:pPr indent="0" marL="0">
              <a:buNone/>
            </a:pPr>
            <a:r>
              <a:rPr lang="en-US" sz="1300" dirty="0">
                <a:solidFill>
                  <a:srgbClr val="FFFFFF"/>
                </a:solidFill>
                <a:latin typeface="Calibri" pitchFamily="34" charset="0"/>
                <a:ea typeface="Calibri" pitchFamily="34" charset="-122"/>
                <a:cs typeface="Calibri" pitchFamily="34" charset="-120"/>
              </a:rPr>
              <a:t>• Social engineering calls to IT helpdesks
</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82880"/>
            <a:ext cx="8229600" cy="822960"/>
          </a:xfrm>
          <a:prstGeom prst="rect">
            <a:avLst/>
          </a:prstGeom>
          <a:noFill/>
          <a:ln/>
        </p:spPr>
        <p:txBody>
          <a:bodyPr wrap="square" rtlCol="0" anchor="ctr"/>
          <a:lstStyle/>
          <a:p>
            <a:pPr algn="l" indent="0" marL="0">
              <a:buNone/>
            </a:pPr>
            <a:r>
              <a:rPr lang="en-US" sz="2600" b="1" dirty="0">
                <a:solidFill>
                  <a:srgbClr val="00D4FF"/>
                </a:solidFill>
                <a:latin typeface="Consolas" pitchFamily="34" charset="0"/>
                <a:ea typeface="Consolas" pitchFamily="34" charset="-122"/>
                <a:cs typeface="Consolas" pitchFamily="34" charset="-120"/>
              </a:rPr>
              <a:t>03  |  WEAPONIZATION &amp; DELIVERY</a:t>
            </a:r>
            <a:endParaRPr lang="en-US" sz="2600" dirty="0"/>
          </a:p>
        </p:txBody>
      </p:sp>
      <p:sp>
        <p:nvSpPr>
          <p:cNvPr id="4" name="Text 2"/>
          <p:cNvSpPr/>
          <p:nvPr/>
        </p:nvSpPr>
        <p:spPr>
          <a:xfrm>
            <a:off x="457200" y="777240"/>
            <a:ext cx="8229600" cy="365760"/>
          </a:xfrm>
          <a:prstGeom prst="rect">
            <a:avLst/>
          </a:prstGeom>
          <a:noFill/>
          <a:ln/>
        </p:spPr>
        <p:txBody>
          <a:bodyPr wrap="square" rtlCol="0" anchor="ctr"/>
          <a:lstStyle/>
          <a:p>
            <a:pPr indent="0" marL="0">
              <a:buNone/>
            </a:pPr>
            <a:r>
              <a:rPr lang="en-US" sz="1600" dirty="0">
                <a:solidFill>
                  <a:srgbClr val="8B949E"/>
                </a:solidFill>
                <a:latin typeface="Calibri" pitchFamily="34" charset="0"/>
                <a:ea typeface="Calibri" pitchFamily="34" charset="-122"/>
                <a:cs typeface="Calibri" pitchFamily="34" charset="-120"/>
              </a:rPr>
              <a:t>Building and launching the weapon</a:t>
            </a:r>
            <a:endParaRPr lang="en-US" sz="1600" dirty="0"/>
          </a:p>
        </p:txBody>
      </p:sp>
      <p:sp>
        <p:nvSpPr>
          <p:cNvPr id="5" name="Shape 3"/>
          <p:cNvSpPr/>
          <p:nvPr/>
        </p:nvSpPr>
        <p:spPr>
          <a:xfrm>
            <a:off x="320040" y="1280160"/>
            <a:ext cx="1920240" cy="3474720"/>
          </a:xfrm>
          <a:prstGeom prst="rect">
            <a:avLst/>
          </a:prstGeom>
          <a:solidFill>
            <a:srgbClr val="1F2937"/>
          </a:solidFill>
          <a:ln w="12700">
            <a:solidFill>
              <a:srgbClr val="FF4444"/>
            </a:solidFill>
            <a:prstDash val="solid"/>
          </a:ln>
        </p:spPr>
      </p:sp>
      <p:sp>
        <p:nvSpPr>
          <p:cNvPr id="6" name="Shape 4"/>
          <p:cNvSpPr/>
          <p:nvPr/>
        </p:nvSpPr>
        <p:spPr>
          <a:xfrm>
            <a:off x="320040" y="1280160"/>
            <a:ext cx="1920240" cy="64008"/>
          </a:xfrm>
          <a:prstGeom prst="rect">
            <a:avLst/>
          </a:prstGeom>
          <a:solidFill>
            <a:srgbClr val="FF4444"/>
          </a:solidFill>
          <a:ln w="12700">
            <a:solidFill>
              <a:srgbClr val="FF4444"/>
            </a:solidFill>
            <a:prstDash val="solid"/>
          </a:ln>
        </p:spPr>
      </p:sp>
      <p:sp>
        <p:nvSpPr>
          <p:cNvPr id="7" name="Text 5"/>
          <p:cNvSpPr/>
          <p:nvPr/>
        </p:nvSpPr>
        <p:spPr>
          <a:xfrm>
            <a:off x="320040" y="1417320"/>
            <a:ext cx="1920240" cy="502920"/>
          </a:xfrm>
          <a:prstGeom prst="rect">
            <a:avLst/>
          </a:prstGeom>
          <a:noFill/>
          <a:ln/>
        </p:spPr>
        <p:txBody>
          <a:bodyPr wrap="square" rtlCol="0" anchor="ctr"/>
          <a:lstStyle/>
          <a:p>
            <a:pPr algn="ctr" indent="0" marL="0">
              <a:buNone/>
            </a:pPr>
            <a:r>
              <a:rPr lang="en-US" sz="2800" b="1" dirty="0">
                <a:solidFill>
                  <a:srgbClr val="FF4444"/>
                </a:solidFill>
                <a:latin typeface="Consolas" pitchFamily="34" charset="0"/>
                <a:ea typeface="Consolas" pitchFamily="34" charset="-122"/>
                <a:cs typeface="Consolas" pitchFamily="34" charset="-120"/>
              </a:rPr>
              <a:t>01</a:t>
            </a:r>
            <a:endParaRPr lang="en-US" sz="2800" dirty="0"/>
          </a:p>
        </p:txBody>
      </p:sp>
      <p:sp>
        <p:nvSpPr>
          <p:cNvPr id="8" name="Text 6"/>
          <p:cNvSpPr/>
          <p:nvPr/>
        </p:nvSpPr>
        <p:spPr>
          <a:xfrm>
            <a:off x="411480" y="1965960"/>
            <a:ext cx="1737360" cy="6400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Find a</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Vulnerability</a:t>
            </a:r>
            <a:endParaRPr lang="en-US" sz="1350" dirty="0"/>
          </a:p>
        </p:txBody>
      </p:sp>
      <p:sp>
        <p:nvSpPr>
          <p:cNvPr id="9" name="Text 7"/>
          <p:cNvSpPr/>
          <p:nvPr/>
        </p:nvSpPr>
        <p:spPr>
          <a:xfrm>
            <a:off x="411480" y="2697480"/>
            <a:ext cx="1737360" cy="1828800"/>
          </a:xfrm>
          <a:prstGeom prst="rect">
            <a:avLst/>
          </a:prstGeom>
          <a:noFill/>
          <a:ln/>
        </p:spPr>
        <p:txBody>
          <a:bodyPr wrap="square" rtlCol="0" anchor="ctr"/>
          <a:lstStyle/>
          <a:p>
            <a:pPr algn="l" indent="0" marL="0">
              <a:buNone/>
            </a:pPr>
            <a:r>
              <a:rPr lang="en-US" sz="1200" dirty="0">
                <a:solidFill>
                  <a:srgbClr val="8B949E"/>
                </a:solidFill>
                <a:latin typeface="Calibri" pitchFamily="34" charset="0"/>
                <a:ea typeface="Calibri" pitchFamily="34" charset="-122"/>
                <a:cs typeface="Calibri" pitchFamily="34" charset="-120"/>
              </a:rPr>
              <a:t>CVE databases, zero-days, unpatched software, weak passwords</a:t>
            </a:r>
            <a:endParaRPr lang="en-US" sz="1200" dirty="0"/>
          </a:p>
        </p:txBody>
      </p:sp>
      <p:sp>
        <p:nvSpPr>
          <p:cNvPr id="10" name="Text 8"/>
          <p:cNvSpPr/>
          <p:nvPr/>
        </p:nvSpPr>
        <p:spPr>
          <a:xfrm>
            <a:off x="2240280" y="2560320"/>
            <a:ext cx="228600" cy="365760"/>
          </a:xfrm>
          <a:prstGeom prst="rect">
            <a:avLst/>
          </a:prstGeom>
          <a:noFill/>
          <a:ln/>
        </p:spPr>
        <p:txBody>
          <a:bodyPr wrap="square" rtlCol="0" anchor="ctr"/>
          <a:lstStyle/>
          <a:p>
            <a:pPr algn="ctr" indent="0" marL="0">
              <a:buNone/>
            </a:pPr>
            <a:r>
              <a:rPr lang="en-US" sz="1800" dirty="0">
                <a:solidFill>
                  <a:srgbClr val="00D4FF"/>
                </a:solidFill>
                <a:latin typeface="Consolas" pitchFamily="34" charset="0"/>
                <a:ea typeface="Consolas" pitchFamily="34" charset="-122"/>
                <a:cs typeface="Consolas" pitchFamily="34" charset="-120"/>
              </a:rPr>
              <a:t>→</a:t>
            </a:r>
            <a:endParaRPr lang="en-US" sz="1800" dirty="0"/>
          </a:p>
        </p:txBody>
      </p:sp>
      <p:sp>
        <p:nvSpPr>
          <p:cNvPr id="11" name="Shape 9"/>
          <p:cNvSpPr/>
          <p:nvPr/>
        </p:nvSpPr>
        <p:spPr>
          <a:xfrm>
            <a:off x="2468880" y="1280160"/>
            <a:ext cx="1920240" cy="3474720"/>
          </a:xfrm>
          <a:prstGeom prst="rect">
            <a:avLst/>
          </a:prstGeom>
          <a:solidFill>
            <a:srgbClr val="1F2937"/>
          </a:solidFill>
          <a:ln w="12700">
            <a:solidFill>
              <a:srgbClr val="FFA500"/>
            </a:solidFill>
            <a:prstDash val="solid"/>
          </a:ln>
        </p:spPr>
      </p:sp>
      <p:sp>
        <p:nvSpPr>
          <p:cNvPr id="12" name="Shape 10"/>
          <p:cNvSpPr/>
          <p:nvPr/>
        </p:nvSpPr>
        <p:spPr>
          <a:xfrm>
            <a:off x="2468880" y="1280160"/>
            <a:ext cx="1920240" cy="64008"/>
          </a:xfrm>
          <a:prstGeom prst="rect">
            <a:avLst/>
          </a:prstGeom>
          <a:solidFill>
            <a:srgbClr val="FFA500"/>
          </a:solidFill>
          <a:ln w="12700">
            <a:solidFill>
              <a:srgbClr val="FFA500"/>
            </a:solidFill>
            <a:prstDash val="solid"/>
          </a:ln>
        </p:spPr>
      </p:sp>
      <p:sp>
        <p:nvSpPr>
          <p:cNvPr id="13" name="Text 11"/>
          <p:cNvSpPr/>
          <p:nvPr/>
        </p:nvSpPr>
        <p:spPr>
          <a:xfrm>
            <a:off x="2468880" y="1417320"/>
            <a:ext cx="1920240" cy="502920"/>
          </a:xfrm>
          <a:prstGeom prst="rect">
            <a:avLst/>
          </a:prstGeom>
          <a:noFill/>
          <a:ln/>
        </p:spPr>
        <p:txBody>
          <a:bodyPr wrap="square" rtlCol="0" anchor="ctr"/>
          <a:lstStyle/>
          <a:p>
            <a:pPr algn="ctr" indent="0" marL="0">
              <a:buNone/>
            </a:pPr>
            <a:r>
              <a:rPr lang="en-US" sz="2800" b="1" dirty="0">
                <a:solidFill>
                  <a:srgbClr val="FFA500"/>
                </a:solidFill>
                <a:latin typeface="Consolas" pitchFamily="34" charset="0"/>
                <a:ea typeface="Consolas" pitchFamily="34" charset="-122"/>
                <a:cs typeface="Consolas" pitchFamily="34" charset="-120"/>
              </a:rPr>
              <a:t>02</a:t>
            </a:r>
            <a:endParaRPr lang="en-US" sz="2800" dirty="0"/>
          </a:p>
        </p:txBody>
      </p:sp>
      <p:sp>
        <p:nvSpPr>
          <p:cNvPr id="14" name="Text 12"/>
          <p:cNvSpPr/>
          <p:nvPr/>
        </p:nvSpPr>
        <p:spPr>
          <a:xfrm>
            <a:off x="2560320" y="1965960"/>
            <a:ext cx="1737360" cy="6400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Build or</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Buy Exploit</a:t>
            </a:r>
            <a:endParaRPr lang="en-US" sz="1350" dirty="0"/>
          </a:p>
        </p:txBody>
      </p:sp>
      <p:sp>
        <p:nvSpPr>
          <p:cNvPr id="15" name="Text 13"/>
          <p:cNvSpPr/>
          <p:nvPr/>
        </p:nvSpPr>
        <p:spPr>
          <a:xfrm>
            <a:off x="2560320" y="2697480"/>
            <a:ext cx="1737360" cy="1828800"/>
          </a:xfrm>
          <a:prstGeom prst="rect">
            <a:avLst/>
          </a:prstGeom>
          <a:noFill/>
          <a:ln/>
        </p:spPr>
        <p:txBody>
          <a:bodyPr wrap="square" rtlCol="0" anchor="ctr"/>
          <a:lstStyle/>
          <a:p>
            <a:pPr algn="l" indent="0" marL="0">
              <a:buNone/>
            </a:pPr>
            <a:r>
              <a:rPr lang="en-US" sz="1200" dirty="0">
                <a:solidFill>
                  <a:srgbClr val="8B949E"/>
                </a:solidFill>
                <a:latin typeface="Calibri" pitchFamily="34" charset="0"/>
                <a:ea typeface="Calibri" pitchFamily="34" charset="-122"/>
                <a:cs typeface="Calibri" pitchFamily="34" charset="-120"/>
              </a:rPr>
              <a:t>Custom code, darkweb exploit kits, or open-source tools like Metasploit</a:t>
            </a:r>
            <a:endParaRPr lang="en-US" sz="1200" dirty="0"/>
          </a:p>
        </p:txBody>
      </p:sp>
      <p:sp>
        <p:nvSpPr>
          <p:cNvPr id="16" name="Text 14"/>
          <p:cNvSpPr/>
          <p:nvPr/>
        </p:nvSpPr>
        <p:spPr>
          <a:xfrm>
            <a:off x="4389120" y="2560320"/>
            <a:ext cx="228600" cy="365760"/>
          </a:xfrm>
          <a:prstGeom prst="rect">
            <a:avLst/>
          </a:prstGeom>
          <a:noFill/>
          <a:ln/>
        </p:spPr>
        <p:txBody>
          <a:bodyPr wrap="square" rtlCol="0" anchor="ctr"/>
          <a:lstStyle/>
          <a:p>
            <a:pPr algn="ctr" indent="0" marL="0">
              <a:buNone/>
            </a:pPr>
            <a:r>
              <a:rPr lang="en-US" sz="1800" dirty="0">
                <a:solidFill>
                  <a:srgbClr val="00D4FF"/>
                </a:solidFill>
                <a:latin typeface="Consolas" pitchFamily="34" charset="0"/>
                <a:ea typeface="Consolas" pitchFamily="34" charset="-122"/>
                <a:cs typeface="Consolas" pitchFamily="34" charset="-120"/>
              </a:rPr>
              <a:t>→</a:t>
            </a:r>
            <a:endParaRPr lang="en-US" sz="1800" dirty="0"/>
          </a:p>
        </p:txBody>
      </p:sp>
      <p:sp>
        <p:nvSpPr>
          <p:cNvPr id="17" name="Shape 15"/>
          <p:cNvSpPr/>
          <p:nvPr/>
        </p:nvSpPr>
        <p:spPr>
          <a:xfrm>
            <a:off x="4617720" y="1280160"/>
            <a:ext cx="1920240" cy="3474720"/>
          </a:xfrm>
          <a:prstGeom prst="rect">
            <a:avLst/>
          </a:prstGeom>
          <a:solidFill>
            <a:srgbClr val="1F2937"/>
          </a:solidFill>
          <a:ln w="12700">
            <a:solidFill>
              <a:srgbClr val="00D4FF"/>
            </a:solidFill>
            <a:prstDash val="solid"/>
          </a:ln>
        </p:spPr>
      </p:sp>
      <p:sp>
        <p:nvSpPr>
          <p:cNvPr id="18" name="Shape 16"/>
          <p:cNvSpPr/>
          <p:nvPr/>
        </p:nvSpPr>
        <p:spPr>
          <a:xfrm>
            <a:off x="4617720" y="1280160"/>
            <a:ext cx="1920240" cy="64008"/>
          </a:xfrm>
          <a:prstGeom prst="rect">
            <a:avLst/>
          </a:prstGeom>
          <a:solidFill>
            <a:srgbClr val="00D4FF"/>
          </a:solidFill>
          <a:ln w="12700">
            <a:solidFill>
              <a:srgbClr val="00D4FF"/>
            </a:solidFill>
            <a:prstDash val="solid"/>
          </a:ln>
        </p:spPr>
      </p:sp>
      <p:sp>
        <p:nvSpPr>
          <p:cNvPr id="19" name="Text 17"/>
          <p:cNvSpPr/>
          <p:nvPr/>
        </p:nvSpPr>
        <p:spPr>
          <a:xfrm>
            <a:off x="4617720" y="1417320"/>
            <a:ext cx="1920240" cy="502920"/>
          </a:xfrm>
          <a:prstGeom prst="rect">
            <a:avLst/>
          </a:prstGeom>
          <a:noFill/>
          <a:ln/>
        </p:spPr>
        <p:txBody>
          <a:bodyPr wrap="square" rtlCol="0" anchor="ctr"/>
          <a:lstStyle/>
          <a:p>
            <a:pPr algn="ctr" indent="0" marL="0">
              <a:buNone/>
            </a:pPr>
            <a:r>
              <a:rPr lang="en-US" sz="2800" b="1" dirty="0">
                <a:solidFill>
                  <a:srgbClr val="00D4FF"/>
                </a:solidFill>
                <a:latin typeface="Consolas" pitchFamily="34" charset="0"/>
                <a:ea typeface="Consolas" pitchFamily="34" charset="-122"/>
                <a:cs typeface="Consolas" pitchFamily="34" charset="-120"/>
              </a:rPr>
              <a:t>03</a:t>
            </a:r>
            <a:endParaRPr lang="en-US" sz="2800" dirty="0"/>
          </a:p>
        </p:txBody>
      </p:sp>
      <p:sp>
        <p:nvSpPr>
          <p:cNvPr id="20" name="Text 18"/>
          <p:cNvSpPr/>
          <p:nvPr/>
        </p:nvSpPr>
        <p:spPr>
          <a:xfrm>
            <a:off x="4709160" y="1965960"/>
            <a:ext cx="1737360" cy="6400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Package</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Payload</a:t>
            </a:r>
            <a:endParaRPr lang="en-US" sz="1350" dirty="0"/>
          </a:p>
        </p:txBody>
      </p:sp>
      <p:sp>
        <p:nvSpPr>
          <p:cNvPr id="21" name="Text 19"/>
          <p:cNvSpPr/>
          <p:nvPr/>
        </p:nvSpPr>
        <p:spPr>
          <a:xfrm>
            <a:off x="4709160" y="2697480"/>
            <a:ext cx="1737360" cy="1828800"/>
          </a:xfrm>
          <a:prstGeom prst="rect">
            <a:avLst/>
          </a:prstGeom>
          <a:noFill/>
          <a:ln/>
        </p:spPr>
        <p:txBody>
          <a:bodyPr wrap="square" rtlCol="0" anchor="ctr"/>
          <a:lstStyle/>
          <a:p>
            <a:pPr algn="l" indent="0" marL="0">
              <a:buNone/>
            </a:pPr>
            <a:r>
              <a:rPr lang="en-US" sz="1200" dirty="0">
                <a:solidFill>
                  <a:srgbClr val="8B949E"/>
                </a:solidFill>
                <a:latin typeface="Calibri" pitchFamily="34" charset="0"/>
                <a:ea typeface="Calibri" pitchFamily="34" charset="-122"/>
                <a:cs typeface="Calibri" pitchFamily="34" charset="-120"/>
              </a:rPr>
              <a:t>Wrap malware in a PDF, macro-enabled Word doc, fake installer, or email link</a:t>
            </a:r>
            <a:endParaRPr lang="en-US" sz="1200" dirty="0"/>
          </a:p>
        </p:txBody>
      </p:sp>
      <p:sp>
        <p:nvSpPr>
          <p:cNvPr id="22" name="Text 20"/>
          <p:cNvSpPr/>
          <p:nvPr/>
        </p:nvSpPr>
        <p:spPr>
          <a:xfrm>
            <a:off x="6537960" y="2560320"/>
            <a:ext cx="228600" cy="365760"/>
          </a:xfrm>
          <a:prstGeom prst="rect">
            <a:avLst/>
          </a:prstGeom>
          <a:noFill/>
          <a:ln/>
        </p:spPr>
        <p:txBody>
          <a:bodyPr wrap="square" rtlCol="0" anchor="ctr"/>
          <a:lstStyle/>
          <a:p>
            <a:pPr algn="ctr" indent="0" marL="0">
              <a:buNone/>
            </a:pPr>
            <a:r>
              <a:rPr lang="en-US" sz="1800" dirty="0">
                <a:solidFill>
                  <a:srgbClr val="00D4FF"/>
                </a:solidFill>
                <a:latin typeface="Consolas" pitchFamily="34" charset="0"/>
                <a:ea typeface="Consolas" pitchFamily="34" charset="-122"/>
                <a:cs typeface="Consolas" pitchFamily="34" charset="-120"/>
              </a:rPr>
              <a:t>→</a:t>
            </a:r>
            <a:endParaRPr lang="en-US" sz="1800" dirty="0"/>
          </a:p>
        </p:txBody>
      </p:sp>
      <p:sp>
        <p:nvSpPr>
          <p:cNvPr id="23" name="Shape 21"/>
          <p:cNvSpPr/>
          <p:nvPr/>
        </p:nvSpPr>
        <p:spPr>
          <a:xfrm>
            <a:off x="6766560" y="1280160"/>
            <a:ext cx="1920240" cy="3474720"/>
          </a:xfrm>
          <a:prstGeom prst="rect">
            <a:avLst/>
          </a:prstGeom>
          <a:solidFill>
            <a:srgbClr val="1F2937"/>
          </a:solidFill>
          <a:ln w="12700">
            <a:solidFill>
              <a:srgbClr val="39D353"/>
            </a:solidFill>
            <a:prstDash val="solid"/>
          </a:ln>
        </p:spPr>
      </p:sp>
      <p:sp>
        <p:nvSpPr>
          <p:cNvPr id="24" name="Shape 22"/>
          <p:cNvSpPr/>
          <p:nvPr/>
        </p:nvSpPr>
        <p:spPr>
          <a:xfrm>
            <a:off x="6766560" y="1280160"/>
            <a:ext cx="1920240" cy="64008"/>
          </a:xfrm>
          <a:prstGeom prst="rect">
            <a:avLst/>
          </a:prstGeom>
          <a:solidFill>
            <a:srgbClr val="39D353"/>
          </a:solidFill>
          <a:ln w="12700">
            <a:solidFill>
              <a:srgbClr val="39D353"/>
            </a:solidFill>
            <a:prstDash val="solid"/>
          </a:ln>
        </p:spPr>
      </p:sp>
      <p:sp>
        <p:nvSpPr>
          <p:cNvPr id="25" name="Text 23"/>
          <p:cNvSpPr/>
          <p:nvPr/>
        </p:nvSpPr>
        <p:spPr>
          <a:xfrm>
            <a:off x="6766560" y="1417320"/>
            <a:ext cx="1920240" cy="502920"/>
          </a:xfrm>
          <a:prstGeom prst="rect">
            <a:avLst/>
          </a:prstGeom>
          <a:noFill/>
          <a:ln/>
        </p:spPr>
        <p:txBody>
          <a:bodyPr wrap="square" rtlCol="0" anchor="ctr"/>
          <a:lstStyle/>
          <a:p>
            <a:pPr algn="ctr" indent="0" marL="0">
              <a:buNone/>
            </a:pPr>
            <a:r>
              <a:rPr lang="en-US" sz="2800" b="1" dirty="0">
                <a:solidFill>
                  <a:srgbClr val="39D353"/>
                </a:solidFill>
                <a:latin typeface="Consolas" pitchFamily="34" charset="0"/>
                <a:ea typeface="Consolas" pitchFamily="34" charset="-122"/>
                <a:cs typeface="Consolas" pitchFamily="34" charset="-120"/>
              </a:rPr>
              <a:t>04</a:t>
            </a:r>
            <a:endParaRPr lang="en-US" sz="2800" dirty="0"/>
          </a:p>
        </p:txBody>
      </p:sp>
      <p:sp>
        <p:nvSpPr>
          <p:cNvPr id="26" name="Text 24"/>
          <p:cNvSpPr/>
          <p:nvPr/>
        </p:nvSpPr>
        <p:spPr>
          <a:xfrm>
            <a:off x="6858000" y="1965960"/>
            <a:ext cx="1737360" cy="6400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Choose</a:t>
            </a:r>
            <a:endParaRPr lang="en-US" sz="1350" dirty="0"/>
          </a:p>
          <a:p>
            <a:pPr algn="ctr" indent="0" marL="0">
              <a:buNone/>
            </a:pPr>
            <a:r>
              <a:rPr lang="en-US" sz="1350" b="1" dirty="0">
                <a:solidFill>
                  <a:srgbClr val="FFFFFF"/>
                </a:solidFill>
                <a:latin typeface="Calibri" pitchFamily="34" charset="0"/>
                <a:ea typeface="Calibri" pitchFamily="34" charset="-122"/>
                <a:cs typeface="Calibri" pitchFamily="34" charset="-120"/>
              </a:rPr>
              <a:t>Delivery</a:t>
            </a:r>
            <a:endParaRPr lang="en-US" sz="1350" dirty="0"/>
          </a:p>
        </p:txBody>
      </p:sp>
      <p:sp>
        <p:nvSpPr>
          <p:cNvPr id="27" name="Text 25"/>
          <p:cNvSpPr/>
          <p:nvPr/>
        </p:nvSpPr>
        <p:spPr>
          <a:xfrm>
            <a:off x="6858000" y="2697480"/>
            <a:ext cx="1737360" cy="1828800"/>
          </a:xfrm>
          <a:prstGeom prst="rect">
            <a:avLst/>
          </a:prstGeom>
          <a:noFill/>
          <a:ln/>
        </p:spPr>
        <p:txBody>
          <a:bodyPr wrap="square" rtlCol="0" anchor="ctr"/>
          <a:lstStyle/>
          <a:p>
            <a:pPr algn="l" indent="0" marL="0">
              <a:buNone/>
            </a:pPr>
            <a:r>
              <a:rPr lang="en-US" sz="1200" dirty="0">
                <a:solidFill>
                  <a:srgbClr val="8B949E"/>
                </a:solidFill>
                <a:latin typeface="Calibri" pitchFamily="34" charset="0"/>
                <a:ea typeface="Calibri" pitchFamily="34" charset="-122"/>
                <a:cs typeface="Calibri" pitchFamily="34" charset="-120"/>
              </a:rPr>
              <a:t>Phishing email, watering hole, USB drop, supply chain, or direct exploit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82880"/>
            <a:ext cx="8229600" cy="822960"/>
          </a:xfrm>
          <a:prstGeom prst="rect">
            <a:avLst/>
          </a:prstGeom>
          <a:noFill/>
          <a:ln/>
        </p:spPr>
        <p:txBody>
          <a:bodyPr wrap="square" rtlCol="0" anchor="ctr"/>
          <a:lstStyle/>
          <a:p>
            <a:pPr algn="l" indent="0" marL="0">
              <a:buNone/>
            </a:pPr>
            <a:r>
              <a:rPr lang="en-US" sz="2600" b="1" dirty="0">
                <a:solidFill>
                  <a:srgbClr val="00D4FF"/>
                </a:solidFill>
                <a:latin typeface="Consolas" pitchFamily="34" charset="0"/>
                <a:ea typeface="Consolas" pitchFamily="34" charset="-122"/>
                <a:cs typeface="Consolas" pitchFamily="34" charset="-120"/>
              </a:rPr>
              <a:t>04  |  EXPLOITATION</a:t>
            </a:r>
            <a:endParaRPr lang="en-US" sz="2600" dirty="0"/>
          </a:p>
        </p:txBody>
      </p:sp>
      <p:sp>
        <p:nvSpPr>
          <p:cNvPr id="4" name="Text 2"/>
          <p:cNvSpPr/>
          <p:nvPr/>
        </p:nvSpPr>
        <p:spPr>
          <a:xfrm>
            <a:off x="457200" y="777240"/>
            <a:ext cx="8229600" cy="365760"/>
          </a:xfrm>
          <a:prstGeom prst="rect">
            <a:avLst/>
          </a:prstGeom>
          <a:noFill/>
          <a:ln/>
        </p:spPr>
        <p:txBody>
          <a:bodyPr wrap="square" rtlCol="0" anchor="ctr"/>
          <a:lstStyle/>
          <a:p>
            <a:pPr indent="0" marL="0">
              <a:buNone/>
            </a:pPr>
            <a:r>
              <a:rPr lang="en-US" sz="1600" dirty="0">
                <a:solidFill>
                  <a:srgbClr val="8B949E"/>
                </a:solidFill>
                <a:latin typeface="Calibri" pitchFamily="34" charset="0"/>
                <a:ea typeface="Calibri" pitchFamily="34" charset="-122"/>
                <a:cs typeface="Calibri" pitchFamily="34" charset="-120"/>
              </a:rPr>
              <a:t>The moment of entry</a:t>
            </a:r>
            <a:endParaRPr lang="en-US" sz="1600" dirty="0"/>
          </a:p>
        </p:txBody>
      </p:sp>
      <p:sp>
        <p:nvSpPr>
          <p:cNvPr id="5" name="Shape 3"/>
          <p:cNvSpPr/>
          <p:nvPr/>
        </p:nvSpPr>
        <p:spPr>
          <a:xfrm>
            <a:off x="365760" y="1188720"/>
            <a:ext cx="3931920" cy="3657600"/>
          </a:xfrm>
          <a:prstGeom prst="rect">
            <a:avLst/>
          </a:prstGeom>
          <a:solidFill>
            <a:srgbClr val="1F2937"/>
          </a:solidFill>
          <a:ln w="12700">
            <a:solidFill>
              <a:srgbClr val="161B22"/>
            </a:solidFill>
            <a:prstDash val="solid"/>
          </a:ln>
        </p:spPr>
      </p:sp>
      <p:sp>
        <p:nvSpPr>
          <p:cNvPr id="6" name="Text 4"/>
          <p:cNvSpPr/>
          <p:nvPr/>
        </p:nvSpPr>
        <p:spPr>
          <a:xfrm>
            <a:off x="365760" y="1280160"/>
            <a:ext cx="3931920" cy="411480"/>
          </a:xfrm>
          <a:prstGeom prst="rect">
            <a:avLst/>
          </a:prstGeom>
          <a:noFill/>
          <a:ln/>
        </p:spPr>
        <p:txBody>
          <a:bodyPr wrap="square" rtlCol="0" anchor="ctr"/>
          <a:lstStyle/>
          <a:p>
            <a:pPr algn="ctr" indent="0" marL="0">
              <a:buNone/>
            </a:pPr>
            <a:r>
              <a:rPr lang="en-US" sz="1600" b="1" dirty="0">
                <a:solidFill>
                  <a:srgbClr val="FF4444"/>
                </a:solidFill>
                <a:latin typeface="Consolas" pitchFamily="34" charset="0"/>
                <a:ea typeface="Consolas" pitchFamily="34" charset="-122"/>
                <a:cs typeface="Consolas" pitchFamily="34" charset="-120"/>
              </a:rPr>
              <a:t>THE CLICK</a:t>
            </a:r>
            <a:endParaRPr lang="en-US" sz="1600" dirty="0"/>
          </a:p>
        </p:txBody>
      </p:sp>
      <p:sp>
        <p:nvSpPr>
          <p:cNvPr id="7" name="Text 5"/>
          <p:cNvSpPr/>
          <p:nvPr/>
        </p:nvSpPr>
        <p:spPr>
          <a:xfrm>
            <a:off x="502920" y="1783080"/>
            <a:ext cx="3611880" cy="274320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user opens a malicious attachment or visits a compromised site.</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In milliseconds, code executes in memory. The OS doesn't flag it as malware — it looks like a normal process.</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The exploit uses a flaw in software (e.g., Adobe Reader, MS Office, a browser plugin) to run attacker code with elevated privileges.</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A reverse shell opens — the victim's machine calls OUT to the attacker, bypassing most firewalls.</a:t>
            </a:r>
            <a:endParaRPr lang="en-US" sz="1250" dirty="0"/>
          </a:p>
        </p:txBody>
      </p:sp>
      <p:sp>
        <p:nvSpPr>
          <p:cNvPr id="8" name="Shape 6"/>
          <p:cNvSpPr/>
          <p:nvPr/>
        </p:nvSpPr>
        <p:spPr>
          <a:xfrm>
            <a:off x="4572000" y="1188720"/>
            <a:ext cx="4206240" cy="3657600"/>
          </a:xfrm>
          <a:prstGeom prst="rect">
            <a:avLst/>
          </a:prstGeom>
          <a:solidFill>
            <a:srgbClr val="1F2937"/>
          </a:solidFill>
          <a:ln w="12700">
            <a:solidFill>
              <a:srgbClr val="161B22"/>
            </a:solidFill>
            <a:prstDash val="solid"/>
          </a:ln>
        </p:spPr>
      </p:sp>
      <p:sp>
        <p:nvSpPr>
          <p:cNvPr id="9" name="Text 7"/>
          <p:cNvSpPr/>
          <p:nvPr/>
        </p:nvSpPr>
        <p:spPr>
          <a:xfrm>
            <a:off x="4572000" y="1280160"/>
            <a:ext cx="4206240" cy="411480"/>
          </a:xfrm>
          <a:prstGeom prst="rect">
            <a:avLst/>
          </a:prstGeom>
          <a:noFill/>
          <a:ln/>
        </p:spPr>
        <p:txBody>
          <a:bodyPr wrap="square" rtlCol="0" anchor="ctr"/>
          <a:lstStyle/>
          <a:p>
            <a:pPr algn="ctr" indent="0" marL="0">
              <a:buNone/>
            </a:pPr>
            <a:r>
              <a:rPr lang="en-US" sz="1400" b="1" dirty="0">
                <a:solidFill>
                  <a:srgbClr val="00D4FF"/>
                </a:solidFill>
                <a:latin typeface="Consolas" pitchFamily="34" charset="0"/>
                <a:ea typeface="Consolas" pitchFamily="34" charset="-122"/>
                <a:cs typeface="Consolas" pitchFamily="34" charset="-120"/>
              </a:rPr>
              <a:t>COMMON EXPLOIT TYPES</a:t>
            </a:r>
            <a:endParaRPr lang="en-US" sz="1400" dirty="0"/>
          </a:p>
        </p:txBody>
      </p:sp>
      <p:sp>
        <p:nvSpPr>
          <p:cNvPr id="10" name="Text 8"/>
          <p:cNvSpPr/>
          <p:nvPr/>
        </p:nvSpPr>
        <p:spPr>
          <a:xfrm>
            <a:off x="4709160" y="1783080"/>
            <a:ext cx="1463040" cy="502920"/>
          </a:xfrm>
          <a:prstGeom prst="rect">
            <a:avLst/>
          </a:prstGeom>
          <a:noFill/>
          <a:ln/>
        </p:spPr>
        <p:txBody>
          <a:bodyPr wrap="square" rtlCol="0" anchor="ctr"/>
          <a:lstStyle/>
          <a:p>
            <a:pPr indent="0" marL="0">
              <a:buNone/>
            </a:pPr>
            <a:r>
              <a:rPr lang="en-US" sz="1200" b="1" dirty="0">
                <a:solidFill>
                  <a:srgbClr val="FFA500"/>
                </a:solidFill>
                <a:latin typeface="Consolas" pitchFamily="34" charset="0"/>
                <a:ea typeface="Consolas" pitchFamily="34" charset="-122"/>
                <a:cs typeface="Consolas" pitchFamily="34" charset="-120"/>
              </a:rPr>
              <a:t>SQL Injection:</a:t>
            </a:r>
            <a:endParaRPr lang="en-US" sz="1200" dirty="0"/>
          </a:p>
        </p:txBody>
      </p:sp>
      <p:sp>
        <p:nvSpPr>
          <p:cNvPr id="11" name="Text 9"/>
          <p:cNvSpPr/>
          <p:nvPr/>
        </p:nvSpPr>
        <p:spPr>
          <a:xfrm>
            <a:off x="6172200" y="1783080"/>
            <a:ext cx="246888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Manipulates database queries to dump data or gain admin access</a:t>
            </a:r>
            <a:endParaRPr lang="en-US" sz="1200" dirty="0"/>
          </a:p>
        </p:txBody>
      </p:sp>
      <p:sp>
        <p:nvSpPr>
          <p:cNvPr id="12" name="Text 10"/>
          <p:cNvSpPr/>
          <p:nvPr/>
        </p:nvSpPr>
        <p:spPr>
          <a:xfrm>
            <a:off x="4709160" y="2395728"/>
            <a:ext cx="1463040" cy="502920"/>
          </a:xfrm>
          <a:prstGeom prst="rect">
            <a:avLst/>
          </a:prstGeom>
          <a:noFill/>
          <a:ln/>
        </p:spPr>
        <p:txBody>
          <a:bodyPr wrap="square" rtlCol="0" anchor="ctr"/>
          <a:lstStyle/>
          <a:p>
            <a:pPr indent="0" marL="0">
              <a:buNone/>
            </a:pPr>
            <a:r>
              <a:rPr lang="en-US" sz="1200" b="1" dirty="0">
                <a:solidFill>
                  <a:srgbClr val="FFA500"/>
                </a:solidFill>
                <a:latin typeface="Consolas" pitchFamily="34" charset="0"/>
                <a:ea typeface="Consolas" pitchFamily="34" charset="-122"/>
                <a:cs typeface="Consolas" pitchFamily="34" charset="-120"/>
              </a:rPr>
              <a:t>XSS:</a:t>
            </a:r>
            <a:endParaRPr lang="en-US" sz="1200" dirty="0"/>
          </a:p>
        </p:txBody>
      </p:sp>
      <p:sp>
        <p:nvSpPr>
          <p:cNvPr id="13" name="Text 11"/>
          <p:cNvSpPr/>
          <p:nvPr/>
        </p:nvSpPr>
        <p:spPr>
          <a:xfrm>
            <a:off x="6172200" y="2395728"/>
            <a:ext cx="246888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Injects malicious scripts into websites to hijack user sessions</a:t>
            </a:r>
            <a:endParaRPr lang="en-US" sz="1200" dirty="0"/>
          </a:p>
        </p:txBody>
      </p:sp>
      <p:sp>
        <p:nvSpPr>
          <p:cNvPr id="14" name="Text 12"/>
          <p:cNvSpPr/>
          <p:nvPr/>
        </p:nvSpPr>
        <p:spPr>
          <a:xfrm>
            <a:off x="4709160" y="3008376"/>
            <a:ext cx="1463040" cy="502920"/>
          </a:xfrm>
          <a:prstGeom prst="rect">
            <a:avLst/>
          </a:prstGeom>
          <a:noFill/>
          <a:ln/>
        </p:spPr>
        <p:txBody>
          <a:bodyPr wrap="square" rtlCol="0" anchor="ctr"/>
          <a:lstStyle/>
          <a:p>
            <a:pPr indent="0" marL="0">
              <a:buNone/>
            </a:pPr>
            <a:r>
              <a:rPr lang="en-US" sz="1200" b="1" dirty="0">
                <a:solidFill>
                  <a:srgbClr val="FFA500"/>
                </a:solidFill>
                <a:latin typeface="Consolas" pitchFamily="34" charset="0"/>
                <a:ea typeface="Consolas" pitchFamily="34" charset="-122"/>
                <a:cs typeface="Consolas" pitchFamily="34" charset="-120"/>
              </a:rPr>
              <a:t>Buffer Overflow:</a:t>
            </a:r>
            <a:endParaRPr lang="en-US" sz="1200" dirty="0"/>
          </a:p>
        </p:txBody>
      </p:sp>
      <p:sp>
        <p:nvSpPr>
          <p:cNvPr id="15" name="Text 13"/>
          <p:cNvSpPr/>
          <p:nvPr/>
        </p:nvSpPr>
        <p:spPr>
          <a:xfrm>
            <a:off x="6172200" y="3008376"/>
            <a:ext cx="246888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Crashes a program and injects attacker code into memory</a:t>
            </a:r>
            <a:endParaRPr lang="en-US" sz="1200" dirty="0"/>
          </a:p>
        </p:txBody>
      </p:sp>
      <p:sp>
        <p:nvSpPr>
          <p:cNvPr id="16" name="Text 14"/>
          <p:cNvSpPr/>
          <p:nvPr/>
        </p:nvSpPr>
        <p:spPr>
          <a:xfrm>
            <a:off x="4709160" y="3621024"/>
            <a:ext cx="1463040" cy="502920"/>
          </a:xfrm>
          <a:prstGeom prst="rect">
            <a:avLst/>
          </a:prstGeom>
          <a:noFill/>
          <a:ln/>
        </p:spPr>
        <p:txBody>
          <a:bodyPr wrap="square" rtlCol="0" anchor="ctr"/>
          <a:lstStyle/>
          <a:p>
            <a:pPr indent="0" marL="0">
              <a:buNone/>
            </a:pPr>
            <a:r>
              <a:rPr lang="en-US" sz="1200" b="1" dirty="0">
                <a:solidFill>
                  <a:srgbClr val="FFA500"/>
                </a:solidFill>
                <a:latin typeface="Consolas" pitchFamily="34" charset="0"/>
                <a:ea typeface="Consolas" pitchFamily="34" charset="-122"/>
                <a:cs typeface="Consolas" pitchFamily="34" charset="-120"/>
              </a:rPr>
              <a:t>Credential Stuffing:</a:t>
            </a:r>
            <a:endParaRPr lang="en-US" sz="1200" dirty="0"/>
          </a:p>
        </p:txBody>
      </p:sp>
      <p:sp>
        <p:nvSpPr>
          <p:cNvPr id="17" name="Text 15"/>
          <p:cNvSpPr/>
          <p:nvPr/>
        </p:nvSpPr>
        <p:spPr>
          <a:xfrm>
            <a:off x="6172200" y="3621024"/>
            <a:ext cx="246888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Uses leaked password lists against login pages</a:t>
            </a:r>
            <a:endParaRPr lang="en-US" sz="1200" dirty="0"/>
          </a:p>
        </p:txBody>
      </p:sp>
      <p:sp>
        <p:nvSpPr>
          <p:cNvPr id="18" name="Text 16"/>
          <p:cNvSpPr/>
          <p:nvPr/>
        </p:nvSpPr>
        <p:spPr>
          <a:xfrm>
            <a:off x="4709160" y="4233672"/>
            <a:ext cx="1463040" cy="502920"/>
          </a:xfrm>
          <a:prstGeom prst="rect">
            <a:avLst/>
          </a:prstGeom>
          <a:noFill/>
          <a:ln/>
        </p:spPr>
        <p:txBody>
          <a:bodyPr wrap="square" rtlCol="0" anchor="ctr"/>
          <a:lstStyle/>
          <a:p>
            <a:pPr indent="0" marL="0">
              <a:buNone/>
            </a:pPr>
            <a:r>
              <a:rPr lang="en-US" sz="1200" b="1" dirty="0">
                <a:solidFill>
                  <a:srgbClr val="FFA500"/>
                </a:solidFill>
                <a:latin typeface="Consolas" pitchFamily="34" charset="0"/>
                <a:ea typeface="Consolas" pitchFamily="34" charset="-122"/>
                <a:cs typeface="Consolas" pitchFamily="34" charset="-120"/>
              </a:rPr>
              <a:t>Zero-Click Exploit:</a:t>
            </a:r>
            <a:endParaRPr lang="en-US" sz="1200" dirty="0"/>
          </a:p>
        </p:txBody>
      </p:sp>
      <p:sp>
        <p:nvSpPr>
          <p:cNvPr id="19" name="Text 17"/>
          <p:cNvSpPr/>
          <p:nvPr/>
        </p:nvSpPr>
        <p:spPr>
          <a:xfrm>
            <a:off x="6172200" y="4233672"/>
            <a:ext cx="246888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Requires NO user interaction — device is compromised silently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82880"/>
            <a:ext cx="8229600" cy="822960"/>
          </a:xfrm>
          <a:prstGeom prst="rect">
            <a:avLst/>
          </a:prstGeom>
          <a:noFill/>
          <a:ln/>
        </p:spPr>
        <p:txBody>
          <a:bodyPr wrap="square" rtlCol="0" anchor="ctr"/>
          <a:lstStyle/>
          <a:p>
            <a:pPr algn="l" indent="0" marL="0">
              <a:buNone/>
            </a:pPr>
            <a:r>
              <a:rPr lang="en-US" sz="2600" b="1" dirty="0">
                <a:solidFill>
                  <a:srgbClr val="00D4FF"/>
                </a:solidFill>
                <a:latin typeface="Consolas" pitchFamily="34" charset="0"/>
                <a:ea typeface="Consolas" pitchFamily="34" charset="-122"/>
                <a:cs typeface="Consolas" pitchFamily="34" charset="-120"/>
              </a:rPr>
              <a:t>05  |  POST-EXPLOITATION</a:t>
            </a:r>
            <a:endParaRPr lang="en-US" sz="2600" dirty="0"/>
          </a:p>
        </p:txBody>
      </p:sp>
      <p:sp>
        <p:nvSpPr>
          <p:cNvPr id="4" name="Text 2"/>
          <p:cNvSpPr/>
          <p:nvPr/>
        </p:nvSpPr>
        <p:spPr>
          <a:xfrm>
            <a:off x="457200" y="777240"/>
            <a:ext cx="8229600" cy="411480"/>
          </a:xfrm>
          <a:prstGeom prst="rect">
            <a:avLst/>
          </a:prstGeom>
          <a:noFill/>
          <a:ln/>
        </p:spPr>
        <p:txBody>
          <a:bodyPr wrap="square" rtlCol="0" anchor="ctr"/>
          <a:lstStyle/>
          <a:p>
            <a:pPr indent="0" marL="0">
              <a:buNone/>
            </a:pPr>
            <a:r>
              <a:rPr lang="en-US" sz="1350" i="1" dirty="0">
                <a:solidFill>
                  <a:srgbClr val="FFA500"/>
                </a:solidFill>
                <a:latin typeface="Calibri" pitchFamily="34" charset="0"/>
                <a:ea typeface="Calibri" pitchFamily="34" charset="-122"/>
                <a:cs typeface="Calibri" pitchFamily="34" charset="-120"/>
              </a:rPr>
              <a:t>"The attacker has been in your network for 197 days before you find out." — IBM Cost of a Data Breach Report</a:t>
            </a:r>
            <a:endParaRPr lang="en-US" sz="1350" dirty="0"/>
          </a:p>
        </p:txBody>
      </p:sp>
      <p:sp>
        <p:nvSpPr>
          <p:cNvPr id="5" name="Shape 3"/>
          <p:cNvSpPr/>
          <p:nvPr/>
        </p:nvSpPr>
        <p:spPr>
          <a:xfrm>
            <a:off x="365760" y="1325880"/>
            <a:ext cx="8412480" cy="804672"/>
          </a:xfrm>
          <a:prstGeom prst="rect">
            <a:avLst/>
          </a:prstGeom>
          <a:solidFill>
            <a:srgbClr val="1F2937"/>
          </a:solidFill>
          <a:ln w="12700">
            <a:solidFill>
              <a:srgbClr val="161B22"/>
            </a:solidFill>
            <a:prstDash val="solid"/>
          </a:ln>
        </p:spPr>
      </p:sp>
      <p:sp>
        <p:nvSpPr>
          <p:cNvPr id="6" name="Shape 4"/>
          <p:cNvSpPr/>
          <p:nvPr/>
        </p:nvSpPr>
        <p:spPr>
          <a:xfrm>
            <a:off x="365760" y="1325880"/>
            <a:ext cx="54864" cy="804672"/>
          </a:xfrm>
          <a:prstGeom prst="rect">
            <a:avLst/>
          </a:prstGeom>
          <a:solidFill>
            <a:srgbClr val="FF4444"/>
          </a:solidFill>
          <a:ln w="12700">
            <a:solidFill>
              <a:srgbClr val="FF4444"/>
            </a:solidFill>
            <a:prstDash val="solid"/>
          </a:ln>
        </p:spPr>
      </p:sp>
      <p:sp>
        <p:nvSpPr>
          <p:cNvPr id="7" name="Text 5"/>
          <p:cNvSpPr/>
          <p:nvPr/>
        </p:nvSpPr>
        <p:spPr>
          <a:xfrm>
            <a:off x="502920" y="1371600"/>
            <a:ext cx="411480" cy="640080"/>
          </a:xfrm>
          <a:prstGeom prst="rect">
            <a:avLst/>
          </a:prstGeom>
          <a:noFill/>
          <a:ln/>
        </p:spPr>
        <p:txBody>
          <a:bodyPr wrap="square" rtlCol="0" anchor="ctr"/>
          <a:lstStyle/>
          <a:p>
            <a:pPr indent="0" marL="0">
              <a:buNone/>
            </a:pPr>
            <a:r>
              <a:rPr lang="en-US" sz="2200" b="1" dirty="0">
                <a:solidFill>
                  <a:srgbClr val="FF4444"/>
                </a:solidFill>
                <a:latin typeface="Consolas" pitchFamily="34" charset="0"/>
                <a:ea typeface="Consolas" pitchFamily="34" charset="-122"/>
                <a:cs typeface="Consolas" pitchFamily="34" charset="-120"/>
              </a:rPr>
              <a:t>1</a:t>
            </a:r>
            <a:endParaRPr lang="en-US" sz="2200" dirty="0"/>
          </a:p>
        </p:txBody>
      </p:sp>
      <p:sp>
        <p:nvSpPr>
          <p:cNvPr id="8" name="Text 6"/>
          <p:cNvSpPr/>
          <p:nvPr/>
        </p:nvSpPr>
        <p:spPr>
          <a:xfrm>
            <a:off x="1005840" y="1371600"/>
            <a:ext cx="7589520" cy="6858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Establish Persistence  —  Create backdoors, add admin users, modify startup scripts so they survive reboots and password resets.</a:t>
            </a:r>
            <a:endParaRPr lang="en-US" sz="1350" dirty="0"/>
          </a:p>
        </p:txBody>
      </p:sp>
      <p:sp>
        <p:nvSpPr>
          <p:cNvPr id="9" name="Shape 7"/>
          <p:cNvSpPr/>
          <p:nvPr/>
        </p:nvSpPr>
        <p:spPr>
          <a:xfrm>
            <a:off x="365760" y="2240280"/>
            <a:ext cx="8412480" cy="804672"/>
          </a:xfrm>
          <a:prstGeom prst="rect">
            <a:avLst/>
          </a:prstGeom>
          <a:solidFill>
            <a:srgbClr val="1F2937"/>
          </a:solidFill>
          <a:ln w="12700">
            <a:solidFill>
              <a:srgbClr val="161B22"/>
            </a:solidFill>
            <a:prstDash val="solid"/>
          </a:ln>
        </p:spPr>
      </p:sp>
      <p:sp>
        <p:nvSpPr>
          <p:cNvPr id="10" name="Shape 8"/>
          <p:cNvSpPr/>
          <p:nvPr/>
        </p:nvSpPr>
        <p:spPr>
          <a:xfrm>
            <a:off x="365760" y="2240280"/>
            <a:ext cx="54864" cy="804672"/>
          </a:xfrm>
          <a:prstGeom prst="rect">
            <a:avLst/>
          </a:prstGeom>
          <a:solidFill>
            <a:srgbClr val="FFA500"/>
          </a:solidFill>
          <a:ln w="12700">
            <a:solidFill>
              <a:srgbClr val="FFA500"/>
            </a:solidFill>
            <a:prstDash val="solid"/>
          </a:ln>
        </p:spPr>
      </p:sp>
      <p:sp>
        <p:nvSpPr>
          <p:cNvPr id="11" name="Text 9"/>
          <p:cNvSpPr/>
          <p:nvPr/>
        </p:nvSpPr>
        <p:spPr>
          <a:xfrm>
            <a:off x="502920" y="2286000"/>
            <a:ext cx="411480" cy="640080"/>
          </a:xfrm>
          <a:prstGeom prst="rect">
            <a:avLst/>
          </a:prstGeom>
          <a:noFill/>
          <a:ln/>
        </p:spPr>
        <p:txBody>
          <a:bodyPr wrap="square" rtlCol="0" anchor="ctr"/>
          <a:lstStyle/>
          <a:p>
            <a:pPr indent="0" marL="0">
              <a:buNone/>
            </a:pPr>
            <a:r>
              <a:rPr lang="en-US" sz="2200" b="1" dirty="0">
                <a:solidFill>
                  <a:srgbClr val="FFA500"/>
                </a:solidFill>
                <a:latin typeface="Consolas" pitchFamily="34" charset="0"/>
                <a:ea typeface="Consolas" pitchFamily="34" charset="-122"/>
                <a:cs typeface="Consolas" pitchFamily="34" charset="-120"/>
              </a:rPr>
              <a:t>2</a:t>
            </a:r>
            <a:endParaRPr lang="en-US" sz="2200" dirty="0"/>
          </a:p>
        </p:txBody>
      </p:sp>
      <p:sp>
        <p:nvSpPr>
          <p:cNvPr id="12" name="Text 10"/>
          <p:cNvSpPr/>
          <p:nvPr/>
        </p:nvSpPr>
        <p:spPr>
          <a:xfrm>
            <a:off x="1005840" y="2286000"/>
            <a:ext cx="7589520" cy="6858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Privilege Escalation  —  Move from a regular user account to admin or root. Exploit misconfigurations, steal tokens, or crack hashes.</a:t>
            </a:r>
            <a:endParaRPr lang="en-US" sz="1350" dirty="0"/>
          </a:p>
        </p:txBody>
      </p:sp>
      <p:sp>
        <p:nvSpPr>
          <p:cNvPr id="13" name="Shape 11"/>
          <p:cNvSpPr/>
          <p:nvPr/>
        </p:nvSpPr>
        <p:spPr>
          <a:xfrm>
            <a:off x="365760" y="3154680"/>
            <a:ext cx="8412480" cy="804672"/>
          </a:xfrm>
          <a:prstGeom prst="rect">
            <a:avLst/>
          </a:prstGeom>
          <a:solidFill>
            <a:srgbClr val="1F2937"/>
          </a:solidFill>
          <a:ln w="12700">
            <a:solidFill>
              <a:srgbClr val="161B22"/>
            </a:solidFill>
            <a:prstDash val="solid"/>
          </a:ln>
        </p:spPr>
      </p:sp>
      <p:sp>
        <p:nvSpPr>
          <p:cNvPr id="14" name="Shape 12"/>
          <p:cNvSpPr/>
          <p:nvPr/>
        </p:nvSpPr>
        <p:spPr>
          <a:xfrm>
            <a:off x="365760" y="3154680"/>
            <a:ext cx="54864" cy="804672"/>
          </a:xfrm>
          <a:prstGeom prst="rect">
            <a:avLst/>
          </a:prstGeom>
          <a:solidFill>
            <a:srgbClr val="00D4FF"/>
          </a:solidFill>
          <a:ln w="12700">
            <a:solidFill>
              <a:srgbClr val="00D4FF"/>
            </a:solidFill>
            <a:prstDash val="solid"/>
          </a:ln>
        </p:spPr>
      </p:sp>
      <p:sp>
        <p:nvSpPr>
          <p:cNvPr id="15" name="Text 13"/>
          <p:cNvSpPr/>
          <p:nvPr/>
        </p:nvSpPr>
        <p:spPr>
          <a:xfrm>
            <a:off x="502920" y="3200400"/>
            <a:ext cx="411480" cy="640080"/>
          </a:xfrm>
          <a:prstGeom prst="rect">
            <a:avLst/>
          </a:prstGeom>
          <a:noFill/>
          <a:ln/>
        </p:spPr>
        <p:txBody>
          <a:bodyPr wrap="square" rtlCol="0" anchor="ctr"/>
          <a:lstStyle/>
          <a:p>
            <a:pPr indent="0" marL="0">
              <a:buNone/>
            </a:pPr>
            <a:r>
              <a:rPr lang="en-US" sz="2200" b="1" dirty="0">
                <a:solidFill>
                  <a:srgbClr val="00D4FF"/>
                </a:solidFill>
                <a:latin typeface="Consolas" pitchFamily="34" charset="0"/>
                <a:ea typeface="Consolas" pitchFamily="34" charset="-122"/>
                <a:cs typeface="Consolas" pitchFamily="34" charset="-120"/>
              </a:rPr>
              <a:t>3</a:t>
            </a:r>
            <a:endParaRPr lang="en-US" sz="2200" dirty="0"/>
          </a:p>
        </p:txBody>
      </p:sp>
      <p:sp>
        <p:nvSpPr>
          <p:cNvPr id="16" name="Text 14"/>
          <p:cNvSpPr/>
          <p:nvPr/>
        </p:nvSpPr>
        <p:spPr>
          <a:xfrm>
            <a:off x="1005840" y="3200400"/>
            <a:ext cx="7589520" cy="6858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Lateral Movement  —  Jump from machine to machine across the network. Use stolen credentials and trust relationships between servers.</a:t>
            </a:r>
            <a:endParaRPr lang="en-US" sz="1350" dirty="0"/>
          </a:p>
        </p:txBody>
      </p:sp>
      <p:sp>
        <p:nvSpPr>
          <p:cNvPr id="17" name="Shape 15"/>
          <p:cNvSpPr/>
          <p:nvPr/>
        </p:nvSpPr>
        <p:spPr>
          <a:xfrm>
            <a:off x="365760" y="4069080"/>
            <a:ext cx="8412480" cy="804672"/>
          </a:xfrm>
          <a:prstGeom prst="rect">
            <a:avLst/>
          </a:prstGeom>
          <a:solidFill>
            <a:srgbClr val="1F2937"/>
          </a:solidFill>
          <a:ln w="12700">
            <a:solidFill>
              <a:srgbClr val="161B22"/>
            </a:solidFill>
            <a:prstDash val="solid"/>
          </a:ln>
        </p:spPr>
      </p:sp>
      <p:sp>
        <p:nvSpPr>
          <p:cNvPr id="18" name="Shape 16"/>
          <p:cNvSpPr/>
          <p:nvPr/>
        </p:nvSpPr>
        <p:spPr>
          <a:xfrm>
            <a:off x="365760" y="4069080"/>
            <a:ext cx="54864" cy="804672"/>
          </a:xfrm>
          <a:prstGeom prst="rect">
            <a:avLst/>
          </a:prstGeom>
          <a:solidFill>
            <a:srgbClr val="FF4444"/>
          </a:solidFill>
          <a:ln w="12700">
            <a:solidFill>
              <a:srgbClr val="FF4444"/>
            </a:solidFill>
            <a:prstDash val="solid"/>
          </a:ln>
        </p:spPr>
      </p:sp>
      <p:sp>
        <p:nvSpPr>
          <p:cNvPr id="19" name="Text 17"/>
          <p:cNvSpPr/>
          <p:nvPr/>
        </p:nvSpPr>
        <p:spPr>
          <a:xfrm>
            <a:off x="502920" y="4114800"/>
            <a:ext cx="411480" cy="640080"/>
          </a:xfrm>
          <a:prstGeom prst="rect">
            <a:avLst/>
          </a:prstGeom>
          <a:noFill/>
          <a:ln/>
        </p:spPr>
        <p:txBody>
          <a:bodyPr wrap="square" rtlCol="0" anchor="ctr"/>
          <a:lstStyle/>
          <a:p>
            <a:pPr indent="0" marL="0">
              <a:buNone/>
            </a:pPr>
            <a:r>
              <a:rPr lang="en-US" sz="2200" b="1" dirty="0">
                <a:solidFill>
                  <a:srgbClr val="FF4444"/>
                </a:solidFill>
                <a:latin typeface="Consolas" pitchFamily="34" charset="0"/>
                <a:ea typeface="Consolas" pitchFamily="34" charset="-122"/>
                <a:cs typeface="Consolas" pitchFamily="34" charset="-120"/>
              </a:rPr>
              <a:t>4</a:t>
            </a:r>
            <a:endParaRPr lang="en-US" sz="2200" dirty="0"/>
          </a:p>
        </p:txBody>
      </p:sp>
      <p:sp>
        <p:nvSpPr>
          <p:cNvPr id="20" name="Text 18"/>
          <p:cNvSpPr/>
          <p:nvPr/>
        </p:nvSpPr>
        <p:spPr>
          <a:xfrm>
            <a:off x="1005840" y="4114800"/>
            <a:ext cx="7589520" cy="6858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Exfiltration / Damage  —  Steal data, encrypt files (ransomware), destroy backups, or install more malware for future access.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82880"/>
            <a:ext cx="8229600" cy="822960"/>
          </a:xfrm>
          <a:prstGeom prst="rect">
            <a:avLst/>
          </a:prstGeom>
          <a:noFill/>
          <a:ln/>
        </p:spPr>
        <p:txBody>
          <a:bodyPr wrap="square" rtlCol="0" anchor="ctr"/>
          <a:lstStyle/>
          <a:p>
            <a:pPr algn="l" indent="0" marL="0">
              <a:buNone/>
            </a:pPr>
            <a:r>
              <a:rPr lang="en-US" sz="2400" b="1" dirty="0">
                <a:solidFill>
                  <a:srgbClr val="00D4FF"/>
                </a:solidFill>
                <a:latin typeface="Consolas" pitchFamily="34" charset="0"/>
                <a:ea typeface="Consolas" pitchFamily="34" charset="-122"/>
                <a:cs typeface="Consolas" pitchFamily="34" charset="-120"/>
              </a:rPr>
              <a:t>06  |  REAL EXAMPLE: SOLARWINDS 2020</a:t>
            </a:r>
            <a:endParaRPr lang="en-US" sz="2400" dirty="0"/>
          </a:p>
        </p:txBody>
      </p:sp>
      <p:sp>
        <p:nvSpPr>
          <p:cNvPr id="4" name="Text 2"/>
          <p:cNvSpPr/>
          <p:nvPr/>
        </p:nvSpPr>
        <p:spPr>
          <a:xfrm>
            <a:off x="457200" y="749808"/>
            <a:ext cx="8229600" cy="347472"/>
          </a:xfrm>
          <a:prstGeom prst="rect">
            <a:avLst/>
          </a:prstGeom>
          <a:noFill/>
          <a:ln/>
        </p:spPr>
        <p:txBody>
          <a:bodyPr wrap="square" rtlCol="0" anchor="ctr"/>
          <a:lstStyle/>
          <a:p>
            <a:pPr indent="0" marL="0">
              <a:buNone/>
            </a:pPr>
            <a:r>
              <a:rPr lang="en-US" sz="1500" i="1" dirty="0">
                <a:solidFill>
                  <a:srgbClr val="8B949E"/>
                </a:solidFill>
                <a:latin typeface="Calibri" pitchFamily="34" charset="0"/>
                <a:ea typeface="Calibri" pitchFamily="34" charset="-122"/>
                <a:cs typeface="Calibri" pitchFamily="34" charset="-120"/>
              </a:rPr>
              <a:t>One of the most sophisticated supply chain attacks in history</a:t>
            </a:r>
            <a:endParaRPr lang="en-US" sz="1500" dirty="0"/>
          </a:p>
        </p:txBody>
      </p:sp>
      <p:sp>
        <p:nvSpPr>
          <p:cNvPr id="5" name="Shape 3"/>
          <p:cNvSpPr/>
          <p:nvPr/>
        </p:nvSpPr>
        <p:spPr>
          <a:xfrm>
            <a:off x="365760" y="1234440"/>
            <a:ext cx="8412480" cy="804672"/>
          </a:xfrm>
          <a:prstGeom prst="rect">
            <a:avLst/>
          </a:prstGeom>
          <a:solidFill>
            <a:srgbClr val="1F2937"/>
          </a:solidFill>
          <a:ln w="12700">
            <a:solidFill>
              <a:srgbClr val="161B22"/>
            </a:solidFill>
            <a:prstDash val="solid"/>
          </a:ln>
        </p:spPr>
      </p:sp>
      <p:sp>
        <p:nvSpPr>
          <p:cNvPr id="6" name="Shape 4"/>
          <p:cNvSpPr/>
          <p:nvPr/>
        </p:nvSpPr>
        <p:spPr>
          <a:xfrm>
            <a:off x="365760" y="1234440"/>
            <a:ext cx="54864" cy="804672"/>
          </a:xfrm>
          <a:prstGeom prst="rect">
            <a:avLst/>
          </a:prstGeom>
          <a:solidFill>
            <a:srgbClr val="FF4444"/>
          </a:solidFill>
          <a:ln w="12700">
            <a:solidFill>
              <a:srgbClr val="FF4444"/>
            </a:solidFill>
            <a:prstDash val="solid"/>
          </a:ln>
        </p:spPr>
      </p:sp>
      <p:sp>
        <p:nvSpPr>
          <p:cNvPr id="7" name="Text 5"/>
          <p:cNvSpPr/>
          <p:nvPr/>
        </p:nvSpPr>
        <p:spPr>
          <a:xfrm>
            <a:off x="502920" y="1280160"/>
            <a:ext cx="1097280" cy="685800"/>
          </a:xfrm>
          <a:prstGeom prst="rect">
            <a:avLst/>
          </a:prstGeom>
          <a:noFill/>
          <a:ln/>
        </p:spPr>
        <p:txBody>
          <a:bodyPr wrap="square" rtlCol="0" anchor="ctr"/>
          <a:lstStyle/>
          <a:p>
            <a:pPr indent="0" marL="0">
              <a:buNone/>
            </a:pPr>
            <a:r>
              <a:rPr lang="en-US" sz="1100" b="1" dirty="0">
                <a:solidFill>
                  <a:srgbClr val="FF4444"/>
                </a:solidFill>
                <a:latin typeface="Consolas" pitchFamily="34" charset="0"/>
                <a:ea typeface="Consolas" pitchFamily="34" charset="-122"/>
                <a:cs typeface="Consolas" pitchFamily="34" charset="-120"/>
              </a:rPr>
              <a:t>OCT 2019</a:t>
            </a:r>
            <a:endParaRPr lang="en-US" sz="1100" dirty="0"/>
          </a:p>
        </p:txBody>
      </p:sp>
      <p:sp>
        <p:nvSpPr>
          <p:cNvPr id="8" name="Text 6"/>
          <p:cNvSpPr/>
          <p:nvPr/>
        </p:nvSpPr>
        <p:spPr>
          <a:xfrm>
            <a:off x="1691640" y="1280160"/>
            <a:ext cx="6949440" cy="6858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Recon &amp; Access  —  Attackers (later attributed to Russia's SVR) gain access to SolarWinds build environment.</a:t>
            </a:r>
            <a:endParaRPr lang="en-US" sz="1350" dirty="0"/>
          </a:p>
        </p:txBody>
      </p:sp>
      <p:sp>
        <p:nvSpPr>
          <p:cNvPr id="9" name="Shape 7"/>
          <p:cNvSpPr/>
          <p:nvPr/>
        </p:nvSpPr>
        <p:spPr>
          <a:xfrm>
            <a:off x="365760" y="2148840"/>
            <a:ext cx="8412480" cy="804672"/>
          </a:xfrm>
          <a:prstGeom prst="rect">
            <a:avLst/>
          </a:prstGeom>
          <a:solidFill>
            <a:srgbClr val="1F2937"/>
          </a:solidFill>
          <a:ln w="12700">
            <a:solidFill>
              <a:srgbClr val="161B22"/>
            </a:solidFill>
            <a:prstDash val="solid"/>
          </a:ln>
        </p:spPr>
      </p:sp>
      <p:sp>
        <p:nvSpPr>
          <p:cNvPr id="10" name="Shape 8"/>
          <p:cNvSpPr/>
          <p:nvPr/>
        </p:nvSpPr>
        <p:spPr>
          <a:xfrm>
            <a:off x="365760" y="2148840"/>
            <a:ext cx="54864" cy="804672"/>
          </a:xfrm>
          <a:prstGeom prst="rect">
            <a:avLst/>
          </a:prstGeom>
          <a:solidFill>
            <a:srgbClr val="FFA500"/>
          </a:solidFill>
          <a:ln w="12700">
            <a:solidFill>
              <a:srgbClr val="FFA500"/>
            </a:solidFill>
            <a:prstDash val="solid"/>
          </a:ln>
        </p:spPr>
      </p:sp>
      <p:sp>
        <p:nvSpPr>
          <p:cNvPr id="11" name="Text 9"/>
          <p:cNvSpPr/>
          <p:nvPr/>
        </p:nvSpPr>
        <p:spPr>
          <a:xfrm>
            <a:off x="502920" y="2194560"/>
            <a:ext cx="1097280" cy="685800"/>
          </a:xfrm>
          <a:prstGeom prst="rect">
            <a:avLst/>
          </a:prstGeom>
          <a:noFill/>
          <a:ln/>
        </p:spPr>
        <p:txBody>
          <a:bodyPr wrap="square" rtlCol="0" anchor="ctr"/>
          <a:lstStyle/>
          <a:p>
            <a:pPr indent="0" marL="0">
              <a:buNone/>
            </a:pPr>
            <a:r>
              <a:rPr lang="en-US" sz="1100" b="1" dirty="0">
                <a:solidFill>
                  <a:srgbClr val="FFA500"/>
                </a:solidFill>
                <a:latin typeface="Consolas" pitchFamily="34" charset="0"/>
                <a:ea typeface="Consolas" pitchFamily="34" charset="-122"/>
                <a:cs typeface="Consolas" pitchFamily="34" charset="-120"/>
              </a:rPr>
              <a:t>FEB 2020</a:t>
            </a:r>
            <a:endParaRPr lang="en-US" sz="1100" dirty="0"/>
          </a:p>
        </p:txBody>
      </p:sp>
      <p:sp>
        <p:nvSpPr>
          <p:cNvPr id="12" name="Text 10"/>
          <p:cNvSpPr/>
          <p:nvPr/>
        </p:nvSpPr>
        <p:spPr>
          <a:xfrm>
            <a:off x="1691640" y="2194560"/>
            <a:ext cx="6949440" cy="6858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Malware Injected  —  Malicious code — SUNBURST — is secretly inserted into SolarWinds Orion software update.</a:t>
            </a:r>
            <a:endParaRPr lang="en-US" sz="1350" dirty="0"/>
          </a:p>
        </p:txBody>
      </p:sp>
      <p:sp>
        <p:nvSpPr>
          <p:cNvPr id="13" name="Shape 11"/>
          <p:cNvSpPr/>
          <p:nvPr/>
        </p:nvSpPr>
        <p:spPr>
          <a:xfrm>
            <a:off x="365760" y="3063240"/>
            <a:ext cx="8412480" cy="804672"/>
          </a:xfrm>
          <a:prstGeom prst="rect">
            <a:avLst/>
          </a:prstGeom>
          <a:solidFill>
            <a:srgbClr val="1F2937"/>
          </a:solidFill>
          <a:ln w="12700">
            <a:solidFill>
              <a:srgbClr val="161B22"/>
            </a:solidFill>
            <a:prstDash val="solid"/>
          </a:ln>
        </p:spPr>
      </p:sp>
      <p:sp>
        <p:nvSpPr>
          <p:cNvPr id="14" name="Shape 12"/>
          <p:cNvSpPr/>
          <p:nvPr/>
        </p:nvSpPr>
        <p:spPr>
          <a:xfrm>
            <a:off x="365760" y="3063240"/>
            <a:ext cx="54864" cy="804672"/>
          </a:xfrm>
          <a:prstGeom prst="rect">
            <a:avLst/>
          </a:prstGeom>
          <a:solidFill>
            <a:srgbClr val="00D4FF"/>
          </a:solidFill>
          <a:ln w="12700">
            <a:solidFill>
              <a:srgbClr val="00D4FF"/>
            </a:solidFill>
            <a:prstDash val="solid"/>
          </a:ln>
        </p:spPr>
      </p:sp>
      <p:sp>
        <p:nvSpPr>
          <p:cNvPr id="15" name="Text 13"/>
          <p:cNvSpPr/>
          <p:nvPr/>
        </p:nvSpPr>
        <p:spPr>
          <a:xfrm>
            <a:off x="502920" y="3108960"/>
            <a:ext cx="1097280" cy="685800"/>
          </a:xfrm>
          <a:prstGeom prst="rect">
            <a:avLst/>
          </a:prstGeom>
          <a:noFill/>
          <a:ln/>
        </p:spPr>
        <p:txBody>
          <a:bodyPr wrap="square" rtlCol="0" anchor="ctr"/>
          <a:lstStyle/>
          <a:p>
            <a:pPr indent="0" marL="0">
              <a:buNone/>
            </a:pPr>
            <a:r>
              <a:rPr lang="en-US" sz="1100" b="1" dirty="0">
                <a:solidFill>
                  <a:srgbClr val="00D4FF"/>
                </a:solidFill>
                <a:latin typeface="Consolas" pitchFamily="34" charset="0"/>
                <a:ea typeface="Consolas" pitchFamily="34" charset="-122"/>
                <a:cs typeface="Consolas" pitchFamily="34" charset="-120"/>
              </a:rPr>
              <a:t>MAR 2020</a:t>
            </a:r>
            <a:endParaRPr lang="en-US" sz="1100" dirty="0"/>
          </a:p>
        </p:txBody>
      </p:sp>
      <p:sp>
        <p:nvSpPr>
          <p:cNvPr id="16" name="Text 14"/>
          <p:cNvSpPr/>
          <p:nvPr/>
        </p:nvSpPr>
        <p:spPr>
          <a:xfrm>
            <a:off x="1691640" y="3108960"/>
            <a:ext cx="6949440" cy="6858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Delivery  —  18,000 organizations download the legitimate-looking update, trusting SolarWinds' signature.</a:t>
            </a:r>
            <a:endParaRPr lang="en-US" sz="1350" dirty="0"/>
          </a:p>
        </p:txBody>
      </p:sp>
      <p:sp>
        <p:nvSpPr>
          <p:cNvPr id="17" name="Shape 15"/>
          <p:cNvSpPr/>
          <p:nvPr/>
        </p:nvSpPr>
        <p:spPr>
          <a:xfrm>
            <a:off x="365760" y="3977640"/>
            <a:ext cx="8412480" cy="804672"/>
          </a:xfrm>
          <a:prstGeom prst="rect">
            <a:avLst/>
          </a:prstGeom>
          <a:solidFill>
            <a:srgbClr val="1F2937"/>
          </a:solidFill>
          <a:ln w="12700">
            <a:solidFill>
              <a:srgbClr val="161B22"/>
            </a:solidFill>
            <a:prstDash val="solid"/>
          </a:ln>
        </p:spPr>
      </p:sp>
      <p:sp>
        <p:nvSpPr>
          <p:cNvPr id="18" name="Shape 16"/>
          <p:cNvSpPr/>
          <p:nvPr/>
        </p:nvSpPr>
        <p:spPr>
          <a:xfrm>
            <a:off x="365760" y="3977640"/>
            <a:ext cx="54864" cy="804672"/>
          </a:xfrm>
          <a:prstGeom prst="rect">
            <a:avLst/>
          </a:prstGeom>
          <a:solidFill>
            <a:srgbClr val="39D353"/>
          </a:solidFill>
          <a:ln w="12700">
            <a:solidFill>
              <a:srgbClr val="39D353"/>
            </a:solidFill>
            <a:prstDash val="solid"/>
          </a:ln>
        </p:spPr>
      </p:sp>
      <p:sp>
        <p:nvSpPr>
          <p:cNvPr id="19" name="Text 17"/>
          <p:cNvSpPr/>
          <p:nvPr/>
        </p:nvSpPr>
        <p:spPr>
          <a:xfrm>
            <a:off x="502920" y="4023360"/>
            <a:ext cx="1097280" cy="685800"/>
          </a:xfrm>
          <a:prstGeom prst="rect">
            <a:avLst/>
          </a:prstGeom>
          <a:noFill/>
          <a:ln/>
        </p:spPr>
        <p:txBody>
          <a:bodyPr wrap="square" rtlCol="0" anchor="ctr"/>
          <a:lstStyle/>
          <a:p>
            <a:pPr indent="0" marL="0">
              <a:buNone/>
            </a:pPr>
            <a:r>
              <a:rPr lang="en-US" sz="1100" b="1" dirty="0">
                <a:solidFill>
                  <a:srgbClr val="39D353"/>
                </a:solidFill>
                <a:latin typeface="Consolas" pitchFamily="34" charset="0"/>
                <a:ea typeface="Consolas" pitchFamily="34" charset="-122"/>
                <a:cs typeface="Consolas" pitchFamily="34" charset="-120"/>
              </a:rPr>
              <a:t>DEC 2020</a:t>
            </a:r>
            <a:endParaRPr lang="en-US" sz="1100" dirty="0"/>
          </a:p>
        </p:txBody>
      </p:sp>
      <p:sp>
        <p:nvSpPr>
          <p:cNvPr id="20" name="Text 18"/>
          <p:cNvSpPr/>
          <p:nvPr/>
        </p:nvSpPr>
        <p:spPr>
          <a:xfrm>
            <a:off x="1691640" y="4023360"/>
            <a:ext cx="6949440" cy="6858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Discovery  —  FireEye discovers the breach — 10 months after initial compromise. US Treasury, Dept. of Homeland Security affected.</a:t>
            </a:r>
            <a:endParaRPr lang="en-US" sz="1350" dirty="0"/>
          </a:p>
        </p:txBody>
      </p:sp>
      <p:sp>
        <p:nvSpPr>
          <p:cNvPr id="21" name="Text 19"/>
          <p:cNvSpPr/>
          <p:nvPr/>
        </p:nvSpPr>
        <p:spPr>
          <a:xfrm>
            <a:off x="365760" y="4736592"/>
            <a:ext cx="8412480" cy="320040"/>
          </a:xfrm>
          <a:prstGeom prst="rect">
            <a:avLst/>
          </a:prstGeom>
          <a:noFill/>
          <a:ln/>
        </p:spPr>
        <p:txBody>
          <a:bodyPr wrap="square" rtlCol="0" anchor="ctr"/>
          <a:lstStyle/>
          <a:p>
            <a:pPr algn="ctr" indent="0" marL="0">
              <a:buNone/>
            </a:pPr>
            <a:r>
              <a:rPr lang="en-US" sz="1300" b="1" dirty="0">
                <a:solidFill>
                  <a:srgbClr val="FFA500"/>
                </a:solidFill>
                <a:latin typeface="Calibri" pitchFamily="34" charset="0"/>
                <a:ea typeface="Calibri" pitchFamily="34" charset="-122"/>
                <a:cs typeface="Calibri" pitchFamily="34" charset="-120"/>
              </a:rPr>
              <a:t>Key Insight: The update was digitally SIGNED — considered safe. Nobody checked the code inside.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Text 1"/>
          <p:cNvSpPr/>
          <p:nvPr/>
        </p:nvSpPr>
        <p:spPr>
          <a:xfrm>
            <a:off x="457200" y="182880"/>
            <a:ext cx="8229600" cy="822960"/>
          </a:xfrm>
          <a:prstGeom prst="rect">
            <a:avLst/>
          </a:prstGeom>
          <a:noFill/>
          <a:ln/>
        </p:spPr>
        <p:txBody>
          <a:bodyPr wrap="square" rtlCol="0" anchor="ctr"/>
          <a:lstStyle/>
          <a:p>
            <a:pPr algn="l" indent="0" marL="0">
              <a:buNone/>
            </a:pPr>
            <a:r>
              <a:rPr lang="en-US" sz="2400" b="1" dirty="0">
                <a:solidFill>
                  <a:srgbClr val="00D4FF"/>
                </a:solidFill>
                <a:latin typeface="Consolas" pitchFamily="34" charset="0"/>
                <a:ea typeface="Consolas" pitchFamily="34" charset="-122"/>
                <a:cs typeface="Consolas" pitchFamily="34" charset="-120"/>
              </a:rPr>
              <a:t>07  |  HOW WE DEFEND AGAINST THIS</a:t>
            </a:r>
            <a:endParaRPr lang="en-US" sz="2400" dirty="0"/>
          </a:p>
        </p:txBody>
      </p:sp>
      <p:sp>
        <p:nvSpPr>
          <p:cNvPr id="4" name="Shape 2"/>
          <p:cNvSpPr/>
          <p:nvPr/>
        </p:nvSpPr>
        <p:spPr>
          <a:xfrm>
            <a:off x="365760" y="1051560"/>
            <a:ext cx="4114800" cy="1170432"/>
          </a:xfrm>
          <a:prstGeom prst="rect">
            <a:avLst/>
          </a:prstGeom>
          <a:solidFill>
            <a:srgbClr val="1F2937"/>
          </a:solidFill>
          <a:ln w="12700">
            <a:solidFill>
              <a:srgbClr val="161B22"/>
            </a:solidFill>
            <a:prstDash val="solid"/>
          </a:ln>
        </p:spPr>
      </p:sp>
      <p:sp>
        <p:nvSpPr>
          <p:cNvPr id="5" name="Shape 3"/>
          <p:cNvSpPr/>
          <p:nvPr/>
        </p:nvSpPr>
        <p:spPr>
          <a:xfrm>
            <a:off x="365760" y="1051560"/>
            <a:ext cx="54864" cy="1170432"/>
          </a:xfrm>
          <a:prstGeom prst="rect">
            <a:avLst/>
          </a:prstGeom>
          <a:solidFill>
            <a:srgbClr val="00D4FF"/>
          </a:solidFill>
          <a:ln w="12700">
            <a:solidFill>
              <a:srgbClr val="00D4FF"/>
            </a:solidFill>
            <a:prstDash val="solid"/>
          </a:ln>
        </p:spPr>
      </p:sp>
      <p:sp>
        <p:nvSpPr>
          <p:cNvPr id="6" name="Text 4"/>
          <p:cNvSpPr/>
          <p:nvPr/>
        </p:nvSpPr>
        <p:spPr>
          <a:xfrm>
            <a:off x="530352" y="1143000"/>
            <a:ext cx="3840480" cy="365760"/>
          </a:xfrm>
          <a:prstGeom prst="rect">
            <a:avLst/>
          </a:prstGeom>
          <a:noFill/>
          <a:ln/>
        </p:spPr>
        <p:txBody>
          <a:bodyPr wrap="square" rtlCol="0" anchor="ctr"/>
          <a:lstStyle/>
          <a:p>
            <a:pPr indent="0" marL="0">
              <a:buNone/>
            </a:pPr>
            <a:r>
              <a:rPr lang="en-US" sz="1350" b="1" dirty="0">
                <a:solidFill>
                  <a:srgbClr val="00D4FF"/>
                </a:solidFill>
                <a:latin typeface="Consolas" pitchFamily="34" charset="0"/>
                <a:ea typeface="Consolas" pitchFamily="34" charset="-122"/>
                <a:cs typeface="Consolas" pitchFamily="34" charset="-120"/>
              </a:rPr>
              <a:t>Zero Trust Architecture</a:t>
            </a:r>
            <a:endParaRPr lang="en-US" sz="1350" dirty="0"/>
          </a:p>
        </p:txBody>
      </p:sp>
      <p:sp>
        <p:nvSpPr>
          <p:cNvPr id="7" name="Text 5"/>
          <p:cNvSpPr/>
          <p:nvPr/>
        </p:nvSpPr>
        <p:spPr>
          <a:xfrm>
            <a:off x="530352" y="1508760"/>
            <a:ext cx="384048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Never trust, always verify. Every user and device must authenticate even on internal networks.</a:t>
            </a:r>
            <a:endParaRPr lang="en-US" sz="1250" dirty="0"/>
          </a:p>
        </p:txBody>
      </p:sp>
      <p:sp>
        <p:nvSpPr>
          <p:cNvPr id="8" name="Shape 6"/>
          <p:cNvSpPr/>
          <p:nvPr/>
        </p:nvSpPr>
        <p:spPr>
          <a:xfrm>
            <a:off x="4709160" y="1051560"/>
            <a:ext cx="4114800" cy="1170432"/>
          </a:xfrm>
          <a:prstGeom prst="rect">
            <a:avLst/>
          </a:prstGeom>
          <a:solidFill>
            <a:srgbClr val="1F2937"/>
          </a:solidFill>
          <a:ln w="12700">
            <a:solidFill>
              <a:srgbClr val="161B22"/>
            </a:solidFill>
            <a:prstDash val="solid"/>
          </a:ln>
        </p:spPr>
      </p:sp>
      <p:sp>
        <p:nvSpPr>
          <p:cNvPr id="9" name="Shape 7"/>
          <p:cNvSpPr/>
          <p:nvPr/>
        </p:nvSpPr>
        <p:spPr>
          <a:xfrm>
            <a:off x="4709160" y="1051560"/>
            <a:ext cx="54864" cy="1170432"/>
          </a:xfrm>
          <a:prstGeom prst="rect">
            <a:avLst/>
          </a:prstGeom>
          <a:solidFill>
            <a:srgbClr val="39D353"/>
          </a:solidFill>
          <a:ln w="12700">
            <a:solidFill>
              <a:srgbClr val="39D353"/>
            </a:solidFill>
            <a:prstDash val="solid"/>
          </a:ln>
        </p:spPr>
      </p:sp>
      <p:sp>
        <p:nvSpPr>
          <p:cNvPr id="10" name="Text 8"/>
          <p:cNvSpPr/>
          <p:nvPr/>
        </p:nvSpPr>
        <p:spPr>
          <a:xfrm>
            <a:off x="4873752" y="1143000"/>
            <a:ext cx="3840480" cy="365760"/>
          </a:xfrm>
          <a:prstGeom prst="rect">
            <a:avLst/>
          </a:prstGeom>
          <a:noFill/>
          <a:ln/>
        </p:spPr>
        <p:txBody>
          <a:bodyPr wrap="square" rtlCol="0" anchor="ctr"/>
          <a:lstStyle/>
          <a:p>
            <a:pPr indent="0" marL="0">
              <a:buNone/>
            </a:pPr>
            <a:r>
              <a:rPr lang="en-US" sz="1350" b="1" dirty="0">
                <a:solidFill>
                  <a:srgbClr val="39D353"/>
                </a:solidFill>
                <a:latin typeface="Consolas" pitchFamily="34" charset="0"/>
                <a:ea typeface="Consolas" pitchFamily="34" charset="-122"/>
                <a:cs typeface="Consolas" pitchFamily="34" charset="-120"/>
              </a:rPr>
              <a:t>Patch Management</a:t>
            </a:r>
            <a:endParaRPr lang="en-US" sz="1350" dirty="0"/>
          </a:p>
        </p:txBody>
      </p:sp>
      <p:sp>
        <p:nvSpPr>
          <p:cNvPr id="11" name="Text 9"/>
          <p:cNvSpPr/>
          <p:nvPr/>
        </p:nvSpPr>
        <p:spPr>
          <a:xfrm>
            <a:off x="4873752" y="1508760"/>
            <a:ext cx="384048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Vulnerabilities must be patched fast. The window between disclosure and exploitation is shrinking daily.</a:t>
            </a:r>
            <a:endParaRPr lang="en-US" sz="1250" dirty="0"/>
          </a:p>
        </p:txBody>
      </p:sp>
      <p:sp>
        <p:nvSpPr>
          <p:cNvPr id="12" name="Shape 10"/>
          <p:cNvSpPr/>
          <p:nvPr/>
        </p:nvSpPr>
        <p:spPr>
          <a:xfrm>
            <a:off x="365760" y="2377440"/>
            <a:ext cx="4114800" cy="1170432"/>
          </a:xfrm>
          <a:prstGeom prst="rect">
            <a:avLst/>
          </a:prstGeom>
          <a:solidFill>
            <a:srgbClr val="1F2937"/>
          </a:solidFill>
          <a:ln w="12700">
            <a:solidFill>
              <a:srgbClr val="161B22"/>
            </a:solidFill>
            <a:prstDash val="solid"/>
          </a:ln>
        </p:spPr>
      </p:sp>
      <p:sp>
        <p:nvSpPr>
          <p:cNvPr id="13" name="Shape 11"/>
          <p:cNvSpPr/>
          <p:nvPr/>
        </p:nvSpPr>
        <p:spPr>
          <a:xfrm>
            <a:off x="365760" y="2377440"/>
            <a:ext cx="54864" cy="1170432"/>
          </a:xfrm>
          <a:prstGeom prst="rect">
            <a:avLst/>
          </a:prstGeom>
          <a:solidFill>
            <a:srgbClr val="FFA500"/>
          </a:solidFill>
          <a:ln w="12700">
            <a:solidFill>
              <a:srgbClr val="FFA500"/>
            </a:solidFill>
            <a:prstDash val="solid"/>
          </a:ln>
        </p:spPr>
      </p:sp>
      <p:sp>
        <p:nvSpPr>
          <p:cNvPr id="14" name="Text 12"/>
          <p:cNvSpPr/>
          <p:nvPr/>
        </p:nvSpPr>
        <p:spPr>
          <a:xfrm>
            <a:off x="530352" y="2468880"/>
            <a:ext cx="3840480" cy="365760"/>
          </a:xfrm>
          <a:prstGeom prst="rect">
            <a:avLst/>
          </a:prstGeom>
          <a:noFill/>
          <a:ln/>
        </p:spPr>
        <p:txBody>
          <a:bodyPr wrap="square" rtlCol="0" anchor="ctr"/>
          <a:lstStyle/>
          <a:p>
            <a:pPr indent="0" marL="0">
              <a:buNone/>
            </a:pPr>
            <a:r>
              <a:rPr lang="en-US" sz="1350" b="1" dirty="0">
                <a:solidFill>
                  <a:srgbClr val="FFA500"/>
                </a:solidFill>
                <a:latin typeface="Consolas" pitchFamily="34" charset="0"/>
                <a:ea typeface="Consolas" pitchFamily="34" charset="-122"/>
                <a:cs typeface="Consolas" pitchFamily="34" charset="-120"/>
              </a:rPr>
              <a:t>Multi-Factor Auth (MFA)</a:t>
            </a:r>
            <a:endParaRPr lang="en-US" sz="1350" dirty="0"/>
          </a:p>
        </p:txBody>
      </p:sp>
      <p:sp>
        <p:nvSpPr>
          <p:cNvPr id="15" name="Text 13"/>
          <p:cNvSpPr/>
          <p:nvPr/>
        </p:nvSpPr>
        <p:spPr>
          <a:xfrm>
            <a:off x="530352" y="2834640"/>
            <a:ext cx="384048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Stolen passwords alone aren't enough. MFA blocks ~99.9% of credential-based attacks.</a:t>
            </a:r>
            <a:endParaRPr lang="en-US" sz="1250" dirty="0"/>
          </a:p>
        </p:txBody>
      </p:sp>
      <p:sp>
        <p:nvSpPr>
          <p:cNvPr id="16" name="Shape 14"/>
          <p:cNvSpPr/>
          <p:nvPr/>
        </p:nvSpPr>
        <p:spPr>
          <a:xfrm>
            <a:off x="4709160" y="2377440"/>
            <a:ext cx="4114800" cy="1170432"/>
          </a:xfrm>
          <a:prstGeom prst="rect">
            <a:avLst/>
          </a:prstGeom>
          <a:solidFill>
            <a:srgbClr val="1F2937"/>
          </a:solidFill>
          <a:ln w="12700">
            <a:solidFill>
              <a:srgbClr val="161B22"/>
            </a:solidFill>
            <a:prstDash val="solid"/>
          </a:ln>
        </p:spPr>
      </p:sp>
      <p:sp>
        <p:nvSpPr>
          <p:cNvPr id="17" name="Shape 15"/>
          <p:cNvSpPr/>
          <p:nvPr/>
        </p:nvSpPr>
        <p:spPr>
          <a:xfrm>
            <a:off x="4709160" y="2377440"/>
            <a:ext cx="54864" cy="1170432"/>
          </a:xfrm>
          <a:prstGeom prst="rect">
            <a:avLst/>
          </a:prstGeom>
          <a:solidFill>
            <a:srgbClr val="00D4FF"/>
          </a:solidFill>
          <a:ln w="12700">
            <a:solidFill>
              <a:srgbClr val="00D4FF"/>
            </a:solidFill>
            <a:prstDash val="solid"/>
          </a:ln>
        </p:spPr>
      </p:sp>
      <p:sp>
        <p:nvSpPr>
          <p:cNvPr id="18" name="Text 16"/>
          <p:cNvSpPr/>
          <p:nvPr/>
        </p:nvSpPr>
        <p:spPr>
          <a:xfrm>
            <a:off x="4873752" y="2468880"/>
            <a:ext cx="3840480" cy="365760"/>
          </a:xfrm>
          <a:prstGeom prst="rect">
            <a:avLst/>
          </a:prstGeom>
          <a:noFill/>
          <a:ln/>
        </p:spPr>
        <p:txBody>
          <a:bodyPr wrap="square" rtlCol="0" anchor="ctr"/>
          <a:lstStyle/>
          <a:p>
            <a:pPr indent="0" marL="0">
              <a:buNone/>
            </a:pPr>
            <a:r>
              <a:rPr lang="en-US" sz="1350" b="1" dirty="0">
                <a:solidFill>
                  <a:srgbClr val="00D4FF"/>
                </a:solidFill>
                <a:latin typeface="Consolas" pitchFamily="34" charset="0"/>
                <a:ea typeface="Consolas" pitchFamily="34" charset="-122"/>
                <a:cs typeface="Consolas" pitchFamily="34" charset="-120"/>
              </a:rPr>
              <a:t>Network Segmentation</a:t>
            </a:r>
            <a:endParaRPr lang="en-US" sz="1350" dirty="0"/>
          </a:p>
        </p:txBody>
      </p:sp>
      <p:sp>
        <p:nvSpPr>
          <p:cNvPr id="19" name="Text 17"/>
          <p:cNvSpPr/>
          <p:nvPr/>
        </p:nvSpPr>
        <p:spPr>
          <a:xfrm>
            <a:off x="4873752" y="2834640"/>
            <a:ext cx="384048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Divide networks into zones. Limit lateral movement — a breach in one zone stays there.</a:t>
            </a:r>
            <a:endParaRPr lang="en-US" sz="1250" dirty="0"/>
          </a:p>
        </p:txBody>
      </p:sp>
      <p:sp>
        <p:nvSpPr>
          <p:cNvPr id="20" name="Shape 18"/>
          <p:cNvSpPr/>
          <p:nvPr/>
        </p:nvSpPr>
        <p:spPr>
          <a:xfrm>
            <a:off x="365760" y="3703320"/>
            <a:ext cx="4114800" cy="1170432"/>
          </a:xfrm>
          <a:prstGeom prst="rect">
            <a:avLst/>
          </a:prstGeom>
          <a:solidFill>
            <a:srgbClr val="1F2937"/>
          </a:solidFill>
          <a:ln w="12700">
            <a:solidFill>
              <a:srgbClr val="161B22"/>
            </a:solidFill>
            <a:prstDash val="solid"/>
          </a:ln>
        </p:spPr>
      </p:sp>
      <p:sp>
        <p:nvSpPr>
          <p:cNvPr id="21" name="Shape 19"/>
          <p:cNvSpPr/>
          <p:nvPr/>
        </p:nvSpPr>
        <p:spPr>
          <a:xfrm>
            <a:off x="365760" y="3703320"/>
            <a:ext cx="54864" cy="1170432"/>
          </a:xfrm>
          <a:prstGeom prst="rect">
            <a:avLst/>
          </a:prstGeom>
          <a:solidFill>
            <a:srgbClr val="39D353"/>
          </a:solidFill>
          <a:ln w="12700">
            <a:solidFill>
              <a:srgbClr val="39D353"/>
            </a:solidFill>
            <a:prstDash val="solid"/>
          </a:ln>
        </p:spPr>
      </p:sp>
      <p:sp>
        <p:nvSpPr>
          <p:cNvPr id="22" name="Text 20"/>
          <p:cNvSpPr/>
          <p:nvPr/>
        </p:nvSpPr>
        <p:spPr>
          <a:xfrm>
            <a:off x="530352" y="3794760"/>
            <a:ext cx="3840480" cy="365760"/>
          </a:xfrm>
          <a:prstGeom prst="rect">
            <a:avLst/>
          </a:prstGeom>
          <a:noFill/>
          <a:ln/>
        </p:spPr>
        <p:txBody>
          <a:bodyPr wrap="square" rtlCol="0" anchor="ctr"/>
          <a:lstStyle/>
          <a:p>
            <a:pPr indent="0" marL="0">
              <a:buNone/>
            </a:pPr>
            <a:r>
              <a:rPr lang="en-US" sz="1350" b="1" dirty="0">
                <a:solidFill>
                  <a:srgbClr val="39D353"/>
                </a:solidFill>
                <a:latin typeface="Consolas" pitchFamily="34" charset="0"/>
                <a:ea typeface="Consolas" pitchFamily="34" charset="-122"/>
                <a:cs typeface="Consolas" pitchFamily="34" charset="-120"/>
              </a:rPr>
              <a:t>Security Awareness Training</a:t>
            </a:r>
            <a:endParaRPr lang="en-US" sz="1350" dirty="0"/>
          </a:p>
        </p:txBody>
      </p:sp>
      <p:sp>
        <p:nvSpPr>
          <p:cNvPr id="23" name="Text 21"/>
          <p:cNvSpPr/>
          <p:nvPr/>
        </p:nvSpPr>
        <p:spPr>
          <a:xfrm>
            <a:off x="530352" y="4160520"/>
            <a:ext cx="384048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human is the most common attack vector. Train employees to spot phishing and social engineering.</a:t>
            </a:r>
            <a:endParaRPr lang="en-US" sz="1250" dirty="0"/>
          </a:p>
        </p:txBody>
      </p:sp>
      <p:sp>
        <p:nvSpPr>
          <p:cNvPr id="24" name="Shape 22"/>
          <p:cNvSpPr/>
          <p:nvPr/>
        </p:nvSpPr>
        <p:spPr>
          <a:xfrm>
            <a:off x="4709160" y="3703320"/>
            <a:ext cx="4114800" cy="1170432"/>
          </a:xfrm>
          <a:prstGeom prst="rect">
            <a:avLst/>
          </a:prstGeom>
          <a:solidFill>
            <a:srgbClr val="1F2937"/>
          </a:solidFill>
          <a:ln w="12700">
            <a:solidFill>
              <a:srgbClr val="161B22"/>
            </a:solidFill>
            <a:prstDash val="solid"/>
          </a:ln>
        </p:spPr>
      </p:sp>
      <p:sp>
        <p:nvSpPr>
          <p:cNvPr id="25" name="Shape 23"/>
          <p:cNvSpPr/>
          <p:nvPr/>
        </p:nvSpPr>
        <p:spPr>
          <a:xfrm>
            <a:off x="4709160" y="3703320"/>
            <a:ext cx="54864" cy="1170432"/>
          </a:xfrm>
          <a:prstGeom prst="rect">
            <a:avLst/>
          </a:prstGeom>
          <a:solidFill>
            <a:srgbClr val="FFA500"/>
          </a:solidFill>
          <a:ln w="12700">
            <a:solidFill>
              <a:srgbClr val="FFA500"/>
            </a:solidFill>
            <a:prstDash val="solid"/>
          </a:ln>
        </p:spPr>
      </p:sp>
      <p:sp>
        <p:nvSpPr>
          <p:cNvPr id="26" name="Text 24"/>
          <p:cNvSpPr/>
          <p:nvPr/>
        </p:nvSpPr>
        <p:spPr>
          <a:xfrm>
            <a:off x="4873752" y="3794760"/>
            <a:ext cx="3840480" cy="365760"/>
          </a:xfrm>
          <a:prstGeom prst="rect">
            <a:avLst/>
          </a:prstGeom>
          <a:noFill/>
          <a:ln/>
        </p:spPr>
        <p:txBody>
          <a:bodyPr wrap="square" rtlCol="0" anchor="ctr"/>
          <a:lstStyle/>
          <a:p>
            <a:pPr indent="0" marL="0">
              <a:buNone/>
            </a:pPr>
            <a:r>
              <a:rPr lang="en-US" sz="1350" b="1" dirty="0">
                <a:solidFill>
                  <a:srgbClr val="FFA500"/>
                </a:solidFill>
                <a:latin typeface="Consolas" pitchFamily="34" charset="0"/>
                <a:ea typeface="Consolas" pitchFamily="34" charset="-122"/>
                <a:cs typeface="Consolas" pitchFamily="34" charset="-120"/>
              </a:rPr>
              <a:t>Threat Hunting &amp; SIEM</a:t>
            </a:r>
            <a:endParaRPr lang="en-US" sz="1350" dirty="0"/>
          </a:p>
        </p:txBody>
      </p:sp>
      <p:sp>
        <p:nvSpPr>
          <p:cNvPr id="27" name="Text 25"/>
          <p:cNvSpPr/>
          <p:nvPr/>
        </p:nvSpPr>
        <p:spPr>
          <a:xfrm>
            <a:off x="4873752" y="4160520"/>
            <a:ext cx="3840480" cy="621792"/>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Don't wait for alerts. Actively hunt for anomalies. Use SIEM tools to correlate logs at scale.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D4FF"/>
          </a:solidFill>
          <a:ln w="12700">
            <a:solidFill>
              <a:srgbClr val="00D4FF"/>
            </a:solidFill>
            <a:prstDash val="solid"/>
          </a:ln>
        </p:spPr>
      </p:sp>
      <p:sp>
        <p:nvSpPr>
          <p:cNvPr id="3" name="Shape 1"/>
          <p:cNvSpPr/>
          <p:nvPr/>
        </p:nvSpPr>
        <p:spPr>
          <a:xfrm>
            <a:off x="0" y="4937760"/>
            <a:ext cx="9144000" cy="205740"/>
          </a:xfrm>
          <a:prstGeom prst="rect">
            <a:avLst/>
          </a:prstGeom>
          <a:solidFill>
            <a:srgbClr val="161B22"/>
          </a:solidFill>
          <a:ln w="12700">
            <a:solidFill>
              <a:srgbClr val="161B22"/>
            </a:solidFill>
            <a:prstDash val="solid"/>
          </a:ln>
        </p:spPr>
      </p:sp>
      <p:sp>
        <p:nvSpPr>
          <p:cNvPr id="4" name="Text 2"/>
          <p:cNvSpPr/>
          <p:nvPr/>
        </p:nvSpPr>
        <p:spPr>
          <a:xfrm>
            <a:off x="457200" y="182880"/>
            <a:ext cx="8229600" cy="548640"/>
          </a:xfrm>
          <a:prstGeom prst="rect">
            <a:avLst/>
          </a:prstGeom>
          <a:noFill/>
          <a:ln/>
        </p:spPr>
        <p:txBody>
          <a:bodyPr wrap="square" rtlCol="0" anchor="ctr"/>
          <a:lstStyle/>
          <a:p>
            <a:pPr indent="0" marL="0">
              <a:buNone/>
            </a:pPr>
            <a:r>
              <a:rPr lang="en-US" sz="2600" b="1" dirty="0">
                <a:solidFill>
                  <a:srgbClr val="00D4FF"/>
                </a:solidFill>
                <a:latin typeface="Consolas" pitchFamily="34" charset="0"/>
                <a:ea typeface="Consolas" pitchFamily="34" charset="-122"/>
                <a:cs typeface="Consolas" pitchFamily="34" charset="-120"/>
              </a:rPr>
              <a:t>08  |  KEY TAKEAWAYS</a:t>
            </a:r>
            <a:endParaRPr lang="en-US" sz="2600" dirty="0"/>
          </a:p>
        </p:txBody>
      </p:sp>
      <p:sp>
        <p:nvSpPr>
          <p:cNvPr id="5" name="Shape 3"/>
          <p:cNvSpPr/>
          <p:nvPr/>
        </p:nvSpPr>
        <p:spPr>
          <a:xfrm>
            <a:off x="365760" y="868680"/>
            <a:ext cx="8412480" cy="868680"/>
          </a:xfrm>
          <a:prstGeom prst="rect">
            <a:avLst/>
          </a:prstGeom>
          <a:solidFill>
            <a:srgbClr val="1F2937"/>
          </a:solidFill>
          <a:ln w="12700">
            <a:solidFill>
              <a:srgbClr val="161B22"/>
            </a:solidFill>
            <a:prstDash val="solid"/>
          </a:ln>
        </p:spPr>
      </p:sp>
      <p:sp>
        <p:nvSpPr>
          <p:cNvPr id="6" name="Shape 4"/>
          <p:cNvSpPr/>
          <p:nvPr/>
        </p:nvSpPr>
        <p:spPr>
          <a:xfrm>
            <a:off x="365760" y="868680"/>
            <a:ext cx="54864" cy="868680"/>
          </a:xfrm>
          <a:prstGeom prst="rect">
            <a:avLst/>
          </a:prstGeom>
          <a:solidFill>
            <a:srgbClr val="00D4FF"/>
          </a:solidFill>
          <a:ln w="12700">
            <a:solidFill>
              <a:srgbClr val="00D4FF"/>
            </a:solidFill>
            <a:prstDash val="solid"/>
          </a:ln>
        </p:spPr>
      </p:sp>
      <p:sp>
        <p:nvSpPr>
          <p:cNvPr id="7" name="Text 5"/>
          <p:cNvSpPr/>
          <p:nvPr/>
        </p:nvSpPr>
        <p:spPr>
          <a:xfrm>
            <a:off x="548640" y="923544"/>
            <a:ext cx="8046720" cy="347472"/>
          </a:xfrm>
          <a:prstGeom prst="rect">
            <a:avLst/>
          </a:prstGeom>
          <a:noFill/>
          <a:ln/>
        </p:spPr>
        <p:txBody>
          <a:bodyPr wrap="square"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01  Attacks are methodical, not magical</a:t>
            </a:r>
            <a:endParaRPr lang="en-US" sz="1400" dirty="0"/>
          </a:p>
        </p:txBody>
      </p:sp>
      <p:sp>
        <p:nvSpPr>
          <p:cNvPr id="8" name="Text 6"/>
          <p:cNvSpPr/>
          <p:nvPr/>
        </p:nvSpPr>
        <p:spPr>
          <a:xfrm>
            <a:off x="548640" y="1307592"/>
            <a:ext cx="8046720" cy="347472"/>
          </a:xfrm>
          <a:prstGeom prst="rect">
            <a:avLst/>
          </a:prstGeom>
          <a:noFill/>
          <a:ln/>
        </p:spPr>
        <p:txBody>
          <a:bodyPr wrap="square" rtlCol="0" anchor="ctr"/>
          <a:lstStyle/>
          <a:p>
            <a:pPr indent="0" marL="0">
              <a:buNone/>
            </a:pPr>
            <a:r>
              <a:rPr lang="en-US" sz="1300" dirty="0">
                <a:solidFill>
                  <a:srgbClr val="8B949E"/>
                </a:solidFill>
                <a:latin typeface="Calibri" pitchFamily="34" charset="0"/>
                <a:ea typeface="Calibri" pitchFamily="34" charset="-122"/>
                <a:cs typeface="Calibri" pitchFamily="34" charset="-120"/>
              </a:rPr>
              <a:t>Hackers follow a structured kill chain. Understanding it lets us break it at any stage.</a:t>
            </a:r>
            <a:endParaRPr lang="en-US" sz="1300" dirty="0"/>
          </a:p>
        </p:txBody>
      </p:sp>
      <p:sp>
        <p:nvSpPr>
          <p:cNvPr id="9" name="Shape 7"/>
          <p:cNvSpPr/>
          <p:nvPr/>
        </p:nvSpPr>
        <p:spPr>
          <a:xfrm>
            <a:off x="365760" y="1874520"/>
            <a:ext cx="8412480" cy="868680"/>
          </a:xfrm>
          <a:prstGeom prst="rect">
            <a:avLst/>
          </a:prstGeom>
          <a:solidFill>
            <a:srgbClr val="1F2937"/>
          </a:solidFill>
          <a:ln w="12700">
            <a:solidFill>
              <a:srgbClr val="161B22"/>
            </a:solidFill>
            <a:prstDash val="solid"/>
          </a:ln>
        </p:spPr>
      </p:sp>
      <p:sp>
        <p:nvSpPr>
          <p:cNvPr id="10" name="Shape 8"/>
          <p:cNvSpPr/>
          <p:nvPr/>
        </p:nvSpPr>
        <p:spPr>
          <a:xfrm>
            <a:off x="365760" y="1874520"/>
            <a:ext cx="54864" cy="868680"/>
          </a:xfrm>
          <a:prstGeom prst="rect">
            <a:avLst/>
          </a:prstGeom>
          <a:solidFill>
            <a:srgbClr val="00D4FF"/>
          </a:solidFill>
          <a:ln w="12700">
            <a:solidFill>
              <a:srgbClr val="00D4FF"/>
            </a:solidFill>
            <a:prstDash val="solid"/>
          </a:ln>
        </p:spPr>
      </p:sp>
      <p:sp>
        <p:nvSpPr>
          <p:cNvPr id="11" name="Text 9"/>
          <p:cNvSpPr/>
          <p:nvPr/>
        </p:nvSpPr>
        <p:spPr>
          <a:xfrm>
            <a:off x="548640" y="1929384"/>
            <a:ext cx="8046720" cy="347472"/>
          </a:xfrm>
          <a:prstGeom prst="rect">
            <a:avLst/>
          </a:prstGeom>
          <a:noFill/>
          <a:ln/>
        </p:spPr>
        <p:txBody>
          <a:bodyPr wrap="square"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02  The human is the weakest link</a:t>
            </a:r>
            <a:endParaRPr lang="en-US" sz="1400" dirty="0"/>
          </a:p>
        </p:txBody>
      </p:sp>
      <p:sp>
        <p:nvSpPr>
          <p:cNvPr id="12" name="Text 10"/>
          <p:cNvSpPr/>
          <p:nvPr/>
        </p:nvSpPr>
        <p:spPr>
          <a:xfrm>
            <a:off x="548640" y="2313432"/>
            <a:ext cx="8046720" cy="347472"/>
          </a:xfrm>
          <a:prstGeom prst="rect">
            <a:avLst/>
          </a:prstGeom>
          <a:noFill/>
          <a:ln/>
        </p:spPr>
        <p:txBody>
          <a:bodyPr wrap="square" rtlCol="0" anchor="ctr"/>
          <a:lstStyle/>
          <a:p>
            <a:pPr indent="0" marL="0">
              <a:buNone/>
            </a:pPr>
            <a:r>
              <a:rPr lang="en-US" sz="1300" dirty="0">
                <a:solidFill>
                  <a:srgbClr val="8B949E"/>
                </a:solidFill>
                <a:latin typeface="Calibri" pitchFamily="34" charset="0"/>
                <a:ea typeface="Calibri" pitchFamily="34" charset="-122"/>
                <a:cs typeface="Calibri" pitchFamily="34" charset="-120"/>
              </a:rPr>
              <a:t>Most attacks start with social engineering. Technology alone cannot solve this.</a:t>
            </a:r>
            <a:endParaRPr lang="en-US" sz="1300" dirty="0"/>
          </a:p>
        </p:txBody>
      </p:sp>
      <p:sp>
        <p:nvSpPr>
          <p:cNvPr id="13" name="Shape 11"/>
          <p:cNvSpPr/>
          <p:nvPr/>
        </p:nvSpPr>
        <p:spPr>
          <a:xfrm>
            <a:off x="365760" y="2880360"/>
            <a:ext cx="8412480" cy="868680"/>
          </a:xfrm>
          <a:prstGeom prst="rect">
            <a:avLst/>
          </a:prstGeom>
          <a:solidFill>
            <a:srgbClr val="1F2937"/>
          </a:solidFill>
          <a:ln w="12700">
            <a:solidFill>
              <a:srgbClr val="161B22"/>
            </a:solidFill>
            <a:prstDash val="solid"/>
          </a:ln>
        </p:spPr>
      </p:sp>
      <p:sp>
        <p:nvSpPr>
          <p:cNvPr id="14" name="Shape 12"/>
          <p:cNvSpPr/>
          <p:nvPr/>
        </p:nvSpPr>
        <p:spPr>
          <a:xfrm>
            <a:off x="365760" y="2880360"/>
            <a:ext cx="54864" cy="868680"/>
          </a:xfrm>
          <a:prstGeom prst="rect">
            <a:avLst/>
          </a:prstGeom>
          <a:solidFill>
            <a:srgbClr val="00D4FF"/>
          </a:solidFill>
          <a:ln w="12700">
            <a:solidFill>
              <a:srgbClr val="00D4FF"/>
            </a:solidFill>
            <a:prstDash val="solid"/>
          </a:ln>
        </p:spPr>
      </p:sp>
      <p:sp>
        <p:nvSpPr>
          <p:cNvPr id="15" name="Text 13"/>
          <p:cNvSpPr/>
          <p:nvPr/>
        </p:nvSpPr>
        <p:spPr>
          <a:xfrm>
            <a:off x="548640" y="2935224"/>
            <a:ext cx="8046720" cy="347472"/>
          </a:xfrm>
          <a:prstGeom prst="rect">
            <a:avLst/>
          </a:prstGeom>
          <a:noFill/>
          <a:ln/>
        </p:spPr>
        <p:txBody>
          <a:bodyPr wrap="square"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03  Dwell time is your enemy</a:t>
            </a:r>
            <a:endParaRPr lang="en-US" sz="1400" dirty="0"/>
          </a:p>
        </p:txBody>
      </p:sp>
      <p:sp>
        <p:nvSpPr>
          <p:cNvPr id="16" name="Text 14"/>
          <p:cNvSpPr/>
          <p:nvPr/>
        </p:nvSpPr>
        <p:spPr>
          <a:xfrm>
            <a:off x="548640" y="3319272"/>
            <a:ext cx="8046720" cy="347472"/>
          </a:xfrm>
          <a:prstGeom prst="rect">
            <a:avLst/>
          </a:prstGeom>
          <a:noFill/>
          <a:ln/>
        </p:spPr>
        <p:txBody>
          <a:bodyPr wrap="square" rtlCol="0" anchor="ctr"/>
          <a:lstStyle/>
          <a:p>
            <a:pPr indent="0" marL="0">
              <a:buNone/>
            </a:pPr>
            <a:r>
              <a:rPr lang="en-US" sz="1300" dirty="0">
                <a:solidFill>
                  <a:srgbClr val="8B949E"/>
                </a:solidFill>
                <a:latin typeface="Calibri" pitchFamily="34" charset="0"/>
                <a:ea typeface="Calibri" pitchFamily="34" charset="-122"/>
                <a:cs typeface="Calibri" pitchFamily="34" charset="-120"/>
              </a:rPr>
              <a:t>The longer an attacker stays undetected, the worse the damage. Fast detection is everything.</a:t>
            </a:r>
            <a:endParaRPr lang="en-US" sz="1300" dirty="0"/>
          </a:p>
        </p:txBody>
      </p:sp>
      <p:sp>
        <p:nvSpPr>
          <p:cNvPr id="17" name="Shape 15"/>
          <p:cNvSpPr/>
          <p:nvPr/>
        </p:nvSpPr>
        <p:spPr>
          <a:xfrm>
            <a:off x="365760" y="3886200"/>
            <a:ext cx="8412480" cy="868680"/>
          </a:xfrm>
          <a:prstGeom prst="rect">
            <a:avLst/>
          </a:prstGeom>
          <a:solidFill>
            <a:srgbClr val="1F2937"/>
          </a:solidFill>
          <a:ln w="12700">
            <a:solidFill>
              <a:srgbClr val="161B22"/>
            </a:solidFill>
            <a:prstDash val="solid"/>
          </a:ln>
        </p:spPr>
      </p:sp>
      <p:sp>
        <p:nvSpPr>
          <p:cNvPr id="18" name="Shape 16"/>
          <p:cNvSpPr/>
          <p:nvPr/>
        </p:nvSpPr>
        <p:spPr>
          <a:xfrm>
            <a:off x="365760" y="3886200"/>
            <a:ext cx="54864" cy="868680"/>
          </a:xfrm>
          <a:prstGeom prst="rect">
            <a:avLst/>
          </a:prstGeom>
          <a:solidFill>
            <a:srgbClr val="00D4FF"/>
          </a:solidFill>
          <a:ln w="12700">
            <a:solidFill>
              <a:srgbClr val="00D4FF"/>
            </a:solidFill>
            <a:prstDash val="solid"/>
          </a:ln>
        </p:spPr>
      </p:sp>
      <p:sp>
        <p:nvSpPr>
          <p:cNvPr id="19" name="Text 17"/>
          <p:cNvSpPr/>
          <p:nvPr/>
        </p:nvSpPr>
        <p:spPr>
          <a:xfrm>
            <a:off x="548640" y="3941064"/>
            <a:ext cx="8046720" cy="347472"/>
          </a:xfrm>
          <a:prstGeom prst="rect">
            <a:avLst/>
          </a:prstGeom>
          <a:noFill/>
          <a:ln/>
        </p:spPr>
        <p:txBody>
          <a:bodyPr wrap="square"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04  Defense mirrors offense</a:t>
            </a:r>
            <a:endParaRPr lang="en-US" sz="1400" dirty="0"/>
          </a:p>
        </p:txBody>
      </p:sp>
      <p:sp>
        <p:nvSpPr>
          <p:cNvPr id="20" name="Text 18"/>
          <p:cNvSpPr/>
          <p:nvPr/>
        </p:nvSpPr>
        <p:spPr>
          <a:xfrm>
            <a:off x="548640" y="4325112"/>
            <a:ext cx="8046720" cy="347472"/>
          </a:xfrm>
          <a:prstGeom prst="rect">
            <a:avLst/>
          </a:prstGeom>
          <a:noFill/>
          <a:ln/>
        </p:spPr>
        <p:txBody>
          <a:bodyPr wrap="square" rtlCol="0" anchor="ctr"/>
          <a:lstStyle/>
          <a:p>
            <a:pPr indent="0" marL="0">
              <a:buNone/>
            </a:pPr>
            <a:r>
              <a:rPr lang="en-US" sz="1300" dirty="0">
                <a:solidFill>
                  <a:srgbClr val="8B949E"/>
                </a:solidFill>
                <a:latin typeface="Calibri" pitchFamily="34" charset="0"/>
                <a:ea typeface="Calibri" pitchFamily="34" charset="-122"/>
                <a:cs typeface="Calibri" pitchFamily="34" charset="-120"/>
              </a:rPr>
              <a:t>The best defenders think like attackers. You cannot protect what you don't understand.</a:t>
            </a:r>
            <a:endParaRPr lang="en-US" sz="1300" dirty="0"/>
          </a:p>
        </p:txBody>
      </p:sp>
      <p:sp>
        <p:nvSpPr>
          <p:cNvPr id="21" name="Text 19"/>
          <p:cNvSpPr/>
          <p:nvPr/>
        </p:nvSpPr>
        <p:spPr>
          <a:xfrm>
            <a:off x="0" y="4617720"/>
            <a:ext cx="9144000" cy="365760"/>
          </a:xfrm>
          <a:prstGeom prst="rect">
            <a:avLst/>
          </a:prstGeom>
          <a:noFill/>
          <a:ln/>
        </p:spPr>
        <p:txBody>
          <a:bodyPr wrap="square" rtlCol="0" anchor="ctr"/>
          <a:lstStyle/>
          <a:p>
            <a:pPr algn="ctr" indent="0" marL="0">
              <a:buNone/>
            </a:pPr>
            <a:r>
              <a:rPr lang="en-US" sz="1600" b="1" dirty="0">
                <a:solidFill>
                  <a:srgbClr val="00D4FF"/>
                </a:solidFill>
                <a:latin typeface="Consolas" pitchFamily="34" charset="0"/>
                <a:ea typeface="Consolas" pitchFamily="34" charset="-122"/>
                <a:cs typeface="Consolas"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Cyber Attacks Really Happen</dc:title>
  <dc:subject>PptxGenJS Presentation</dc:subject>
  <dc:creator>PptxGenJS</dc:creator>
  <cp:lastModifiedBy>PptxGenJS</cp:lastModifiedBy>
  <cp:revision>1</cp:revision>
  <dcterms:created xsi:type="dcterms:W3CDTF">2026-02-22T15:35:21Z</dcterms:created>
  <dcterms:modified xsi:type="dcterms:W3CDTF">2026-02-22T15:35:21Z</dcterms:modified>
</cp:coreProperties>
</file>