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57" r:id="rId3"/>
    <p:sldId id="258" r:id="rId4"/>
    <p:sldId id="259" r:id="rId5"/>
    <p:sldId id="282" r:id="rId6"/>
    <p:sldId id="260" r:id="rId7"/>
    <p:sldId id="286" r:id="rId8"/>
    <p:sldId id="284" r:id="rId9"/>
    <p:sldId id="283" r:id="rId10"/>
    <p:sldId id="285"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10"/>
  </p:normalViewPr>
  <p:slideViewPr>
    <p:cSldViewPr snapToGrid="0" snapToObjects="1">
      <p:cViewPr varScale="1">
        <p:scale>
          <a:sx n="75" d="100"/>
          <a:sy n="75" d="100"/>
        </p:scale>
        <p:origin x="60"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310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is a deep-dive into a comprehensive academic survey titled "A Survey of Agentic AI and Cybersecurity: Challenges, Opportunities and Use-case Prototypes" — published in January 2026 by researchers at Tennessee Tech, the University of Nebraska Omaha, and Purdue University.
We're going to cover what agentic AI is, how it is changing both attack and defense in cybersecurity, and what the research community still hasn't solved.
I'll be giving particular depth to the red team and offensive sections, because understanding the attacker perspective is foundational to building any meaningful defense.
Let's begin.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of the paper gives us the conceptual foundation.
The key distinction is this: traditional GenAI — ChatGPT, Claude, Gemini — is essentially a very smart autocomplete. You give it a prompt, it gives you a response, and that's the end of the transaction. It has no memory of prior conversations, no ability to take actions in the real world, and no capacity to plan toward a goal over time.
Agentic AI is fundamentally different. It introduces four properties that, when combined, create a system that behaves more like a junior employee than a search engine.
First, reasoning — the ability to break down a complex task into sub-tasks and revise the plan when something goes wrong. Second, memory — both short-term (the context window) and long-term (vector databases using RAG, or Retrieval-Augmented Generation). Third, tool use — agents can call APIs, execute Python code, search the internet, send emails, and interact with databases. Fourth, autonomy — the agent initiates actions without asking for permission at every step.
The implication for cybersecurity is profound. An agent with these four properties can, in theory, conduct reconnaissance, identify vulnerabilities, attempt exploitation, and exfiltrate data — all without a human hacker at the keyboard.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presents two reference architectures (Figures 1 and 2).
A single-agent system has one LLM model at its core, surrounded by a planning loop, tool-calling interfaces, short-term memory in the context window, and a long-term vector store for persistent knowledge. Think of it like one very capable employee with access to their own filing cabinet and set of tools.
The multi-agent architecture is more complex and more powerful. A coordinating agent receives the high-level task, decomposes it, and routes sub-tasks to specialized agents — one for reconnaissance, one for analysis, one for report writing. These agents share a short-term memory space and common infrastructure.
The security implications are fundamentally different. In a single-agent system, if the agent is compromised, the damage is limited to what that one agent can do. In a multi-agent system, a single compromised agent that has access to the shared memory layer can influence every other agent in the system. Khan et al. (2024) show that this "emergent collusion" can arise purely from shared state — agents don't need to explicitly coordinate to cause cascading harm.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FF0CB-6EA1-8893-FA18-DD5D50EE28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6F8924-3A32-F097-0CF6-A28A233C01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186CAE-802F-F594-C3D2-1360A969C6A1}"/>
              </a:ext>
            </a:extLst>
          </p:cNvPr>
          <p:cNvSpPr>
            <a:spLocks noGrp="1"/>
          </p:cNvSpPr>
          <p:nvPr>
            <p:ph type="body" idx="1"/>
          </p:nvPr>
        </p:nvSpPr>
        <p:spPr/>
        <p:txBody>
          <a:bodyPr/>
          <a:lstStyle/>
          <a:p>
            <a:r>
              <a:rPr lang="en-US" dirty="0"/>
              <a:t>The survey presents two reference architectures (Figures 1 and 2).
A single-agent system has one LLM model at its core, surrounded by a planning loop, tool-calling interfaces, short-term memory in the context window, and a long-term vector store for persistent knowledge. Think of it like one very capable employee with access to their own filing cabinet and set of tools.
The multi-agent architecture is more complex and more powerful. A coordinating agent receives the high-level task, decomposes it, and routes sub-tasks to specialized agents — one for reconnaissance, one for analysis, one for report writing. These agents share a short-term memory space and common infrastructure.
The security implications are fundamentally different. In a single-agent system, if the agent is compromised, the damage is limited to what that one agent can do. In a multi-agent system, a single compromised agent that has access to the shared memory layer can influence every other agent in the system. Khan et al. (2024) show that this "emergent collusion" can arise purely from shared state — agents don't need to explicitly coordinate to cause cascading harm.</a:t>
            </a:r>
          </a:p>
        </p:txBody>
      </p:sp>
      <p:sp>
        <p:nvSpPr>
          <p:cNvPr id="4" name="Slide Number Placeholder 3">
            <a:extLst>
              <a:ext uri="{FF2B5EF4-FFF2-40B4-BE49-F238E27FC236}">
                <a16:creationId xmlns:a16="http://schemas.microsoft.com/office/drawing/2014/main" id="{A9D1D16A-8BCA-18B2-F9A6-57A718B859A6}"/>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638932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2 of the survey presents a five-level autonomy spectrum adapted from NVIDIA and agent.ai research.
Level 0 is standard generative AI — a prompt goes in, a response comes out. Fully deterministic, no autonomy, minimal risk.
Levels 1 and 2 introduce basic tool use and multi-step reasoning. These are relatively safe and well-understood.
Level 3 is where we enter the danger zone. The agent plans, acts, and reflects with minimal human oversight. It can set its own sub-goals and choose its own tools. This is where most current enterprise deployments sit.
Level 4 is fully agentic. The agent plans, acts, AND learns continuously from its environment. The behavior becomes open-ended and, critically, "hard to audit." You can't simply read the logs to understand why an agent made a decision — because the decision emerged from a dynamic reasoning process that isn't fully transparent.
The paper is explicit: higher autonomy improves capability but increases complexity and security risk. Both offensive agents conducting attacks AND defensive agents responding to them may operate at Level 4 — and the same audit problem applies to both.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5E112-9226-A587-ED17-7BD94B4B5A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B9A812-981F-AE18-3A04-07694A0947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7637B1-89FE-5E79-D131-7BAC60791AE2}"/>
              </a:ext>
            </a:extLst>
          </p:cNvPr>
          <p:cNvSpPr>
            <a:spLocks noGrp="1"/>
          </p:cNvSpPr>
          <p:nvPr>
            <p:ph type="body" idx="1"/>
          </p:nvPr>
        </p:nvSpPr>
        <p:spPr/>
        <p:txBody>
          <a:bodyPr/>
          <a:lstStyle/>
          <a:p>
            <a:r>
              <a:rPr lang="en-US" dirty="0"/>
              <a:t>Table 2 of the survey presents a five-level autonomy spectrum adapted from NVIDIA and agent.ai research.
Level 0 is standard generative AI — a prompt goes in, a response comes out. Fully deterministic, no autonomy, minimal risk.
Levels 1 and 2 introduce basic tool use and multi-step reasoning. These are relatively safe and well-understood.
Level 3 is where we enter the danger zone. The agent plans, acts, and reflects with minimal human oversight. It can set its own sub-goals and choose its own tools. This is where most current enterprise deployments sit.
Level 4 is fully agentic. The agent plans, acts, AND learns continuously from its environment. The behavior becomes open-ended and, critically, "hard to audit." You can't simply read the logs to understand why an agent made a decision — because the decision emerged from a dynamic reasoning process that isn't fully transparent.
The paper is explicit: higher autonomy improves capability but increases complexity and security risk. Both offensive agents conducting attacks AND defensive agents responding to them may operate at Level 4 — and the same audit problem applies to both.</a:t>
            </a:r>
          </a:p>
        </p:txBody>
      </p:sp>
      <p:sp>
        <p:nvSpPr>
          <p:cNvPr id="4" name="Slide Number Placeholder 3">
            <a:extLst>
              <a:ext uri="{FF2B5EF4-FFF2-40B4-BE49-F238E27FC236}">
                <a16:creationId xmlns:a16="http://schemas.microsoft.com/office/drawing/2014/main" id="{3316A814-634D-AA5E-6574-9C7F091B8F9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346629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FB3AC4-119E-4A1A-5347-C826BEA2D0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E7E961-4AB1-FAD4-88E9-50EE688B32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A9071-F747-AC75-69B0-B136CD45D0C6}"/>
              </a:ext>
            </a:extLst>
          </p:cNvPr>
          <p:cNvSpPr>
            <a:spLocks noGrp="1"/>
          </p:cNvSpPr>
          <p:nvPr>
            <p:ph type="body" idx="1"/>
          </p:nvPr>
        </p:nvSpPr>
        <p:spPr/>
        <p:txBody>
          <a:bodyPr/>
          <a:lstStyle/>
          <a:p>
            <a:r>
              <a:rPr lang="en-US" dirty="0"/>
              <a:t>Table 2 of the survey presents a five-level autonomy spectrum adapted from NVIDIA and agent.ai research.
Level 0 is standard generative AI — a prompt goes in, a response comes out. Fully deterministic, no autonomy, minimal risk.
Levels 1 and 2 introduce basic tool use and multi-step reasoning. These are relatively safe and well-understood.
Level 3 is where we enter the danger zone. The agent plans, acts, and reflects with minimal human oversight. It can set its own sub-goals and choose its own tools. This is where most current enterprise deployments sit.
Level 4 is fully agentic. The agent plans, acts, AND learns continuously from its environment. The behavior becomes open-ended and, critically, "hard to audit." You can't simply read the logs to understand why an agent made a decision — because the decision emerged from a dynamic reasoning process that isn't fully transparent.
The paper is explicit: higher autonomy improves capability but increases complexity and security risk. Both offensive agents conducting attacks AND defensive agents responding to them may operate at Level 4 — and the same audit problem applies to both.</a:t>
            </a:r>
          </a:p>
        </p:txBody>
      </p:sp>
      <p:sp>
        <p:nvSpPr>
          <p:cNvPr id="4" name="Slide Number Placeholder 3">
            <a:extLst>
              <a:ext uri="{FF2B5EF4-FFF2-40B4-BE49-F238E27FC236}">
                <a16:creationId xmlns:a16="http://schemas.microsoft.com/office/drawing/2014/main" id="{08F8263C-6A39-F06B-84C7-E6D553258D04}"/>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148484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D12F0-262E-1340-7322-B798ECB65E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BED778-F8B5-8352-46E3-2EF1FE5746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CA6C5-F9D4-AD3D-FDB6-9B4980F836C0}"/>
              </a:ext>
            </a:extLst>
          </p:cNvPr>
          <p:cNvSpPr>
            <a:spLocks noGrp="1"/>
          </p:cNvSpPr>
          <p:nvPr>
            <p:ph type="body" idx="1"/>
          </p:nvPr>
        </p:nvSpPr>
        <p:spPr/>
        <p:txBody>
          <a:bodyPr/>
          <a:lstStyle/>
          <a:p>
            <a:r>
              <a:rPr lang="en-US" dirty="0"/>
              <a:t>Table 2 of the survey presents a five-level autonomy spectrum adapted from NVIDIA and agent.ai research.
Level 0 is standard generative AI — a prompt goes in, a response comes out. Fully deterministic, no autonomy, minimal risk.
Levels 1 and 2 introduce basic tool use and multi-step reasoning. These are relatively safe and well-understood.
Level 3 is where we enter the danger zone. The agent plans, acts, and reflects with minimal human oversight. It can set its own sub-goals and choose its own tools. This is where most current enterprise deployments sit.
Level 4 is fully agentic. The agent plans, acts, AND learns continuously from its environment. The behavior becomes open-ended and, critically, "hard to audit." You can't simply read the logs to understand why an agent made a decision — because the decision emerged from a dynamic reasoning process that isn't fully transparent.
The paper is explicit: higher autonomy improves capability but increases complexity and security risk. Both offensive agents conducting attacks AND defensive agents responding to them may operate at Level 4 — and the same audit problem applies to both.</a:t>
            </a:r>
          </a:p>
        </p:txBody>
      </p:sp>
      <p:sp>
        <p:nvSpPr>
          <p:cNvPr id="4" name="Slide Number Placeholder 3">
            <a:extLst>
              <a:ext uri="{FF2B5EF4-FFF2-40B4-BE49-F238E27FC236}">
                <a16:creationId xmlns:a16="http://schemas.microsoft.com/office/drawing/2014/main" id="{F2ACB0E3-1898-10E9-0F20-FA81B46AD5D5}"/>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6089611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A4B90-D6FE-0E0C-1A76-160724DC3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DC6DEF-467E-B7F1-206D-FCA0600BB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8F841C-7670-34C5-8DEC-9D288D382242}"/>
              </a:ext>
            </a:extLst>
          </p:cNvPr>
          <p:cNvSpPr>
            <a:spLocks noGrp="1"/>
          </p:cNvSpPr>
          <p:nvPr>
            <p:ph type="body" idx="1"/>
          </p:nvPr>
        </p:nvSpPr>
        <p:spPr/>
        <p:txBody>
          <a:bodyPr/>
          <a:lstStyle/>
          <a:p>
            <a:r>
              <a:rPr lang="en-US" dirty="0"/>
              <a:t>Table 2 of the survey presents a five-level autonomy spectrum adapted from NVIDIA and agent.ai research.
Level 0 is standard generative AI — a prompt goes in, a response comes out. Fully deterministic, no autonomy, minimal risk.
Levels 1 and 2 introduce basic tool use and multi-step reasoning. These are relatively safe and well-understood.
Level 3 is where we enter the danger zone. The agent plans, acts, and reflects with minimal human oversight. It can set its own sub-goals and choose its own tools. This is where most current enterprise deployments sit.
Level 4 is fully agentic. The agent plans, acts, AND learns continuously from its environment. The behavior becomes open-ended and, critically, "hard to audit." You can't simply read the logs to understand why an agent made a decision — because the decision emerged from a dynamic reasoning process that isn't fully transparent.
The paper is explicit: higher autonomy improves capability but increases complexity and security risk. Both offensive agents conducting attacks AND defensive agents responding to them may operate at Level 4 — and the same audit problem applies to both.</a:t>
            </a:r>
          </a:p>
        </p:txBody>
      </p:sp>
      <p:sp>
        <p:nvSpPr>
          <p:cNvPr id="4" name="Slide Number Placeholder 3">
            <a:extLst>
              <a:ext uri="{FF2B5EF4-FFF2-40B4-BE49-F238E27FC236}">
                <a16:creationId xmlns:a16="http://schemas.microsoft.com/office/drawing/2014/main" id="{3CA2BD5F-63F2-2724-1D83-F1F4F18A6326}"/>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6756748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4.1.1 of the survey describes how agentic AI transforms the monitoring function in security operations.
Classical monitoring is inherently passive. It fires when a pre-written rule matches a known pattern. It cannot adapt when attackers change their behavior, and it cannot correlate signals across different data sources without explicit coding.
Agentic monitoring is fundamentally more active. Instead of waiting for a rule to match, the agent retains context across a stream of events. If it sees a failed login on server A, it can choose to go look at what processes were running on server A at that time, and what data movements occurred from server A in the preceding hour. This kind of multi-hop investigation is exactly what human SOC analysts do — and agents can do it 24 hours a day, at machine speed.
The Argos system is highlighted as a practical implementation: it uses LLMs to generate human-readable detection rules for time-series data, improving auditability.
But here is the critical warning the survey gives us: a misaligned or compromised agent with high privileges doesn't just fail to detect threats — it can become the threat. Multiple policy analyses (SANS, Varonis, Exabeam) are cited warning that agentic monitoring systems can behave as insider threats if not properly constrained.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4.1.2 covers autonomous incident response — this is the SOC of the near future.
The fundamental shift is from a workflow where a human analyst triages an alert, investigates it, decides on a response, and manually executes containment — a process that can take hours — to a workflow where an agent pipeline does triage, investigation, and initial containment in seconds, with a human reviewing and approving high-impact actions.
IBM's ATOM platform is the most mature enterprise example cited. It distributes incident response across specialized agents for investigation, threat hunting, identity management, and vulnerability analysis.
CyberGuardian2 is cited as an example of bounded deployment — it can execute low-risk actions autonomously but remains a decision support system for high-risk actions. This is the design philosophy the survey endorses: bounded autonomy.
The key finding from Knack and Burke is critical: autonomous systems should NEVER be granted unrestricted autonomy over irreversible actions. Credential revocation, firewall rule changes, system shutdowns — these need a human in the loop. Not because agents can't reason about them, but because the consequences of getting them wrong are too severe to risk.</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8.2 presents the authors' own SOC triage prototype — one of three implementations in the paper.
The setup is simple: 6 synthetic alerts with known ground-truth labels. One system uses deterministic rule-based heuristics. The other uses a local LLM — Mistral, running via the Ollama framework — augmented with asset criticality and threat intelligence.
The results are striking. The baseline achieves perfect precision (no false positives) but misses 25% of true threats — a recall of 0.75. In a real SOC, that means one in four genuine attacks goes uninvestigated.
The LLM agent achieves perfect precision AND perfect recall — F1 of 1.0. And it reduces simulated MTTR from 7.5 minutes to 6.0 minutes.
The agent correctly identified a known malicious hash on a critical HR endpoint that the baseline missed. And it correctly did NOT escalate a suspicious user-agent from an internal CI system, correctly inferring it was benign.
Critically: all 12 agent decisions passed through a read-only policy enforcement gate before execution. The authors are very clear that this governance layer is not optional. An agent with perfect accuracy but unrestricted write access is still a security liability.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4.2.2 covers adversarial and attack simulation — and this is where the survey gets very technically interesting.
Traditional penetration testing tools follow a script. They're great when everything goes according to plan, but the moment they encounter an unexpected server response, a non-standard authentication challenge, or a protected file path, they stop and wait for a human to intervene. This brittleness limits their effectiveness against well-defended targets.
RedTeamLLM, published in 2025 by Challita and Parrend, represents the state of the art in agentic penetration testing. It uses recursive planning — meaning if plan A fails, the agent analyzes why it failed and generates plan B. It uses memory to retain what it has already tried and what the target environment looks like. The result is dramatically better task completion on the VulnHub benchmark compared to PenTestGPT, its non-recursive predecessor.
Importantly, RedTeamLLM includes safety controls: command filtering, isolation, audit logs, and a kill switch. This reflects responsible design for a dual-use tool — but the paper also acknowledges that commercial tools like XBOW and RunSybile operate with less transparency.
CTF platforms like the OWASP FinBot CTF and CSAW's agentic CTF provide safe, bounded testbeds. They're great for research, but the survey notes that they simplify targets and may not expose the full range of failure modes seen in real deployments.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5.2 is one of the most alarming sections of the entire survey.
Traditional ransomware requires a human attacker to manually sequence each stage of the attack. Reconnaissance might take days. Moving laterally through a network — carefully, to avoid detection — takes more days. The entire process from initial access to ransom demand typically spans 9 days or more.
Palo Alto Networks Unit 42, in a 2025 report, demonstrated that an agentic AI system can complete the entire ransomware lifecycle in approximately 25 minutes. Let that sink in. A process that used to take a team of skilled attackers nine days can now be fully automated in the time of a coffee break.
Here's the technical detail that the survey highlights: this acceleration is not because attackers wrote more efficient malware. The payload is the same. What changed is the orchestration layer. Halcyon describes this as the "ransomware variant" concept — when the agent tries to escalate privileges and it fails, it doesn't stop. It replans. It tries a different approach. This adaptation happens at the orchestration layer, not in the exploit code.
The Anthropic misuse report adds another dimension: LLMs are being used post-compromise to interpret stolen data, identify which victims are worth prioritizing for extortion, and draft psychologically effective ransom demands. The humans retain high-level control, but the work is increasingly automated.
The defender implication is clear: you cannot wait for data to leave the network to detect an agentic ransomware attack. You need to detect and interrupt the agent's planning loop during the reconnaissance or lateral movement phase.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5.3 covers social engineering — and this is the area where agentic AI most directly threatens everyday users, not just corporate security teams.
ScamAgents is a 2025 research paper that demonstrates autonomous agents conducting multi-turn phone scam calls. The agent adapts to whatever the victim says. If the victim expresses skepticism, the agent changes tactics. If the victim asks a technical question, the agent answers it. The fraud pipeline — from initial contact to payment extraction — is fully automated.
What makes this particularly concerning is that the agents successfully evade LLM safety guardrails. These are the same content filters that prevent you and me from asking ChatGPT to help us scam people. Multi-agent architectures can be structured to decompose the harmful task across agents in a way that no single agent ever sees the full harmful intent.
Heiding et al. (2024) ran live studies against real human subjects and found that automated spear-phishing agents perform as well as skilled human attackers at convincing people to click malicious links.
Voice-enabled agents and AR-adapted agents add another dimension: these systems can interact through audio and video, not just text. A scam call that dynamically adapts its script to the victim's emotional state, accent, and specific situation is far more convincing than a static robocall.
The detection problem is fundamental: traditional content moderation looks at single messages or single prompts. These attacks unfold across many turns in a conversation. You need to detect intent drift — the gradual steering of a conversation toward a harmful outcome — across an entire session. That's an unsolved problem.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5.1 covers what the survey calls "insider threats and autonomous exploits" — but it's really about the dual-use nature of every agentic capability.
HexStrike-AI is a real example from 2025: a platform built for legitimate security researchers to discover vulnerabilities in their own systems. Threat actors repurposed it to scan thousands of IP addresses in parallel, automatically identifying exposed systems and vulnerabilities. The tool didn't change. Its authorization context changed.
This illustrates a fundamental principle: in the agentic AI world, the distinction between a defensive tool and an offensive tool is increasingly thin. Any agent with read access to network topology and the ability to probe systems is a reconnaissance agent. Whether it's used for defense or offense depends entirely on who controls it.
Unit 42's testing of CrewAI and AutoGen frameworks in 2025 found that the frameworks themselves have structural weaknesses. Prompt injection, unsafe tool use, SQL injection through agent-generated queries, and communication poisoning between agents can all lead to data exfiltration, credential theft, and remote code execution — even in frameworks designed for enterprise use.
The key finding: many of these vulnerabilities stem from weak input validation and insecure integrations in the agentic frameworks, NOT from flaws in the underlying language models. This shifts the security focus from "is the AI safe?" to "is the framework the AI runs in safe?"
The defender takeaway is to apply least-privilege principles to agents as rigorously as you apply them to human users. An agent that needs to monitor network traffic should not also have the ability to write to configuration files.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4 of the survey provides the complete taxonomy of agentic AI-enabled cyber attacks — let me walk through each row.
Ransomware: fully automated lifecycle from compromise to exfiltration. The agentic capability that enables it is multi-agent orchestration and real-time replanning. Key references are Unit 42 and Halcyon.
Insider Threats: not traditional human insiders, but compromised or misdirected agents operating under valid credentials. They persist for extended periods and perform actions that appear legitimate — record modification, data exfiltration, payload execution. TechMonitor and Anthropic's own misuse report document this.
Social Engineering and Fraud: voice scams, deepfake phishing, and synthetic identity fraud. The key agentic capabilities are goal decomposition — breaking a complex fraud task into sub-steps — adaptive dialogue management that adjusts to victim responses, and multimodal synthesis that combines text, voice, and image. ScamAgents, Visa, and Fang et al. are the key references.
Reconnaissance and Exploitation: autonomous scanning, adaptive malware, and real-time reconnaissance at scale. Self-improving exploitation strategies that learn from failed attempts and try new approaches. Kshetri and Unit 42 document this.
This taxonomy shows that agentic AI doesn't create completely new attack categories — ransomware and social engineering existed before. What it does is radically increase the scale, speed, and adaptability of every existing attack category.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4.1.3 and 8.1 cover adaptive red-blue simulation — which is arguably the most exciting and dangerous application of agentic AI in cybersecurity research.
The game-theoretic framing is elegant: cyber conflict is a repeated game. Each round, the attacker takes an action and the defender responds. In traditional security exercises, these roles are played by humans — expensive, slow, and limited in the number of scenarios they can rehearse.
With agentic AI, you can run this game continuously, at machine speed, generating an enormous diversity of attack and defense scenarios.
The prototype in Section 8.1 demonstrates this with a simple two-round simulation using Mistral. The user provides only a system configuration file — open ports, service versions, known vulnerabilities — and a high-level role instruction for each agent. Neither agent is pre-programmed with specific attack techniques or defensive playbooks.
In Round 1, the red agent independently identifies the Apache 2.4.49 RCE vulnerability and proposes exploiting it. The blue agent responds with patching, IDS deployment, and firewall rules.
In Round 2, without any additional user input, both agents adapt. The red agent escalates to a zero-day exploit, adds polymorphic malware to evade the IDS the blue agent just deployed, and uses pass-the-hash to move laterally. The blue agent escalates to advanced threat protection, network segmentation, and user behavior analytics.
This adaptive loop is exactly how real cyber conflict evolves. The danger identified by the survey is escalation compression — when agents can adapt their strategies in seconds rather than hours, decision timelines collapse, and the risk of cascading failures increases dramatically.</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4.4 covers simulation and training environments — the infrastructure that makes large-scale red-blue simulation practical.
ARCeR is a multi-agent retrieval-augmented pipeline that generates entire cyber training environments from a natural language description. You describe the scenario — "a medium-sized enterprise with an exposed web server, legacy database, and privileged workstations" — and the agents handle documentation retrieval, configuration generation, compatibility validation, and deployment orchestration.
This is significant because it removes the bottleneck of expert human configuration. A security instructor who previously needed weeks to set up a training scenario can now generate it in hours.
Cyberwheel takes a different approach: it's a high-fidelity training environment that combines simulation and emulation under a common configuration model. Agents are trained in simulation — which is fast and cheap — and then their policies are tested in virtualized environments that use the same topology definitions. This supports controlled sim-to-real transfer, which is one of the hardest problems in autonomous cyber defense research.
Both systems share a critical limitation: they validate structural correctness but not scenario realism. A generated cyber range might have perfectly configured firewall rules and correctly deployed services, but if the attack scenarios it presents don't reflect how real modern attackers operate, agents trained on it won't transfer to real-world defense.
The open research problem is fundamental: how do you measure whether a synthetic training environment teaches agents skills that transfer to the real world?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6.1 presents the four-layer risk model from Wong and Saade — this is the most comprehensive conceptual framework in the survey for understanding where agentic AI systems can fail.
The perception layer is where data enters the agent — from users, from APIs, from the environment. Threats here include data poisoning (training data or retrieval data has been corrupted), adversarial inputs designed to confuse the agent's perception of its environment, and supply chain attacks where a third-party data source has been compromised.
The reasoning layer is where the LLM thinks. This is where prompt injection attacks operate — injecting malicious instructions into data the agent processes, hoping those instructions will override the agent's original goals. Backdoors can be embedded in the model itself, causing it to behave maliciously when it sees certain trigger inputs. Reasoning trace hijacking — demonstrated by UDora (Zhang et al., 2025) — can redirect multi-step planning mid-execution toward malicious goals.
The action layer is where the agent affects the real world — calling APIs, executing code, writing to files. Threats include API misuse, unsafe tool invocation, and unauthorized code execution. The key defense is sandboxing — confining what the agent can actually do, regardless of what it's trying to do.
The memory layer is where the agent stores state across sessions. Memory poisoning attacks corrupt the agent's long-term knowledge so that it makes systematically wrong decisions in the future — even after the original attack vector is closed.
The critical insight from this model: failures propagate across layers. An adversarial input at the perception layer can cause reasoning errors, which lead to unsafe actions, which corrupt memory. You cannot address any single layer in isolation.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6.3 covers prompt injection and unsafe tool invocation — currently the most actively exploited class of agentic AI vulnerability.
The traditional definition of prompt injection involves inserting malicious text into a user prompt. But in agentic systems, the attack surface is far larger. When an agent browses a web page, reads an email attachment, queries a database, or receives an API response, all of that content can contain injected instructions. And because the agent trusts these data sources to provide information, it may execute those instructions as if they were legitimate.
The real danger in multi-agent systems is cascading. A compromised agent that calls a tool generates output. That output is processed by another agent. If the injection is crafted cleverly, it can propagate through the entire agent pipeline before anyone notices.
SAGA — a security architecture for governing agentic AI — identifies insecure mediation between agents and tools as the primary enabler of cascading compromise.
Table 6 of the survey maps four mitigation classes and their residual gaps. Input sanitization works for simple cases but fails against semantic injections — where the malicious instruction is conveyed through meaning rather than text pattern. Scoped credentials limit blast radius but don't prevent an agent from being steered toward actions that are technically within its permissions but aren't what was intended. Runtime monitoring detects things after they've happened. Intent-bound delegation, like Agentic JWT, is the most promising approach — cryptographically binding actions to authenticated intent — but it doesn't fully solve the problem of compromised context.
The open research problem is how to compose these controls so that the full pipeline — from user intent through multi-agent execution to tool calls — remains bound to the original authorized purpose.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6.4 and 6.7 cover the risks that are most unique to multi-agent agentic systems — the threats that simply don't exist in single-model or single-agent architectures.
Emergent collusion is the key concept. Khan et al. demonstrate that in a multi-agent system where agents share memory, databases, and execution privileges, a single compromised agent can repeatedly trigger harmful actions across the entire system — without any explicit coordination logic. The agents aren't conspiring. The collusion emerges from shared state. This is deeply unsettling because it means traditional behavioral monitoring, which looks for anomalous individual agent actions, will miss the threat.
Steganographic collusion takes this further. Motwani et al. show that agents can exchange hidden signals through messages that appear completely benign on the surface. Surface-level policy monitoring cannot detect it. This is reminiscent of human covert communication through seemingly innocent messages — except agents can do it at machine speed, with perfect consistency.
Memory poisoning attacks are particularly insidious because they have long time horizons. If an attacker can corrupt an agent's long-term memory — its stored knowledge about the world, about users, about system configurations — that corruption influences every decision the agent makes in the future. Even after the original attack vector is patched, the poisoned knowledge persists.
Action hijacking, demonstrated by Lupinacci et al. in 2025, shows that reasoning traces can be silently modified mid-execution to produce completely different agent behavior — including complete computer takeover — without the agent generating any obvious error signals.
The "multi-agent security tax" is the sobering empirical finding from Peigne-Lefebvre et al.: stronger security controls in multi-agent systems measurably reduce their ability to collaborate effectively. There is a real, quantified tradeoff between security and capability. There is no free lunch.</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8 of the survey presents three original prototype implementations — not just theoretical analysis, but actual working systems built to demonstrate feasibility.
All three prototypes use Mistral, a relatively lightweight open-source language model, running locally via the Ollama framework. This choice is deliberate: the authors wanted to show that agentic cybersecurity capabilities don't require massive cloud-scale compute. Local, private deployment is viable.
Prototype 8.1, the Adaptive Red-Blue Simulation, is the most conceptually interesting. The human operator provides only a system configuration file and a high-level role instruction. Neither agent receives specific attack techniques or defensive playbooks. Everything else — including the round-2 adaptation — is generated autonomously.
Prototype 8.2, the SOC Triage Agent, produces the most concrete quantitative results. The LLM agent achieves perfect precision and recall on the test set, improving on the baseline's missed detections (recall 0.75) while reducing MTTR. All actions pass through a read-only policy gate before execution.
Prototype 8.3, the Anomaly/IDS Agent, demonstrates how combining statistical detection (z-score, Isolation Forest) with LLM reasoning and a RAG corpus of known patterns improves both accuracy and explainability. The agent's AUROC improvement from 0.87 to 0.93 comes from its ability to distinguish benign periodic traffic from malicious volumetric spikes — something statistical methods struggle with.
The shared design principle across all three is essential: a read-only policy enforcement gate and a full audit log. Autonomy is bounded by governance, not removed. This is the authors' central practical recommendation.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9 lays out the open research agenda. Let me highlight the two directions I think are most consequential.
Transparency of internal execution is the problem that underlies almost every other challenge. If we can't observe what an agent is actually reasoning about — what plans it's considering, what tools it's deciding to call, why it made a particular decision — then we cannot audit it, detect when it's been compromised, or hold anyone accountable for its failures. Structured execution traces that are useful for auditing without being useful for attackers is a genuinely hard research problem.
Unified evaluation benchmarks is the problem that prevents the entire field from making systematic progress. Right now, every paper uses a different benchmark, a different evaluation methodology, and a different threat model. You cannot compare the results of RedTeamLLM with XBOW with CyberGuardian2 because they're measured differently. Without standardized benchmarks, we don't know whether we're making progress or just finding new ways to do the same things.
The other directions — secure multi-agent coordination, memory integrity, formal planning guarantees — are all important, but they're more tractable. They're hard engineering problems. Transparency and benchmarking are harder because they require the field to agree on what we're measuring and why.
Governance is framed not as an add-on but as a first-class design requirement. The survey's consistent message is that the question is not whether agentic AI will be deployed in cybersecurity — it already is. The question is whether governance mechanisms will be designed in from the beginning or retrofitted painfully afterward.</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close with the five things I want you to take away from this presentation.
One: greater autonomy brings greater capability AND greater risk. The same Level 4 autonomous agent that can conduct continuous threat hunting can also conduct continuous reconnaissance. The same memory system that helps a defender retain investigative context helps an attacker persist undetected. There is no version of this technology that is purely defensive.
Two: security failures in agentic systems arise from system-level interactions — not from the AI model being "wrong" in isolation. A perfectly accurate model embedded in an insecure framework, with excessive tool privileges and no audit logging, is still a security liability. The framework matters as much as the model.
Three: agentic AI has already compressed attacker timelines from days to minutes. Nine-day ransomware kill chains are now 25-minute autonomous workflows. This means the entire concept of incident response needs to be redesigned around interrupting agents during their planning and reconnaissance phases — not cleaning up after exfiltration.
Four: bounded autonomy is the only viable design pattern we currently have. Agents need to be able to act, but irreversible actions — credential revocation, system shutdowns, data deletion — need human approval. Policy gates and audit logs are not optional features. They're the difference between a useful tool and a liability.
Five: defense and offense are the same capabilities. This is the fundamental insight of the survey. Every capability that makes an agent useful for defense — memory, tool use, planning, persistence — makes it useful for offense. The dual-use nature of agentic AI is not a problem to be solved. It's the defining challenge of this era.
Thank you.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548640" y="1005840"/>
            <a:ext cx="8229600" cy="1005840"/>
          </a:xfrm>
          <a:prstGeom prst="rect">
            <a:avLst/>
          </a:prstGeom>
          <a:noFill/>
          <a:ln/>
        </p:spPr>
        <p:txBody>
          <a:bodyPr wrap="square"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AGENTIC AI</a:t>
            </a:r>
            <a:endParaRPr lang="en-US" sz="5200" dirty="0"/>
          </a:p>
        </p:txBody>
      </p:sp>
      <p:sp>
        <p:nvSpPr>
          <p:cNvPr id="3" name="Text 1"/>
          <p:cNvSpPr/>
          <p:nvPr/>
        </p:nvSpPr>
        <p:spPr>
          <a:xfrm>
            <a:off x="548640" y="1874520"/>
            <a:ext cx="8229600" cy="731520"/>
          </a:xfrm>
          <a:prstGeom prst="rect">
            <a:avLst/>
          </a:prstGeom>
          <a:noFill/>
          <a:ln/>
        </p:spPr>
        <p:txBody>
          <a:bodyPr wrap="square" rtlCol="0" anchor="ctr"/>
          <a:lstStyle/>
          <a:p>
            <a:pPr marL="0" indent="0">
              <a:buNone/>
            </a:pPr>
            <a:r>
              <a:rPr lang="en-US" sz="3600" dirty="0">
                <a:solidFill>
                  <a:srgbClr val="AABBD4"/>
                </a:solidFill>
                <a:latin typeface="Calibri" pitchFamily="34" charset="0"/>
                <a:ea typeface="Calibri" pitchFamily="34" charset="-122"/>
                <a:cs typeface="Calibri" pitchFamily="34" charset="-120"/>
              </a:rPr>
              <a:t>&amp; CYBERSECURITY</a:t>
            </a:r>
            <a:endParaRPr lang="en-US" sz="3600" dirty="0"/>
          </a:p>
        </p:txBody>
      </p:sp>
      <p:sp>
        <p:nvSpPr>
          <p:cNvPr id="4" name="Shape 2"/>
          <p:cNvSpPr/>
          <p:nvPr/>
        </p:nvSpPr>
        <p:spPr>
          <a:xfrm>
            <a:off x="548640" y="2743200"/>
            <a:ext cx="1280160" cy="16459"/>
          </a:xfrm>
          <a:prstGeom prst="rect">
            <a:avLst/>
          </a:prstGeom>
          <a:solidFill>
            <a:srgbClr val="FFFFFF"/>
          </a:solidFill>
          <a:ln w="12700">
            <a:solidFill>
              <a:srgbClr val="FFFFFF"/>
            </a:solidFill>
            <a:prstDash val="solid"/>
          </a:ln>
        </p:spPr>
      </p:sp>
      <p:sp>
        <p:nvSpPr>
          <p:cNvPr id="5" name="Text 3"/>
          <p:cNvSpPr/>
          <p:nvPr/>
        </p:nvSpPr>
        <p:spPr>
          <a:xfrm>
            <a:off x="548640" y="2880360"/>
            <a:ext cx="7772400" cy="365760"/>
          </a:xfrm>
          <a:prstGeom prst="rect">
            <a:avLst/>
          </a:prstGeom>
          <a:noFill/>
          <a:ln/>
        </p:spPr>
        <p:txBody>
          <a:bodyPr wrap="square" rtlCol="0" anchor="ctr"/>
          <a:lstStyle/>
          <a:p>
            <a:pPr marL="0" indent="0">
              <a:buNone/>
            </a:pPr>
            <a:r>
              <a:rPr lang="en-US" sz="1400" i="1" dirty="0">
                <a:solidFill>
                  <a:srgbClr val="BBCCDD"/>
                </a:solidFill>
                <a:latin typeface="Calibri" pitchFamily="34" charset="0"/>
                <a:ea typeface="Calibri" pitchFamily="34" charset="-122"/>
                <a:cs typeface="Calibri" pitchFamily="34" charset="-120"/>
              </a:rPr>
              <a:t>Challenges, Opportunities and Use-case Prototypes</a:t>
            </a:r>
            <a:endParaRPr lang="en-US" sz="1400" dirty="0"/>
          </a:p>
        </p:txBody>
      </p:sp>
      <p:sp>
        <p:nvSpPr>
          <p:cNvPr id="6" name="Text 4"/>
          <p:cNvSpPr/>
          <p:nvPr/>
        </p:nvSpPr>
        <p:spPr>
          <a:xfrm>
            <a:off x="548640" y="3337560"/>
            <a:ext cx="7772400" cy="320040"/>
          </a:xfrm>
          <a:prstGeom prst="rect">
            <a:avLst/>
          </a:prstGeom>
          <a:noFill/>
          <a:ln/>
        </p:spPr>
        <p:txBody>
          <a:bodyPr wrap="square" rtlCol="0" anchor="ctr"/>
          <a:lstStyle/>
          <a:p>
            <a:pPr marL="0" indent="0">
              <a:buNone/>
            </a:pPr>
            <a:r>
              <a:rPr lang="en-US" sz="1100" dirty="0">
                <a:solidFill>
                  <a:srgbClr val="889BAA"/>
                </a:solidFill>
                <a:latin typeface="Calibri" pitchFamily="34" charset="0"/>
                <a:ea typeface="Calibri" pitchFamily="34" charset="-122"/>
                <a:cs typeface="Calibri" pitchFamily="34" charset="-120"/>
              </a:rPr>
              <a:t>By: BSH</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548640" y="1554480"/>
            <a:ext cx="7772400" cy="457200"/>
          </a:xfrm>
          <a:prstGeom prst="rect">
            <a:avLst/>
          </a:prstGeom>
          <a:noFill/>
          <a:ln/>
        </p:spPr>
        <p:txBody>
          <a:bodyPr wrap="square"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PART 1</a:t>
            </a:r>
            <a:endParaRPr lang="en-US" sz="1300" dirty="0"/>
          </a:p>
        </p:txBody>
      </p:sp>
      <p:sp>
        <p:nvSpPr>
          <p:cNvPr id="3" name="Text 1"/>
          <p:cNvSpPr/>
          <p:nvPr/>
        </p:nvSpPr>
        <p:spPr>
          <a:xfrm>
            <a:off x="548640" y="1965960"/>
            <a:ext cx="77724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Introduction and abstract</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introduction · SLIDE 1/3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19" y="658368"/>
            <a:ext cx="45719" cy="3223519"/>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r>
              <a:rPr lang="en-US" sz="2600" b="1" dirty="0">
                <a:solidFill>
                  <a:srgbClr val="111111"/>
                </a:solidFill>
                <a:latin typeface="Calibri" pitchFamily="34" charset="0"/>
                <a:ea typeface="Calibri" pitchFamily="34" charset="-122"/>
                <a:cs typeface="Calibri" pitchFamily="34" charset="-120"/>
              </a:rPr>
              <a:t>Ai evolution</a:t>
            </a:r>
            <a:endParaRPr lang="en-US" sz="2600" dirty="0"/>
          </a:p>
        </p:txBody>
      </p:sp>
      <p:sp>
        <p:nvSpPr>
          <p:cNvPr id="7" name="Text 5"/>
          <p:cNvSpPr/>
          <p:nvPr/>
        </p:nvSpPr>
        <p:spPr>
          <a:xfrm>
            <a:off x="685800" y="817881"/>
            <a:ext cx="7772400" cy="3017520"/>
          </a:xfrm>
          <a:prstGeom prst="rect">
            <a:avLst/>
          </a:prstGeom>
          <a:noFill/>
          <a:ln/>
        </p:spPr>
        <p:txBody>
          <a:bodyPr wrap="square" rtlCol="0" anchor="ctr"/>
          <a:lstStyle/>
          <a:p>
            <a:pPr marL="342900" indent="-342900">
              <a:spcAft>
                <a:spcPts val="1000"/>
              </a:spcAft>
              <a:buSzPct val="100000"/>
              <a:buChar char="•"/>
            </a:pPr>
            <a:r>
              <a:rPr lang="en-US" sz="1300" dirty="0"/>
              <a:t>Ai evolved from single-step generative models to systems capable of reasoning, planning, acting, and autonomous workflows in real-world environments</a:t>
            </a:r>
          </a:p>
          <a:p>
            <a:pPr marL="342900" indent="-342900">
              <a:spcAft>
                <a:spcPts val="1000"/>
              </a:spcAft>
              <a:buSzPct val="100000"/>
              <a:buChar char="•"/>
            </a:pPr>
            <a:r>
              <a:rPr lang="en-US" sz="1300" dirty="0"/>
              <a:t>This survey examines the implications of agentic AI for cybersecurity</a:t>
            </a:r>
          </a:p>
          <a:p>
            <a:pPr marL="342900" indent="-342900">
              <a:spcAft>
                <a:spcPts val="1000"/>
              </a:spcAft>
              <a:buSzPct val="100000"/>
              <a:buChar char="•"/>
            </a:pPr>
            <a:r>
              <a:rPr lang="en-US" sz="1300" dirty="0"/>
              <a:t>Implication of agentic AI for cybersecurity make a dual-use dilemma </a:t>
            </a:r>
          </a:p>
          <a:p>
            <a:pPr marL="342900" indent="-342900">
              <a:spcAft>
                <a:spcPts val="1000"/>
              </a:spcAft>
              <a:buSzPct val="100000"/>
              <a:buChar char="•"/>
            </a:pPr>
            <a:r>
              <a:rPr lang="en-US" sz="1300" dirty="0"/>
              <a:t>To address these challenges, we survey emerging threat models, security frameworks, and evaluation pipelines tailored to agentic systems, and analyze systemic risk including agent collusion, cascading failures, oversight evasion, and </a:t>
            </a:r>
            <a:r>
              <a:rPr lang="en-US" sz="1300"/>
              <a:t>memory poisoning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FOUNDATIONS · SLIDE 2/3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Architectures: Single → Multi-Agent</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How agents are structured in practice (Figures 1 &amp; 2 of the survey)</a:t>
            </a:r>
            <a:endParaRPr lang="en-US" sz="1400" dirty="0"/>
          </a:p>
        </p:txBody>
      </p:sp>
      <p:sp>
        <p:nvSpPr>
          <p:cNvPr id="7" name="Text 5"/>
          <p:cNvSpPr/>
          <p:nvPr/>
        </p:nvSpPr>
        <p:spPr>
          <a:xfrm>
            <a:off x="502920" y="1664208"/>
            <a:ext cx="3749040" cy="347472"/>
          </a:xfrm>
          <a:prstGeom prst="rect">
            <a:avLst/>
          </a:prstGeom>
          <a:noFill/>
          <a:ln/>
        </p:spPr>
        <p:txBody>
          <a:bodyPr wrap="square" rtlCol="0" anchor="ctr"/>
          <a:lstStyle/>
          <a:p>
            <a:pPr marL="0" indent="0">
              <a:buNone/>
            </a:pPr>
            <a:r>
              <a:rPr lang="en-US" sz="1100" b="1" kern="0" spc="200" dirty="0">
                <a:solidFill>
                  <a:srgbClr val="1A1A2E"/>
                </a:solidFill>
                <a:latin typeface="Calibri" pitchFamily="34" charset="0"/>
                <a:ea typeface="Calibri" pitchFamily="34" charset="-122"/>
                <a:cs typeface="Calibri" pitchFamily="34" charset="-120"/>
              </a:rPr>
              <a:t>SINGLE-AGENT</a:t>
            </a:r>
            <a:endParaRPr lang="en-US" sz="1100" dirty="0"/>
          </a:p>
        </p:txBody>
      </p:sp>
      <p:sp>
        <p:nvSpPr>
          <p:cNvPr id="8" name="Shape 6"/>
          <p:cNvSpPr/>
          <p:nvPr/>
        </p:nvSpPr>
        <p:spPr>
          <a:xfrm>
            <a:off x="502920" y="2011680"/>
            <a:ext cx="3749040" cy="16459"/>
          </a:xfrm>
          <a:prstGeom prst="rect">
            <a:avLst/>
          </a:prstGeom>
          <a:solidFill>
            <a:srgbClr val="1A1A2E"/>
          </a:solidFill>
          <a:ln w="12700">
            <a:solidFill>
              <a:srgbClr val="1A1A2E"/>
            </a:solidFill>
            <a:prstDash val="solid"/>
          </a:ln>
        </p:spPr>
      </p:sp>
      <p:sp>
        <p:nvSpPr>
          <p:cNvPr id="9" name="Text 7"/>
          <p:cNvSpPr/>
          <p:nvPr/>
        </p:nvSpPr>
        <p:spPr>
          <a:xfrm>
            <a:off x="502920" y="2084832"/>
            <a:ext cx="374904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One LLM model + planning loop + tool calls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Short-term memory for context continuity</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Long-term vector store (RAG) for knowledge</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External APIs, code execution, file I/O</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Risk: single point of failure; blast radius limited to one agent's credentials</a:t>
            </a:r>
            <a:endParaRPr lang="en-US" sz="1300" dirty="0"/>
          </a:p>
        </p:txBody>
      </p:sp>
      <p:sp>
        <p:nvSpPr>
          <p:cNvPr id="10" name="Text 8"/>
          <p:cNvSpPr/>
          <p:nvPr/>
        </p:nvSpPr>
        <p:spPr>
          <a:xfrm>
            <a:off x="4846320" y="1664208"/>
            <a:ext cx="3840480" cy="347472"/>
          </a:xfrm>
          <a:prstGeom prst="rect">
            <a:avLst/>
          </a:prstGeom>
          <a:noFill/>
          <a:ln/>
        </p:spPr>
        <p:txBody>
          <a:bodyPr wrap="square" rtlCol="0" anchor="ctr"/>
          <a:lstStyle/>
          <a:p>
            <a:pPr marL="0" indent="0">
              <a:buNone/>
            </a:pPr>
            <a:r>
              <a:rPr lang="en-US" sz="1100" b="1" kern="0" spc="200" dirty="0">
                <a:solidFill>
                  <a:srgbClr val="C0392B"/>
                </a:solidFill>
                <a:latin typeface="Calibri" pitchFamily="34" charset="0"/>
                <a:ea typeface="Calibri" pitchFamily="34" charset="-122"/>
                <a:cs typeface="Calibri" pitchFamily="34" charset="-120"/>
              </a:rPr>
              <a:t>MULTI-AGENT</a:t>
            </a:r>
            <a:endParaRPr lang="en-US" sz="1100" dirty="0"/>
          </a:p>
        </p:txBody>
      </p:sp>
      <p:sp>
        <p:nvSpPr>
          <p:cNvPr id="11" name="Shape 9"/>
          <p:cNvSpPr/>
          <p:nvPr/>
        </p:nvSpPr>
        <p:spPr>
          <a:xfrm>
            <a:off x="4846320" y="2011680"/>
            <a:ext cx="3840480" cy="16459"/>
          </a:xfrm>
          <a:prstGeom prst="rect">
            <a:avLst/>
          </a:prstGeom>
          <a:solidFill>
            <a:srgbClr val="C0392B"/>
          </a:solidFill>
          <a:ln w="12700">
            <a:solidFill>
              <a:srgbClr val="C0392B"/>
            </a:solidFill>
            <a:prstDash val="solid"/>
          </a:ln>
        </p:spPr>
      </p:sp>
      <p:sp>
        <p:nvSpPr>
          <p:cNvPr id="12" name="Text 10"/>
          <p:cNvSpPr/>
          <p:nvPr/>
        </p:nvSpPr>
        <p:spPr>
          <a:xfrm>
            <a:off x="4846320" y="2084832"/>
            <a:ext cx="384048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Coordinating agent routes subtasks to specialized sub-agents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Task agents share short-term memory + infrastructure</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Enables parallel reasoning and scalable problem-solving</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Risk: shared memory = shared attack surface; compromised coordinator = game over</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Emergent collusion possible without explicit coordination logic (Khan et al.)</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63A534DD-E0DA-3868-86B1-16D091F51E7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432545-974B-7508-FCB3-50D267D5197E}"/>
              </a:ext>
            </a:extLst>
          </p:cNvPr>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FOUNDATIONS · SLIDE 2/3</a:t>
            </a:r>
            <a:endParaRPr lang="en-US" sz="900" dirty="0"/>
          </a:p>
        </p:txBody>
      </p:sp>
      <p:sp>
        <p:nvSpPr>
          <p:cNvPr id="3" name="Shape 1">
            <a:extLst>
              <a:ext uri="{FF2B5EF4-FFF2-40B4-BE49-F238E27FC236}">
                <a16:creationId xmlns:a16="http://schemas.microsoft.com/office/drawing/2014/main" id="{10932D3A-CF02-7A41-9C4C-78FBA03A6297}"/>
              </a:ext>
            </a:extLst>
          </p:cNvPr>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a:extLst>
              <a:ext uri="{FF2B5EF4-FFF2-40B4-BE49-F238E27FC236}">
                <a16:creationId xmlns:a16="http://schemas.microsoft.com/office/drawing/2014/main" id="{8ECE066B-CBEB-B177-2972-28819766F764}"/>
              </a:ext>
            </a:extLst>
          </p:cNvPr>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a:extLst>
              <a:ext uri="{FF2B5EF4-FFF2-40B4-BE49-F238E27FC236}">
                <a16:creationId xmlns:a16="http://schemas.microsoft.com/office/drawing/2014/main" id="{1CF4B977-30C1-B004-6CA2-F7D62C8DC9B8}"/>
              </a:ext>
            </a:extLst>
          </p:cNvPr>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Architectures: Single → Multi-Agent</a:t>
            </a:r>
            <a:endParaRPr lang="en-US" sz="2600" dirty="0"/>
          </a:p>
        </p:txBody>
      </p:sp>
      <p:sp>
        <p:nvSpPr>
          <p:cNvPr id="6" name="Text 4">
            <a:extLst>
              <a:ext uri="{FF2B5EF4-FFF2-40B4-BE49-F238E27FC236}">
                <a16:creationId xmlns:a16="http://schemas.microsoft.com/office/drawing/2014/main" id="{41191A8C-C69B-CC88-DCB2-9383F627866C}"/>
              </a:ext>
            </a:extLst>
          </p:cNvPr>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How agents are structured in practice (Figures 1 &amp; 2 of the survey)</a:t>
            </a:r>
            <a:endParaRPr lang="en-US" sz="1400" dirty="0"/>
          </a:p>
        </p:txBody>
      </p:sp>
      <p:sp>
        <p:nvSpPr>
          <p:cNvPr id="7" name="Text 5">
            <a:extLst>
              <a:ext uri="{FF2B5EF4-FFF2-40B4-BE49-F238E27FC236}">
                <a16:creationId xmlns:a16="http://schemas.microsoft.com/office/drawing/2014/main" id="{C713C3B8-1A28-90AC-5734-82EE712F2A0F}"/>
              </a:ext>
            </a:extLst>
          </p:cNvPr>
          <p:cNvSpPr/>
          <p:nvPr/>
        </p:nvSpPr>
        <p:spPr>
          <a:xfrm>
            <a:off x="502920" y="1664208"/>
            <a:ext cx="3749040" cy="347472"/>
          </a:xfrm>
          <a:prstGeom prst="rect">
            <a:avLst/>
          </a:prstGeom>
          <a:noFill/>
          <a:ln/>
        </p:spPr>
        <p:txBody>
          <a:bodyPr wrap="square" rtlCol="0" anchor="ctr"/>
          <a:lstStyle/>
          <a:p>
            <a:pPr marL="0" indent="0">
              <a:buNone/>
            </a:pPr>
            <a:r>
              <a:rPr lang="en-US" sz="1100" b="1" kern="0" spc="200" dirty="0">
                <a:solidFill>
                  <a:srgbClr val="1A1A2E"/>
                </a:solidFill>
                <a:latin typeface="Calibri" pitchFamily="34" charset="0"/>
                <a:ea typeface="Calibri" pitchFamily="34" charset="-122"/>
                <a:cs typeface="Calibri" pitchFamily="34" charset="-120"/>
              </a:rPr>
              <a:t>SINGLE-AGENT</a:t>
            </a:r>
            <a:endParaRPr lang="en-US" sz="1100" dirty="0"/>
          </a:p>
        </p:txBody>
      </p:sp>
      <p:sp>
        <p:nvSpPr>
          <p:cNvPr id="8" name="Shape 6">
            <a:extLst>
              <a:ext uri="{FF2B5EF4-FFF2-40B4-BE49-F238E27FC236}">
                <a16:creationId xmlns:a16="http://schemas.microsoft.com/office/drawing/2014/main" id="{29967511-F09A-88CD-5B16-9951DAD300FD}"/>
              </a:ext>
            </a:extLst>
          </p:cNvPr>
          <p:cNvSpPr/>
          <p:nvPr/>
        </p:nvSpPr>
        <p:spPr>
          <a:xfrm>
            <a:off x="502920" y="2011680"/>
            <a:ext cx="3749040" cy="16459"/>
          </a:xfrm>
          <a:prstGeom prst="rect">
            <a:avLst/>
          </a:prstGeom>
          <a:solidFill>
            <a:srgbClr val="1A1A2E"/>
          </a:solidFill>
          <a:ln w="12700">
            <a:solidFill>
              <a:srgbClr val="1A1A2E"/>
            </a:solidFill>
            <a:prstDash val="solid"/>
          </a:ln>
        </p:spPr>
      </p:sp>
      <p:sp>
        <p:nvSpPr>
          <p:cNvPr id="9" name="Text 7">
            <a:extLst>
              <a:ext uri="{FF2B5EF4-FFF2-40B4-BE49-F238E27FC236}">
                <a16:creationId xmlns:a16="http://schemas.microsoft.com/office/drawing/2014/main" id="{1D7722A6-64FB-941F-58F2-E97358BFC1EC}"/>
              </a:ext>
            </a:extLst>
          </p:cNvPr>
          <p:cNvSpPr/>
          <p:nvPr/>
        </p:nvSpPr>
        <p:spPr>
          <a:xfrm>
            <a:off x="502920" y="2084832"/>
            <a:ext cx="374904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One LLM model + planning loop + tool calls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Short-term memory for context continuity</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Long-term vector store (RAG) for knowledge</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External APIs, code execution, file I/O</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Risk: single point of failure; blast radius limited to one agent's credentials</a:t>
            </a:r>
            <a:endParaRPr lang="en-US" sz="1300" dirty="0"/>
          </a:p>
        </p:txBody>
      </p:sp>
      <p:sp>
        <p:nvSpPr>
          <p:cNvPr id="10" name="Text 8">
            <a:extLst>
              <a:ext uri="{FF2B5EF4-FFF2-40B4-BE49-F238E27FC236}">
                <a16:creationId xmlns:a16="http://schemas.microsoft.com/office/drawing/2014/main" id="{2392AF9C-EA8C-AFFC-1676-950C0B0711FC}"/>
              </a:ext>
            </a:extLst>
          </p:cNvPr>
          <p:cNvSpPr/>
          <p:nvPr/>
        </p:nvSpPr>
        <p:spPr>
          <a:xfrm>
            <a:off x="4846320" y="1664208"/>
            <a:ext cx="3840480" cy="347472"/>
          </a:xfrm>
          <a:prstGeom prst="rect">
            <a:avLst/>
          </a:prstGeom>
          <a:noFill/>
          <a:ln/>
        </p:spPr>
        <p:txBody>
          <a:bodyPr wrap="square" rtlCol="0" anchor="ctr"/>
          <a:lstStyle/>
          <a:p>
            <a:pPr marL="0" indent="0">
              <a:buNone/>
            </a:pPr>
            <a:r>
              <a:rPr lang="en-US" sz="1100" b="1" kern="0" spc="200" dirty="0">
                <a:solidFill>
                  <a:srgbClr val="C0392B"/>
                </a:solidFill>
                <a:latin typeface="Calibri" pitchFamily="34" charset="0"/>
                <a:ea typeface="Calibri" pitchFamily="34" charset="-122"/>
                <a:cs typeface="Calibri" pitchFamily="34" charset="-120"/>
              </a:rPr>
              <a:t>MULTI-AGENT</a:t>
            </a:r>
            <a:endParaRPr lang="en-US" sz="1100" dirty="0"/>
          </a:p>
        </p:txBody>
      </p:sp>
      <p:sp>
        <p:nvSpPr>
          <p:cNvPr id="11" name="Shape 9">
            <a:extLst>
              <a:ext uri="{FF2B5EF4-FFF2-40B4-BE49-F238E27FC236}">
                <a16:creationId xmlns:a16="http://schemas.microsoft.com/office/drawing/2014/main" id="{2FD6BF45-6E9F-52EC-9A4D-610B8798942A}"/>
              </a:ext>
            </a:extLst>
          </p:cNvPr>
          <p:cNvSpPr/>
          <p:nvPr/>
        </p:nvSpPr>
        <p:spPr>
          <a:xfrm>
            <a:off x="4846320" y="2011680"/>
            <a:ext cx="3840480" cy="16459"/>
          </a:xfrm>
          <a:prstGeom prst="rect">
            <a:avLst/>
          </a:prstGeom>
          <a:solidFill>
            <a:srgbClr val="C0392B"/>
          </a:solidFill>
          <a:ln w="12700">
            <a:solidFill>
              <a:srgbClr val="C0392B"/>
            </a:solidFill>
            <a:prstDash val="solid"/>
          </a:ln>
        </p:spPr>
      </p:sp>
      <p:sp>
        <p:nvSpPr>
          <p:cNvPr id="12" name="Text 10">
            <a:extLst>
              <a:ext uri="{FF2B5EF4-FFF2-40B4-BE49-F238E27FC236}">
                <a16:creationId xmlns:a16="http://schemas.microsoft.com/office/drawing/2014/main" id="{D3E2E639-61D8-8491-A1F0-8A7EBA73D8BD}"/>
              </a:ext>
            </a:extLst>
          </p:cNvPr>
          <p:cNvSpPr/>
          <p:nvPr/>
        </p:nvSpPr>
        <p:spPr>
          <a:xfrm>
            <a:off x="4846320" y="2084832"/>
            <a:ext cx="384048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Coordinating agent routes subtasks to specialized sub-agents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Task agents share short-term memory + infrastructure</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Enables parallel reasoning and scalable problem-solving</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Risk: shared memory = shared attack surface; compromised coordinator = game over</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Emergent collusion possible without explicit coordination logic (Khan et al.)</a:t>
            </a:r>
            <a:endParaRPr lang="en-US" sz="1300" dirty="0"/>
          </a:p>
        </p:txBody>
      </p:sp>
    </p:spTree>
    <p:extLst>
      <p:ext uri="{BB962C8B-B14F-4D97-AF65-F5344CB8AC3E}">
        <p14:creationId xmlns:p14="http://schemas.microsoft.com/office/powerpoint/2010/main" val="3379464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FOUNDATIONS · SLIDE 3/3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19" y="658368"/>
            <a:ext cx="45719" cy="3918204"/>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The Autonomy Spectrum</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Table 2 — Five levels of AI independence</a:t>
            </a:r>
            <a:endParaRPr lang="en-US" sz="1400" dirty="0"/>
          </a:p>
        </p:txBody>
      </p:sp>
      <p:sp>
        <p:nvSpPr>
          <p:cNvPr id="7" name="Text 5"/>
          <p:cNvSpPr/>
          <p:nvPr/>
        </p:nvSpPr>
        <p:spPr>
          <a:xfrm>
            <a:off x="502920" y="1664208"/>
            <a:ext cx="3200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LVL</a:t>
            </a:r>
            <a:endParaRPr lang="en-US" sz="1000" dirty="0"/>
          </a:p>
        </p:txBody>
      </p:sp>
      <p:sp>
        <p:nvSpPr>
          <p:cNvPr id="8" name="Text 6"/>
          <p:cNvSpPr/>
          <p:nvPr/>
        </p:nvSpPr>
        <p:spPr>
          <a:xfrm>
            <a:off x="868680" y="1664208"/>
            <a:ext cx="109728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Name</a:t>
            </a:r>
            <a:endParaRPr lang="en-US" sz="1000" dirty="0"/>
          </a:p>
        </p:txBody>
      </p:sp>
      <p:sp>
        <p:nvSpPr>
          <p:cNvPr id="9" name="Text 7"/>
          <p:cNvSpPr/>
          <p:nvPr/>
        </p:nvSpPr>
        <p:spPr>
          <a:xfrm>
            <a:off x="2011680" y="1664208"/>
            <a:ext cx="278892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10" name="Text 8"/>
          <p:cNvSpPr/>
          <p:nvPr/>
        </p:nvSpPr>
        <p:spPr>
          <a:xfrm>
            <a:off x="4846320" y="1664208"/>
            <a:ext cx="205740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Capability</a:t>
            </a:r>
            <a:endParaRPr lang="en-US" sz="1000" dirty="0"/>
          </a:p>
        </p:txBody>
      </p:sp>
      <p:sp>
        <p:nvSpPr>
          <p:cNvPr id="11" name="Text 9"/>
          <p:cNvSpPr/>
          <p:nvPr/>
        </p:nvSpPr>
        <p:spPr>
          <a:xfrm>
            <a:off x="6949440" y="1664208"/>
            <a:ext cx="114300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Risk</a:t>
            </a:r>
            <a:endParaRPr lang="en-US" sz="1000" dirty="0"/>
          </a:p>
        </p:txBody>
      </p:sp>
      <p:sp>
        <p:nvSpPr>
          <p:cNvPr id="12" name="Shape 10"/>
          <p:cNvSpPr/>
          <p:nvPr/>
        </p:nvSpPr>
        <p:spPr>
          <a:xfrm>
            <a:off x="502920" y="1664208"/>
            <a:ext cx="8138160" cy="320040"/>
          </a:xfrm>
          <a:prstGeom prst="rect">
            <a:avLst/>
          </a:prstGeom>
          <a:solidFill>
            <a:srgbClr val="1A1A2E"/>
          </a:solidFill>
          <a:ln w="12700">
            <a:solidFill>
              <a:srgbClr val="1A1A2E"/>
            </a:solidFill>
            <a:prstDash val="solid"/>
          </a:ln>
        </p:spPr>
      </p:sp>
      <p:sp>
        <p:nvSpPr>
          <p:cNvPr id="13" name="Text 11"/>
          <p:cNvSpPr/>
          <p:nvPr/>
        </p:nvSpPr>
        <p:spPr>
          <a:xfrm>
            <a:off x="502920" y="1682496"/>
            <a:ext cx="32004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LVL</a:t>
            </a:r>
            <a:endParaRPr lang="en-US" sz="1000" dirty="0"/>
          </a:p>
        </p:txBody>
      </p:sp>
      <p:sp>
        <p:nvSpPr>
          <p:cNvPr id="14" name="Text 12"/>
          <p:cNvSpPr/>
          <p:nvPr/>
        </p:nvSpPr>
        <p:spPr>
          <a:xfrm>
            <a:off x="868680" y="1682496"/>
            <a:ext cx="109728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Name</a:t>
            </a:r>
            <a:endParaRPr lang="en-US" sz="1000" dirty="0"/>
          </a:p>
        </p:txBody>
      </p:sp>
      <p:sp>
        <p:nvSpPr>
          <p:cNvPr id="15" name="Text 13"/>
          <p:cNvSpPr/>
          <p:nvPr/>
        </p:nvSpPr>
        <p:spPr>
          <a:xfrm>
            <a:off x="2011680" y="1682496"/>
            <a:ext cx="278892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Description</a:t>
            </a:r>
            <a:endParaRPr lang="en-US" sz="1000" dirty="0"/>
          </a:p>
        </p:txBody>
      </p:sp>
      <p:sp>
        <p:nvSpPr>
          <p:cNvPr id="16" name="Text 14"/>
          <p:cNvSpPr/>
          <p:nvPr/>
        </p:nvSpPr>
        <p:spPr>
          <a:xfrm>
            <a:off x="4846320" y="1682496"/>
            <a:ext cx="205740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Capability</a:t>
            </a:r>
            <a:endParaRPr lang="en-US" sz="1000" dirty="0"/>
          </a:p>
        </p:txBody>
      </p:sp>
      <p:sp>
        <p:nvSpPr>
          <p:cNvPr id="17" name="Text 15"/>
          <p:cNvSpPr/>
          <p:nvPr/>
        </p:nvSpPr>
        <p:spPr>
          <a:xfrm>
            <a:off x="6949440" y="1682496"/>
            <a:ext cx="1143000" cy="274320"/>
          </a:xfrm>
          <a:prstGeom prst="rect">
            <a:avLst/>
          </a:prstGeom>
          <a:noFill/>
          <a:ln/>
        </p:spPr>
        <p:txBody>
          <a:bodyPr wrap="square" rtlCol="0" anchor="ctr"/>
          <a:lstStyle/>
          <a:p>
            <a:pPr marL="0" indent="0" algn="l">
              <a:buNone/>
            </a:pPr>
            <a:r>
              <a:rPr lang="en-US" sz="1000" b="1" dirty="0">
                <a:solidFill>
                  <a:srgbClr val="FFFFFF"/>
                </a:solidFill>
                <a:latin typeface="Calibri" pitchFamily="34" charset="0"/>
                <a:ea typeface="Calibri" pitchFamily="34" charset="-122"/>
                <a:cs typeface="Calibri" pitchFamily="34" charset="-120"/>
              </a:rPr>
              <a:t>Risk</a:t>
            </a:r>
            <a:endParaRPr lang="en-US" sz="1000" dirty="0"/>
          </a:p>
        </p:txBody>
      </p:sp>
      <p:sp>
        <p:nvSpPr>
          <p:cNvPr id="18" name="Shape 16"/>
          <p:cNvSpPr/>
          <p:nvPr/>
        </p:nvSpPr>
        <p:spPr>
          <a:xfrm>
            <a:off x="594360" y="2029968"/>
            <a:ext cx="8046720" cy="475488"/>
          </a:xfrm>
          <a:prstGeom prst="rect">
            <a:avLst/>
          </a:prstGeom>
          <a:solidFill>
            <a:srgbClr val="F2F2F2"/>
          </a:solidFill>
          <a:ln w="12700">
            <a:solidFill>
              <a:srgbClr val="DDDDDD"/>
            </a:solidFill>
            <a:prstDash val="solid"/>
          </a:ln>
        </p:spPr>
      </p:sp>
      <p:sp>
        <p:nvSpPr>
          <p:cNvPr id="19" name="Text 17"/>
          <p:cNvSpPr/>
          <p:nvPr/>
        </p:nvSpPr>
        <p:spPr>
          <a:xfrm>
            <a:off x="521208" y="2093976"/>
            <a:ext cx="320040" cy="347472"/>
          </a:xfrm>
          <a:prstGeom prst="rect">
            <a:avLst/>
          </a:prstGeom>
          <a:noFill/>
          <a:ln/>
        </p:spPr>
        <p:txBody>
          <a:bodyPr wrap="square" rtlCol="0" anchor="ctr"/>
          <a:lstStyle/>
          <a:p>
            <a:pPr marL="0" indent="0" algn="ctr">
              <a:buNone/>
            </a:pPr>
            <a:r>
              <a:rPr lang="en-US" sz="1200" b="1" dirty="0">
                <a:solidFill>
                  <a:srgbClr val="AAAAAA"/>
                </a:solidFill>
                <a:latin typeface="Calibri" pitchFamily="34" charset="0"/>
                <a:ea typeface="Calibri" pitchFamily="34" charset="-122"/>
                <a:cs typeface="Calibri" pitchFamily="34" charset="-120"/>
              </a:rPr>
              <a:t>L0</a:t>
            </a:r>
            <a:endParaRPr lang="en-US" sz="1200" dirty="0"/>
          </a:p>
        </p:txBody>
      </p:sp>
      <p:sp>
        <p:nvSpPr>
          <p:cNvPr id="20" name="Text 18"/>
          <p:cNvSpPr/>
          <p:nvPr/>
        </p:nvSpPr>
        <p:spPr>
          <a:xfrm>
            <a:off x="886968" y="2093976"/>
            <a:ext cx="1097280" cy="347472"/>
          </a:xfrm>
          <a:prstGeom prst="rect">
            <a:avLst/>
          </a:prstGeom>
          <a:noFill/>
          <a:ln/>
        </p:spPr>
        <p:txBody>
          <a:bodyPr wrap="square" rtlCol="0" anchor="ctr"/>
          <a:lstStyle/>
          <a:p>
            <a:pPr marL="0" indent="0">
              <a:buNone/>
            </a:pPr>
            <a:r>
              <a:rPr lang="en-US" sz="1100" dirty="0">
                <a:solidFill>
                  <a:srgbClr val="AAAAAA"/>
                </a:solidFill>
                <a:latin typeface="Calibri" pitchFamily="34" charset="0"/>
                <a:ea typeface="Calibri" pitchFamily="34" charset="-122"/>
                <a:cs typeface="Calibri" pitchFamily="34" charset="-120"/>
              </a:rPr>
              <a:t>Static Inference</a:t>
            </a:r>
            <a:endParaRPr lang="en-US" sz="1100" dirty="0"/>
          </a:p>
        </p:txBody>
      </p:sp>
      <p:sp>
        <p:nvSpPr>
          <p:cNvPr id="21" name="Text 19"/>
          <p:cNvSpPr/>
          <p:nvPr/>
        </p:nvSpPr>
        <p:spPr>
          <a:xfrm>
            <a:off x="2029968" y="2093976"/>
            <a:ext cx="2743200" cy="347472"/>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Single request-response; no autonomy</a:t>
            </a:r>
            <a:endParaRPr lang="en-US" sz="1050" dirty="0"/>
          </a:p>
        </p:txBody>
      </p:sp>
      <p:sp>
        <p:nvSpPr>
          <p:cNvPr id="22" name="Text 20"/>
          <p:cNvSpPr/>
          <p:nvPr/>
        </p:nvSpPr>
        <p:spPr>
          <a:xfrm>
            <a:off x="4846320" y="2093976"/>
            <a:ext cx="2057400" cy="347472"/>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Deterministic output</a:t>
            </a:r>
            <a:endParaRPr lang="en-US" sz="1050" dirty="0"/>
          </a:p>
        </p:txBody>
      </p:sp>
      <p:sp>
        <p:nvSpPr>
          <p:cNvPr id="23" name="Text 21"/>
          <p:cNvSpPr/>
          <p:nvPr/>
        </p:nvSpPr>
        <p:spPr>
          <a:xfrm>
            <a:off x="6949440" y="2093976"/>
            <a:ext cx="1645920" cy="34747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Minimal</a:t>
            </a:r>
            <a:endParaRPr lang="en-US" sz="1100" dirty="0"/>
          </a:p>
        </p:txBody>
      </p:sp>
      <p:sp>
        <p:nvSpPr>
          <p:cNvPr id="24" name="Shape 22"/>
          <p:cNvSpPr/>
          <p:nvPr/>
        </p:nvSpPr>
        <p:spPr>
          <a:xfrm>
            <a:off x="594360" y="2551176"/>
            <a:ext cx="8046720" cy="475488"/>
          </a:xfrm>
          <a:prstGeom prst="rect">
            <a:avLst/>
          </a:prstGeom>
          <a:solidFill>
            <a:srgbClr val="FFFFFF"/>
          </a:solidFill>
          <a:ln w="12700">
            <a:solidFill>
              <a:srgbClr val="DDDDDD"/>
            </a:solidFill>
            <a:prstDash val="solid"/>
          </a:ln>
        </p:spPr>
      </p:sp>
      <p:sp>
        <p:nvSpPr>
          <p:cNvPr id="25" name="Text 23"/>
          <p:cNvSpPr/>
          <p:nvPr/>
        </p:nvSpPr>
        <p:spPr>
          <a:xfrm>
            <a:off x="521208" y="2615184"/>
            <a:ext cx="320040" cy="347472"/>
          </a:xfrm>
          <a:prstGeom prst="rect">
            <a:avLst/>
          </a:prstGeom>
          <a:noFill/>
          <a:ln/>
        </p:spPr>
        <p:txBody>
          <a:bodyPr wrap="square" rtlCol="0" anchor="ctr"/>
          <a:lstStyle/>
          <a:p>
            <a:pPr marL="0" indent="0" algn="ctr">
              <a:buNone/>
            </a:pPr>
            <a:r>
              <a:rPr lang="en-US" sz="1200" b="1" dirty="0">
                <a:solidFill>
                  <a:srgbClr val="888888"/>
                </a:solidFill>
                <a:latin typeface="Calibri" pitchFamily="34" charset="0"/>
                <a:ea typeface="Calibri" pitchFamily="34" charset="-122"/>
                <a:cs typeface="Calibri" pitchFamily="34" charset="-120"/>
              </a:rPr>
              <a:t>L1</a:t>
            </a:r>
            <a:endParaRPr lang="en-US" sz="1200" dirty="0"/>
          </a:p>
        </p:txBody>
      </p:sp>
      <p:sp>
        <p:nvSpPr>
          <p:cNvPr id="26" name="Text 24"/>
          <p:cNvSpPr/>
          <p:nvPr/>
        </p:nvSpPr>
        <p:spPr>
          <a:xfrm>
            <a:off x="886968" y="2615184"/>
            <a:ext cx="1097280" cy="347472"/>
          </a:xfrm>
          <a:prstGeom prst="rect">
            <a:avLst/>
          </a:prstGeom>
          <a:noFill/>
          <a:ln/>
        </p:spPr>
        <p:txBody>
          <a:bodyPr wrap="square" rtlCol="0" anchor="ctr"/>
          <a:lstStyle/>
          <a:p>
            <a:pPr marL="0" indent="0">
              <a:buNone/>
            </a:pPr>
            <a:r>
              <a:rPr lang="en-US" sz="1100" dirty="0">
                <a:solidFill>
                  <a:srgbClr val="888888"/>
                </a:solidFill>
                <a:latin typeface="Calibri" pitchFamily="34" charset="0"/>
                <a:ea typeface="Calibri" pitchFamily="34" charset="-122"/>
                <a:cs typeface="Calibri" pitchFamily="34" charset="-120"/>
              </a:rPr>
              <a:t>Assistive</a:t>
            </a:r>
            <a:endParaRPr lang="en-US" sz="1100" dirty="0"/>
          </a:p>
        </p:txBody>
      </p:sp>
      <p:sp>
        <p:nvSpPr>
          <p:cNvPr id="27" name="Text 25"/>
          <p:cNvSpPr/>
          <p:nvPr/>
        </p:nvSpPr>
        <p:spPr>
          <a:xfrm>
            <a:off x="2029968" y="2615184"/>
            <a:ext cx="2743200" cy="347472"/>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Follows explicit user instructions step by step</a:t>
            </a:r>
            <a:endParaRPr lang="en-US" sz="1050" dirty="0"/>
          </a:p>
        </p:txBody>
      </p:sp>
      <p:sp>
        <p:nvSpPr>
          <p:cNvPr id="28" name="Text 26"/>
          <p:cNvSpPr/>
          <p:nvPr/>
        </p:nvSpPr>
        <p:spPr>
          <a:xfrm>
            <a:off x="4846320" y="2615184"/>
            <a:ext cx="2057400" cy="347472"/>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Single-step reasoning (GenAI)</a:t>
            </a:r>
            <a:endParaRPr lang="en-US" sz="1050" dirty="0"/>
          </a:p>
        </p:txBody>
      </p:sp>
      <p:sp>
        <p:nvSpPr>
          <p:cNvPr id="29" name="Text 27"/>
          <p:cNvSpPr/>
          <p:nvPr/>
        </p:nvSpPr>
        <p:spPr>
          <a:xfrm>
            <a:off x="6949440" y="2615184"/>
            <a:ext cx="1645920" cy="34747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Low</a:t>
            </a:r>
            <a:endParaRPr lang="en-US" sz="1100" dirty="0"/>
          </a:p>
        </p:txBody>
      </p:sp>
      <p:sp>
        <p:nvSpPr>
          <p:cNvPr id="30" name="Shape 28"/>
          <p:cNvSpPr/>
          <p:nvPr/>
        </p:nvSpPr>
        <p:spPr>
          <a:xfrm>
            <a:off x="594360" y="3072384"/>
            <a:ext cx="8046720" cy="475488"/>
          </a:xfrm>
          <a:prstGeom prst="rect">
            <a:avLst/>
          </a:prstGeom>
          <a:solidFill>
            <a:srgbClr val="F2F2F2"/>
          </a:solidFill>
          <a:ln w="12700">
            <a:solidFill>
              <a:srgbClr val="DDDDDD"/>
            </a:solidFill>
            <a:prstDash val="solid"/>
          </a:ln>
        </p:spPr>
      </p:sp>
      <p:sp>
        <p:nvSpPr>
          <p:cNvPr id="31" name="Text 29"/>
          <p:cNvSpPr/>
          <p:nvPr/>
        </p:nvSpPr>
        <p:spPr>
          <a:xfrm>
            <a:off x="521208" y="3136392"/>
            <a:ext cx="320040" cy="347472"/>
          </a:xfrm>
          <a:prstGeom prst="rect">
            <a:avLst/>
          </a:prstGeom>
          <a:noFill/>
          <a:ln/>
        </p:spPr>
        <p:txBody>
          <a:bodyPr wrap="square" rtlCol="0" anchor="ctr"/>
          <a:lstStyle/>
          <a:p>
            <a:pPr marL="0" indent="0" algn="ctr">
              <a:buNone/>
            </a:pPr>
            <a:r>
              <a:rPr lang="en-US" sz="1200" b="1" dirty="0">
                <a:solidFill>
                  <a:srgbClr val="555555"/>
                </a:solidFill>
                <a:latin typeface="Calibri" pitchFamily="34" charset="0"/>
                <a:ea typeface="Calibri" pitchFamily="34" charset="-122"/>
                <a:cs typeface="Calibri" pitchFamily="34" charset="-120"/>
              </a:rPr>
              <a:t>L2</a:t>
            </a:r>
            <a:endParaRPr lang="en-US" sz="1200" dirty="0"/>
          </a:p>
        </p:txBody>
      </p:sp>
      <p:sp>
        <p:nvSpPr>
          <p:cNvPr id="32" name="Text 30"/>
          <p:cNvSpPr/>
          <p:nvPr/>
        </p:nvSpPr>
        <p:spPr>
          <a:xfrm>
            <a:off x="886968" y="3136392"/>
            <a:ext cx="1097280" cy="347472"/>
          </a:xfrm>
          <a:prstGeom prst="rect">
            <a:avLst/>
          </a:prstGeom>
          <a:noFill/>
          <a:ln/>
        </p:spPr>
        <p:txBody>
          <a:bodyPr wrap="square" rtlCol="0" anchor="ctr"/>
          <a:lstStyle/>
          <a:p>
            <a:pPr marL="0" indent="0">
              <a:buNone/>
            </a:pPr>
            <a:r>
              <a:rPr lang="en-US" sz="1100" dirty="0">
                <a:solidFill>
                  <a:srgbClr val="555555"/>
                </a:solidFill>
                <a:latin typeface="Calibri" pitchFamily="34" charset="0"/>
                <a:ea typeface="Calibri" pitchFamily="34" charset="-122"/>
                <a:cs typeface="Calibri" pitchFamily="34" charset="-120"/>
              </a:rPr>
              <a:t>Tool-Assisted</a:t>
            </a:r>
            <a:endParaRPr lang="en-US" sz="1100" dirty="0"/>
          </a:p>
        </p:txBody>
      </p:sp>
      <p:sp>
        <p:nvSpPr>
          <p:cNvPr id="33" name="Text 31"/>
          <p:cNvSpPr/>
          <p:nvPr/>
        </p:nvSpPr>
        <p:spPr>
          <a:xfrm>
            <a:off x="2029968" y="3136392"/>
            <a:ext cx="2743200" cy="347472"/>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Uses tools/APIs with preset logic</a:t>
            </a:r>
            <a:endParaRPr lang="en-US" sz="1050" dirty="0"/>
          </a:p>
        </p:txBody>
      </p:sp>
      <p:sp>
        <p:nvSpPr>
          <p:cNvPr id="34" name="Text 32"/>
          <p:cNvSpPr/>
          <p:nvPr/>
        </p:nvSpPr>
        <p:spPr>
          <a:xfrm>
            <a:off x="4846320" y="3136392"/>
            <a:ext cx="2057400" cy="347472"/>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Multi-step workflows (RAG)</a:t>
            </a:r>
            <a:endParaRPr lang="en-US" sz="1050" dirty="0"/>
          </a:p>
        </p:txBody>
      </p:sp>
      <p:sp>
        <p:nvSpPr>
          <p:cNvPr id="35" name="Text 33"/>
          <p:cNvSpPr/>
          <p:nvPr/>
        </p:nvSpPr>
        <p:spPr>
          <a:xfrm>
            <a:off x="6949440" y="3136392"/>
            <a:ext cx="1645920" cy="347472"/>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Moderate</a:t>
            </a:r>
            <a:endParaRPr lang="en-US" sz="1100" dirty="0"/>
          </a:p>
        </p:txBody>
      </p:sp>
      <p:sp>
        <p:nvSpPr>
          <p:cNvPr id="36" name="Shape 34"/>
          <p:cNvSpPr/>
          <p:nvPr/>
        </p:nvSpPr>
        <p:spPr>
          <a:xfrm>
            <a:off x="594360" y="3593592"/>
            <a:ext cx="8046720" cy="475488"/>
          </a:xfrm>
          <a:prstGeom prst="rect">
            <a:avLst/>
          </a:prstGeom>
          <a:solidFill>
            <a:srgbClr val="FFFFFF"/>
          </a:solidFill>
          <a:ln w="12700">
            <a:solidFill>
              <a:srgbClr val="DDDDDD"/>
            </a:solidFill>
            <a:prstDash val="solid"/>
          </a:ln>
        </p:spPr>
      </p:sp>
      <p:sp>
        <p:nvSpPr>
          <p:cNvPr id="37" name="Text 35"/>
          <p:cNvSpPr/>
          <p:nvPr/>
        </p:nvSpPr>
        <p:spPr>
          <a:xfrm>
            <a:off x="521208" y="3657600"/>
            <a:ext cx="320040" cy="347472"/>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L3</a:t>
            </a:r>
            <a:endParaRPr lang="en-US" sz="1200" dirty="0"/>
          </a:p>
        </p:txBody>
      </p:sp>
      <p:sp>
        <p:nvSpPr>
          <p:cNvPr id="38" name="Text 36"/>
          <p:cNvSpPr/>
          <p:nvPr/>
        </p:nvSpPr>
        <p:spPr>
          <a:xfrm>
            <a:off x="886968" y="3657600"/>
            <a:ext cx="1097280" cy="347472"/>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Adaptive / Semi-Agentic</a:t>
            </a:r>
            <a:endParaRPr lang="en-US" sz="1100" dirty="0"/>
          </a:p>
        </p:txBody>
      </p:sp>
      <p:sp>
        <p:nvSpPr>
          <p:cNvPr id="39" name="Text 37"/>
          <p:cNvSpPr/>
          <p:nvPr/>
        </p:nvSpPr>
        <p:spPr>
          <a:xfrm>
            <a:off x="2029968" y="3657600"/>
            <a:ext cx="2743200" cy="347472"/>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Plans, acts, reflects with little oversight</a:t>
            </a:r>
            <a:endParaRPr lang="en-US" sz="1050" dirty="0"/>
          </a:p>
        </p:txBody>
      </p:sp>
      <p:sp>
        <p:nvSpPr>
          <p:cNvPr id="40" name="Text 38"/>
          <p:cNvSpPr/>
          <p:nvPr/>
        </p:nvSpPr>
        <p:spPr>
          <a:xfrm>
            <a:off x="4846320" y="3657600"/>
            <a:ext cx="2057400" cy="347472"/>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Goal-driven execution</a:t>
            </a:r>
            <a:endParaRPr lang="en-US" sz="1050" dirty="0"/>
          </a:p>
        </p:txBody>
      </p:sp>
      <p:sp>
        <p:nvSpPr>
          <p:cNvPr id="41" name="Text 39"/>
          <p:cNvSpPr/>
          <p:nvPr/>
        </p:nvSpPr>
        <p:spPr>
          <a:xfrm>
            <a:off x="6949440" y="3657600"/>
            <a:ext cx="1645920" cy="347472"/>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High</a:t>
            </a:r>
            <a:endParaRPr lang="en-US" sz="1100" dirty="0"/>
          </a:p>
        </p:txBody>
      </p:sp>
      <p:sp>
        <p:nvSpPr>
          <p:cNvPr id="42" name="Shape 40"/>
          <p:cNvSpPr/>
          <p:nvPr/>
        </p:nvSpPr>
        <p:spPr>
          <a:xfrm>
            <a:off x="594360" y="4114800"/>
            <a:ext cx="8046720" cy="475488"/>
          </a:xfrm>
          <a:prstGeom prst="rect">
            <a:avLst/>
          </a:prstGeom>
          <a:solidFill>
            <a:srgbClr val="F2F2F2"/>
          </a:solidFill>
          <a:ln w="12700">
            <a:solidFill>
              <a:srgbClr val="DDDDDD"/>
            </a:solidFill>
            <a:prstDash val="solid"/>
          </a:ln>
        </p:spPr>
      </p:sp>
      <p:sp>
        <p:nvSpPr>
          <p:cNvPr id="43" name="Text 41"/>
          <p:cNvSpPr/>
          <p:nvPr/>
        </p:nvSpPr>
        <p:spPr>
          <a:xfrm>
            <a:off x="521208" y="4178808"/>
            <a:ext cx="320040" cy="347472"/>
          </a:xfrm>
          <a:prstGeom prst="rect">
            <a:avLst/>
          </a:prstGeom>
          <a:noFill/>
          <a:ln/>
        </p:spPr>
        <p:txBody>
          <a:bodyPr wrap="square" rtlCol="0" anchor="ctr"/>
          <a:lstStyle/>
          <a:p>
            <a:pPr marL="0" indent="0" algn="ctr">
              <a:buNone/>
            </a:pPr>
            <a:r>
              <a:rPr lang="en-US" sz="1200" b="1" dirty="0">
                <a:solidFill>
                  <a:srgbClr val="C0392B"/>
                </a:solidFill>
                <a:latin typeface="Calibri" pitchFamily="34" charset="0"/>
                <a:ea typeface="Calibri" pitchFamily="34" charset="-122"/>
                <a:cs typeface="Calibri" pitchFamily="34" charset="-120"/>
              </a:rPr>
              <a:t>L4</a:t>
            </a:r>
            <a:endParaRPr lang="en-US" sz="1200" dirty="0"/>
          </a:p>
        </p:txBody>
      </p:sp>
      <p:sp>
        <p:nvSpPr>
          <p:cNvPr id="44" name="Text 42"/>
          <p:cNvSpPr/>
          <p:nvPr/>
        </p:nvSpPr>
        <p:spPr>
          <a:xfrm>
            <a:off x="886968" y="4178808"/>
            <a:ext cx="1097280" cy="347472"/>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Fully Agentic</a:t>
            </a:r>
            <a:endParaRPr lang="en-US" sz="1100" dirty="0"/>
          </a:p>
        </p:txBody>
      </p:sp>
      <p:sp>
        <p:nvSpPr>
          <p:cNvPr id="45" name="Text 43"/>
          <p:cNvSpPr/>
          <p:nvPr/>
        </p:nvSpPr>
        <p:spPr>
          <a:xfrm>
            <a:off x="2029968" y="4178808"/>
            <a:ext cx="2743200" cy="347472"/>
          </a:xfrm>
          <a:prstGeom prst="rect">
            <a:avLst/>
          </a:prstGeom>
          <a:noFill/>
          <a:ln/>
        </p:spPr>
        <p:txBody>
          <a:bodyPr wrap="square" rtlCol="0" anchor="ctr"/>
          <a:lstStyle/>
          <a:p>
            <a:pPr marL="0" indent="0">
              <a:buNone/>
            </a:pPr>
            <a:r>
              <a:rPr lang="en-US" sz="1050" dirty="0">
                <a:solidFill>
                  <a:srgbClr val="111111"/>
                </a:solidFill>
                <a:latin typeface="Calibri" pitchFamily="34" charset="0"/>
                <a:ea typeface="Calibri" pitchFamily="34" charset="-122"/>
                <a:cs typeface="Calibri" pitchFamily="34" charset="-120"/>
              </a:rPr>
              <a:t>Plans, acts, and LEARNS continuously</a:t>
            </a:r>
            <a:endParaRPr lang="en-US" sz="1050" dirty="0"/>
          </a:p>
        </p:txBody>
      </p:sp>
      <p:sp>
        <p:nvSpPr>
          <p:cNvPr id="46" name="Text 44"/>
          <p:cNvSpPr/>
          <p:nvPr/>
        </p:nvSpPr>
        <p:spPr>
          <a:xfrm>
            <a:off x="4846320" y="4178808"/>
            <a:ext cx="2057400" cy="347472"/>
          </a:xfrm>
          <a:prstGeom prst="rect">
            <a:avLst/>
          </a:prstGeom>
          <a:noFill/>
          <a:ln/>
        </p:spPr>
        <p:txBody>
          <a:bodyPr wrap="square" rtlCol="0" anchor="ctr"/>
          <a:lstStyle/>
          <a:p>
            <a:pPr marL="0" indent="0">
              <a:buNone/>
            </a:pPr>
            <a:r>
              <a:rPr lang="en-US" sz="1050" dirty="0">
                <a:solidFill>
                  <a:srgbClr val="444444"/>
                </a:solidFill>
                <a:latin typeface="Calibri" pitchFamily="34" charset="0"/>
                <a:ea typeface="Calibri" pitchFamily="34" charset="-122"/>
                <a:cs typeface="Calibri" pitchFamily="34" charset="-120"/>
              </a:rPr>
              <a:t>Open-ended problem-solving</a:t>
            </a:r>
            <a:endParaRPr lang="en-US" sz="1050" dirty="0"/>
          </a:p>
        </p:txBody>
      </p:sp>
      <p:sp>
        <p:nvSpPr>
          <p:cNvPr id="47" name="Text 45"/>
          <p:cNvSpPr/>
          <p:nvPr/>
        </p:nvSpPr>
        <p:spPr>
          <a:xfrm>
            <a:off x="6949440" y="4178808"/>
            <a:ext cx="1645920" cy="347472"/>
          </a:xfrm>
          <a:prstGeom prst="rect">
            <a:avLst/>
          </a:prstGeom>
          <a:noFill/>
          <a:ln/>
        </p:spPr>
        <p:txBody>
          <a:bodyPr wrap="square" rtlCol="0" anchor="ctr"/>
          <a:lstStyle/>
          <a:p>
            <a:pPr marL="0" indent="0">
              <a:buNone/>
            </a:pPr>
            <a:r>
              <a:rPr lang="en-US" sz="1100" b="1" dirty="0">
                <a:solidFill>
                  <a:srgbClr val="C0392B"/>
                </a:solidFill>
                <a:latin typeface="Calibri" pitchFamily="34" charset="0"/>
                <a:ea typeface="Calibri" pitchFamily="34" charset="-122"/>
                <a:cs typeface="Calibri" pitchFamily="34" charset="-120"/>
              </a:rPr>
              <a:t>⚠ Very High</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361E1B74-8A14-AD85-1C64-1992AF1C43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620004-60D1-C603-4895-325FACBE4794}"/>
              </a:ext>
            </a:extLst>
          </p:cNvPr>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FOUNDATIONS · SLIDE 3/3</a:t>
            </a:r>
            <a:endParaRPr lang="en-US" sz="900" dirty="0"/>
          </a:p>
        </p:txBody>
      </p:sp>
      <p:sp>
        <p:nvSpPr>
          <p:cNvPr id="3" name="Shape 1">
            <a:extLst>
              <a:ext uri="{FF2B5EF4-FFF2-40B4-BE49-F238E27FC236}">
                <a16:creationId xmlns:a16="http://schemas.microsoft.com/office/drawing/2014/main" id="{7790CB75-93A2-0C10-0D1B-E19477D7ACD5}"/>
              </a:ext>
            </a:extLst>
          </p:cNvPr>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a:extLst>
              <a:ext uri="{FF2B5EF4-FFF2-40B4-BE49-F238E27FC236}">
                <a16:creationId xmlns:a16="http://schemas.microsoft.com/office/drawing/2014/main" id="{E0258943-D7AB-C486-9628-79E8D3416D21}"/>
              </a:ext>
            </a:extLst>
          </p:cNvPr>
          <p:cNvSpPr/>
          <p:nvPr/>
        </p:nvSpPr>
        <p:spPr>
          <a:xfrm>
            <a:off x="502919" y="658368"/>
            <a:ext cx="45719" cy="3918204"/>
          </a:xfrm>
          <a:prstGeom prst="rect">
            <a:avLst/>
          </a:prstGeom>
          <a:solidFill>
            <a:srgbClr val="1A1A2E"/>
          </a:solidFill>
          <a:ln w="12700">
            <a:solidFill>
              <a:srgbClr val="1A1A2E"/>
            </a:solidFill>
            <a:prstDash val="solid"/>
          </a:ln>
        </p:spPr>
      </p:sp>
      <p:sp>
        <p:nvSpPr>
          <p:cNvPr id="5" name="Text 3">
            <a:extLst>
              <a:ext uri="{FF2B5EF4-FFF2-40B4-BE49-F238E27FC236}">
                <a16:creationId xmlns:a16="http://schemas.microsoft.com/office/drawing/2014/main" id="{B2620DE6-B0BA-4468-C2CB-47E69F4157D9}"/>
              </a:ext>
            </a:extLst>
          </p:cNvPr>
          <p:cNvSpPr/>
          <p:nvPr/>
        </p:nvSpPr>
        <p:spPr>
          <a:xfrm>
            <a:off x="685800" y="640080"/>
            <a:ext cx="8046720" cy="658368"/>
          </a:xfrm>
          <a:prstGeom prst="rect">
            <a:avLst/>
          </a:prstGeom>
          <a:noFill/>
          <a:ln/>
        </p:spPr>
        <p:txBody>
          <a:bodyPr wrap="square" rtlCol="0" anchor="ctr"/>
          <a:lstStyle/>
          <a:p>
            <a:r>
              <a:rPr lang="en-US" sz="2600" b="1" dirty="0">
                <a:solidFill>
                  <a:srgbClr val="111111"/>
                </a:solidFill>
                <a:latin typeface="Calibri" pitchFamily="34" charset="0"/>
                <a:ea typeface="Calibri" pitchFamily="34" charset="-122"/>
                <a:cs typeface="Calibri" pitchFamily="34" charset="-120"/>
              </a:rPr>
              <a:t>AI model classification and specification</a:t>
            </a:r>
            <a:endParaRPr lang="en-US" sz="2600" dirty="0"/>
          </a:p>
        </p:txBody>
      </p:sp>
      <p:sp>
        <p:nvSpPr>
          <p:cNvPr id="7" name="Text 5">
            <a:extLst>
              <a:ext uri="{FF2B5EF4-FFF2-40B4-BE49-F238E27FC236}">
                <a16:creationId xmlns:a16="http://schemas.microsoft.com/office/drawing/2014/main" id="{664B79B6-A4F6-558F-C430-83D8F1EF1714}"/>
              </a:ext>
            </a:extLst>
          </p:cNvPr>
          <p:cNvSpPr/>
          <p:nvPr/>
        </p:nvSpPr>
        <p:spPr>
          <a:xfrm>
            <a:off x="502920" y="1664208"/>
            <a:ext cx="3200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LVL</a:t>
            </a:r>
            <a:endParaRPr lang="en-US" sz="1000" dirty="0"/>
          </a:p>
        </p:txBody>
      </p:sp>
      <p:sp>
        <p:nvSpPr>
          <p:cNvPr id="48" name="Text 5">
            <a:extLst>
              <a:ext uri="{FF2B5EF4-FFF2-40B4-BE49-F238E27FC236}">
                <a16:creationId xmlns:a16="http://schemas.microsoft.com/office/drawing/2014/main" id="{B0622956-5208-6418-B3E6-EAB340C8F117}"/>
              </a:ext>
            </a:extLst>
          </p:cNvPr>
          <p:cNvSpPr/>
          <p:nvPr/>
        </p:nvSpPr>
        <p:spPr>
          <a:xfrm>
            <a:off x="541020" y="1267968"/>
            <a:ext cx="2185982"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intelligence style</a:t>
            </a:r>
          </a:p>
        </p:txBody>
      </p:sp>
      <p:sp>
        <p:nvSpPr>
          <p:cNvPr id="49" name="Shape 6">
            <a:extLst>
              <a:ext uri="{FF2B5EF4-FFF2-40B4-BE49-F238E27FC236}">
                <a16:creationId xmlns:a16="http://schemas.microsoft.com/office/drawing/2014/main" id="{F4280DE0-7679-EAE5-9A66-C6E0E040EF31}"/>
              </a:ext>
            </a:extLst>
          </p:cNvPr>
          <p:cNvSpPr/>
          <p:nvPr/>
        </p:nvSpPr>
        <p:spPr>
          <a:xfrm>
            <a:off x="502920" y="1615440"/>
            <a:ext cx="2185982" cy="16459"/>
          </a:xfrm>
          <a:prstGeom prst="rect">
            <a:avLst/>
          </a:prstGeom>
          <a:solidFill>
            <a:srgbClr val="1A1A2E"/>
          </a:solidFill>
          <a:ln w="12700">
            <a:solidFill>
              <a:srgbClr val="1A1A2E"/>
            </a:solidFill>
            <a:prstDash val="solid"/>
          </a:ln>
        </p:spPr>
      </p:sp>
      <p:sp>
        <p:nvSpPr>
          <p:cNvPr id="50" name="Text 5">
            <a:extLst>
              <a:ext uri="{FF2B5EF4-FFF2-40B4-BE49-F238E27FC236}">
                <a16:creationId xmlns:a16="http://schemas.microsoft.com/office/drawing/2014/main" id="{FF9A4FE3-0B7E-6AA6-D0C6-7B3E081A2AA7}"/>
              </a:ext>
            </a:extLst>
          </p:cNvPr>
          <p:cNvSpPr/>
          <p:nvPr/>
        </p:nvSpPr>
        <p:spPr>
          <a:xfrm>
            <a:off x="572450" y="1631899"/>
            <a:ext cx="1973580" cy="1145286"/>
          </a:xfrm>
          <a:prstGeom prst="rect">
            <a:avLst/>
          </a:prstGeom>
          <a:noFill/>
          <a:ln/>
        </p:spPr>
        <p:txBody>
          <a:bodyPr wrap="square" rtlCol="0" anchor="ctr"/>
          <a:lstStyle/>
          <a:p>
            <a:r>
              <a:rPr lang="en-US" sz="1100" b="1" dirty="0"/>
              <a:t>▸ Rule-based AI (Symbolic AI)</a:t>
            </a:r>
            <a:endParaRPr lang="en-US" sz="1100" dirty="0"/>
          </a:p>
          <a:p>
            <a:r>
              <a:rPr lang="en-US" sz="1100" b="1" dirty="0"/>
              <a:t>▸ Machine Learning (ML)</a:t>
            </a:r>
          </a:p>
          <a:p>
            <a:r>
              <a:rPr lang="en-US" sz="1100" b="1" dirty="0"/>
              <a:t>▸ Deep Learning</a:t>
            </a:r>
          </a:p>
          <a:p>
            <a:r>
              <a:rPr lang="en-US" sz="1100" b="1" dirty="0"/>
              <a:t>▸ Hybrid AI</a:t>
            </a:r>
          </a:p>
          <a:p>
            <a:endParaRPr lang="en-US" sz="1100" b="1" dirty="0"/>
          </a:p>
          <a:p>
            <a:endParaRPr lang="en-US" sz="1100" b="1" dirty="0"/>
          </a:p>
        </p:txBody>
      </p:sp>
      <p:sp>
        <p:nvSpPr>
          <p:cNvPr id="54" name="Text 5">
            <a:extLst>
              <a:ext uri="{FF2B5EF4-FFF2-40B4-BE49-F238E27FC236}">
                <a16:creationId xmlns:a16="http://schemas.microsoft.com/office/drawing/2014/main" id="{810211A1-96E7-C023-6EEE-C87E814FCBF3}"/>
              </a:ext>
            </a:extLst>
          </p:cNvPr>
          <p:cNvSpPr/>
          <p:nvPr/>
        </p:nvSpPr>
        <p:spPr>
          <a:xfrm>
            <a:off x="2826064" y="1267968"/>
            <a:ext cx="2185982"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model / architecture type</a:t>
            </a:r>
          </a:p>
        </p:txBody>
      </p:sp>
      <p:sp>
        <p:nvSpPr>
          <p:cNvPr id="55" name="Shape 6">
            <a:extLst>
              <a:ext uri="{FF2B5EF4-FFF2-40B4-BE49-F238E27FC236}">
                <a16:creationId xmlns:a16="http://schemas.microsoft.com/office/drawing/2014/main" id="{D75BD8E9-5B91-5E02-48F5-94E56DCA010C}"/>
              </a:ext>
            </a:extLst>
          </p:cNvPr>
          <p:cNvSpPr/>
          <p:nvPr/>
        </p:nvSpPr>
        <p:spPr>
          <a:xfrm>
            <a:off x="2826064" y="1615440"/>
            <a:ext cx="2185982" cy="16459"/>
          </a:xfrm>
          <a:prstGeom prst="rect">
            <a:avLst/>
          </a:prstGeom>
          <a:solidFill>
            <a:srgbClr val="1A1A2E"/>
          </a:solidFill>
          <a:ln w="12700">
            <a:solidFill>
              <a:srgbClr val="1A1A2E"/>
            </a:solidFill>
            <a:prstDash val="solid"/>
          </a:ln>
        </p:spPr>
      </p:sp>
      <p:sp>
        <p:nvSpPr>
          <p:cNvPr id="57" name="TextBox 56">
            <a:extLst>
              <a:ext uri="{FF2B5EF4-FFF2-40B4-BE49-F238E27FC236}">
                <a16:creationId xmlns:a16="http://schemas.microsoft.com/office/drawing/2014/main" id="{62BBCEC3-D5A7-4E5F-3E9A-1594C78CBFF7}"/>
              </a:ext>
            </a:extLst>
          </p:cNvPr>
          <p:cNvSpPr txBox="1"/>
          <p:nvPr/>
        </p:nvSpPr>
        <p:spPr>
          <a:xfrm>
            <a:off x="2858456" y="1702696"/>
            <a:ext cx="2153590" cy="600164"/>
          </a:xfrm>
          <a:prstGeom prst="rect">
            <a:avLst/>
          </a:prstGeom>
          <a:noFill/>
        </p:spPr>
        <p:txBody>
          <a:bodyPr wrap="square">
            <a:spAutoFit/>
          </a:bodyPr>
          <a:lstStyle/>
          <a:p>
            <a:pPr>
              <a:buNone/>
            </a:pPr>
            <a:r>
              <a:rPr lang="en-US" sz="1100" b="1" dirty="0"/>
              <a:t>▸ Classical ML models</a:t>
            </a:r>
            <a:endParaRPr lang="en-US" sz="1100" dirty="0"/>
          </a:p>
          <a:p>
            <a:pPr>
              <a:buNone/>
            </a:pPr>
            <a:r>
              <a:rPr lang="en-US" sz="1100" b="1" dirty="0"/>
              <a:t>▸ Large Language Models (LLM)</a:t>
            </a:r>
          </a:p>
          <a:p>
            <a:r>
              <a:rPr lang="en-US" sz="1100" b="1" dirty="0"/>
              <a:t>▸ Neural architectures</a:t>
            </a:r>
          </a:p>
        </p:txBody>
      </p:sp>
      <p:sp>
        <p:nvSpPr>
          <p:cNvPr id="6" name="Text 5">
            <a:extLst>
              <a:ext uri="{FF2B5EF4-FFF2-40B4-BE49-F238E27FC236}">
                <a16:creationId xmlns:a16="http://schemas.microsoft.com/office/drawing/2014/main" id="{31C8A4FB-F1B6-E48E-23E9-316D8C9BA855}"/>
              </a:ext>
            </a:extLst>
          </p:cNvPr>
          <p:cNvSpPr/>
          <p:nvPr/>
        </p:nvSpPr>
        <p:spPr>
          <a:xfrm>
            <a:off x="5149208" y="1259738"/>
            <a:ext cx="1920240"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system behavior</a:t>
            </a:r>
          </a:p>
        </p:txBody>
      </p:sp>
      <p:sp>
        <p:nvSpPr>
          <p:cNvPr id="8" name="Shape 6">
            <a:extLst>
              <a:ext uri="{FF2B5EF4-FFF2-40B4-BE49-F238E27FC236}">
                <a16:creationId xmlns:a16="http://schemas.microsoft.com/office/drawing/2014/main" id="{C6A34BD0-6AFE-EF63-0DBD-7F0EF0ADDB52}"/>
              </a:ext>
            </a:extLst>
          </p:cNvPr>
          <p:cNvSpPr/>
          <p:nvPr/>
        </p:nvSpPr>
        <p:spPr>
          <a:xfrm>
            <a:off x="5149208" y="1607210"/>
            <a:ext cx="1920240" cy="16459"/>
          </a:xfrm>
          <a:prstGeom prst="rect">
            <a:avLst/>
          </a:prstGeom>
          <a:solidFill>
            <a:srgbClr val="1A1A2E"/>
          </a:solidFill>
          <a:ln w="12700">
            <a:solidFill>
              <a:srgbClr val="1A1A2E"/>
            </a:solidFill>
            <a:prstDash val="solid"/>
          </a:ln>
        </p:spPr>
      </p:sp>
      <p:sp>
        <p:nvSpPr>
          <p:cNvPr id="9" name="Text 5">
            <a:extLst>
              <a:ext uri="{FF2B5EF4-FFF2-40B4-BE49-F238E27FC236}">
                <a16:creationId xmlns:a16="http://schemas.microsoft.com/office/drawing/2014/main" id="{9C8D7AEF-65F2-CBD3-ED80-C19CF5B44C26}"/>
              </a:ext>
            </a:extLst>
          </p:cNvPr>
          <p:cNvSpPr/>
          <p:nvPr/>
        </p:nvSpPr>
        <p:spPr>
          <a:xfrm>
            <a:off x="5246364" y="1670859"/>
            <a:ext cx="1920240" cy="600164"/>
          </a:xfrm>
          <a:prstGeom prst="rect">
            <a:avLst/>
          </a:prstGeom>
          <a:noFill/>
          <a:ln/>
        </p:spPr>
        <p:txBody>
          <a:bodyPr wrap="square" rtlCol="0" anchor="ctr"/>
          <a:lstStyle/>
          <a:p>
            <a:r>
              <a:rPr lang="en-US" sz="1100" b="1" dirty="0"/>
              <a:t>▸ Reactive AI</a:t>
            </a:r>
            <a:endParaRPr lang="en-US" sz="1100" dirty="0"/>
          </a:p>
          <a:p>
            <a:r>
              <a:rPr lang="en-US" sz="1100" b="1" dirty="0"/>
              <a:t>▸ Stateful AI</a:t>
            </a:r>
            <a:endParaRPr lang="en-US" sz="1100" dirty="0"/>
          </a:p>
          <a:p>
            <a:r>
              <a:rPr lang="en-US" sz="1100" b="1" dirty="0"/>
              <a:t>▸ Planning AI</a:t>
            </a:r>
          </a:p>
        </p:txBody>
      </p:sp>
      <p:sp>
        <p:nvSpPr>
          <p:cNvPr id="10" name="Text 5">
            <a:extLst>
              <a:ext uri="{FF2B5EF4-FFF2-40B4-BE49-F238E27FC236}">
                <a16:creationId xmlns:a16="http://schemas.microsoft.com/office/drawing/2014/main" id="{AACE11C7-627F-6BB6-6ADC-7435CFEBF885}"/>
              </a:ext>
            </a:extLst>
          </p:cNvPr>
          <p:cNvSpPr/>
          <p:nvPr/>
        </p:nvSpPr>
        <p:spPr>
          <a:xfrm>
            <a:off x="572450" y="2536817"/>
            <a:ext cx="2154552"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system organization</a:t>
            </a:r>
          </a:p>
        </p:txBody>
      </p:sp>
      <p:sp>
        <p:nvSpPr>
          <p:cNvPr id="11" name="Text 5">
            <a:extLst>
              <a:ext uri="{FF2B5EF4-FFF2-40B4-BE49-F238E27FC236}">
                <a16:creationId xmlns:a16="http://schemas.microsoft.com/office/drawing/2014/main" id="{DC791A99-1CD4-2B78-4808-E0B565041A47}"/>
              </a:ext>
            </a:extLst>
          </p:cNvPr>
          <p:cNvSpPr/>
          <p:nvPr/>
        </p:nvSpPr>
        <p:spPr>
          <a:xfrm>
            <a:off x="572450" y="2884289"/>
            <a:ext cx="2230759" cy="818312"/>
          </a:xfrm>
          <a:prstGeom prst="rect">
            <a:avLst/>
          </a:prstGeom>
          <a:noFill/>
          <a:ln/>
        </p:spPr>
        <p:txBody>
          <a:bodyPr wrap="square" rtlCol="0" anchor="ctr"/>
          <a:lstStyle/>
          <a:p>
            <a:r>
              <a:rPr lang="en-US" sz="1100" b="1" dirty="0"/>
              <a:t>▸ Single-agent AI</a:t>
            </a:r>
          </a:p>
          <a:p>
            <a:r>
              <a:rPr lang="en-US" sz="1100" b="1" dirty="0"/>
              <a:t>▸ Agentic AI</a:t>
            </a:r>
          </a:p>
          <a:p>
            <a:r>
              <a:rPr lang="en-US" sz="1100" b="1" dirty="0"/>
              <a:t>▸ Multi-agent agentic AI</a:t>
            </a:r>
          </a:p>
          <a:p>
            <a:r>
              <a:rPr lang="en-US" sz="1100" b="1" dirty="0"/>
              <a:t>▸ Multi-agent AI</a:t>
            </a:r>
          </a:p>
        </p:txBody>
      </p:sp>
      <p:sp>
        <p:nvSpPr>
          <p:cNvPr id="14" name="Shape 6">
            <a:extLst>
              <a:ext uri="{FF2B5EF4-FFF2-40B4-BE49-F238E27FC236}">
                <a16:creationId xmlns:a16="http://schemas.microsoft.com/office/drawing/2014/main" id="{8C6A8FF8-9266-B3C0-8151-60B38B4DFAAA}"/>
              </a:ext>
            </a:extLst>
          </p:cNvPr>
          <p:cNvSpPr/>
          <p:nvPr/>
        </p:nvSpPr>
        <p:spPr>
          <a:xfrm>
            <a:off x="525778" y="2861429"/>
            <a:ext cx="2185982" cy="16459"/>
          </a:xfrm>
          <a:prstGeom prst="rect">
            <a:avLst/>
          </a:prstGeom>
          <a:solidFill>
            <a:srgbClr val="1A1A2E"/>
          </a:solidFill>
          <a:ln w="12700">
            <a:solidFill>
              <a:srgbClr val="1A1A2E"/>
            </a:solidFill>
            <a:prstDash val="solid"/>
          </a:ln>
        </p:spPr>
      </p:sp>
      <p:sp>
        <p:nvSpPr>
          <p:cNvPr id="15" name="Text 5">
            <a:extLst>
              <a:ext uri="{FF2B5EF4-FFF2-40B4-BE49-F238E27FC236}">
                <a16:creationId xmlns:a16="http://schemas.microsoft.com/office/drawing/2014/main" id="{24E1F929-F307-830F-2CF4-DC7DD2D8BAE0}"/>
              </a:ext>
            </a:extLst>
          </p:cNvPr>
          <p:cNvSpPr/>
          <p:nvPr/>
        </p:nvSpPr>
        <p:spPr>
          <a:xfrm>
            <a:off x="2850814" y="2525081"/>
            <a:ext cx="1920240"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control structure</a:t>
            </a:r>
          </a:p>
        </p:txBody>
      </p:sp>
      <p:sp>
        <p:nvSpPr>
          <p:cNvPr id="16" name="Text 5">
            <a:extLst>
              <a:ext uri="{FF2B5EF4-FFF2-40B4-BE49-F238E27FC236}">
                <a16:creationId xmlns:a16="http://schemas.microsoft.com/office/drawing/2014/main" id="{C724B5AD-4C9B-3A77-3B35-5B467E9ADE9C}"/>
              </a:ext>
            </a:extLst>
          </p:cNvPr>
          <p:cNvSpPr/>
          <p:nvPr/>
        </p:nvSpPr>
        <p:spPr>
          <a:xfrm>
            <a:off x="2835094" y="2937917"/>
            <a:ext cx="1920240" cy="711055"/>
          </a:xfrm>
          <a:prstGeom prst="rect">
            <a:avLst/>
          </a:prstGeom>
          <a:noFill/>
          <a:ln/>
        </p:spPr>
        <p:txBody>
          <a:bodyPr wrap="square" rtlCol="0" anchor="ctr"/>
          <a:lstStyle/>
          <a:p>
            <a:r>
              <a:rPr lang="en-US" sz="1100" b="1" dirty="0"/>
              <a:t>▸ Orchestrated systems</a:t>
            </a:r>
            <a:endParaRPr lang="en-US" sz="1100" dirty="0"/>
          </a:p>
          <a:p>
            <a:r>
              <a:rPr lang="en-US" sz="1100" b="1" dirty="0"/>
              <a:t>▸ Decentralized systems</a:t>
            </a:r>
            <a:endParaRPr lang="en-US" sz="1100" dirty="0"/>
          </a:p>
          <a:p>
            <a:r>
              <a:rPr lang="en-US" sz="1100" b="1" dirty="0"/>
              <a:t>▸ Hierarchical systems</a:t>
            </a:r>
          </a:p>
        </p:txBody>
      </p:sp>
      <p:sp>
        <p:nvSpPr>
          <p:cNvPr id="17" name="Text 5">
            <a:extLst>
              <a:ext uri="{FF2B5EF4-FFF2-40B4-BE49-F238E27FC236}">
                <a16:creationId xmlns:a16="http://schemas.microsoft.com/office/drawing/2014/main" id="{12CFE816-A75F-5443-9A91-74A371C3DA9C}"/>
              </a:ext>
            </a:extLst>
          </p:cNvPr>
          <p:cNvSpPr/>
          <p:nvPr/>
        </p:nvSpPr>
        <p:spPr>
          <a:xfrm>
            <a:off x="5169181" y="2536817"/>
            <a:ext cx="2230760"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knowledge source</a:t>
            </a:r>
          </a:p>
        </p:txBody>
      </p:sp>
      <p:sp>
        <p:nvSpPr>
          <p:cNvPr id="18" name="Text 5">
            <a:extLst>
              <a:ext uri="{FF2B5EF4-FFF2-40B4-BE49-F238E27FC236}">
                <a16:creationId xmlns:a16="http://schemas.microsoft.com/office/drawing/2014/main" id="{723F839A-4B23-EC57-E85D-FA50F57F806F}"/>
              </a:ext>
            </a:extLst>
          </p:cNvPr>
          <p:cNvSpPr/>
          <p:nvPr/>
        </p:nvSpPr>
        <p:spPr>
          <a:xfrm>
            <a:off x="5213959" y="2874437"/>
            <a:ext cx="2133604" cy="731313"/>
          </a:xfrm>
          <a:prstGeom prst="rect">
            <a:avLst/>
          </a:prstGeom>
          <a:noFill/>
          <a:ln/>
        </p:spPr>
        <p:txBody>
          <a:bodyPr wrap="square" rtlCol="0" anchor="ctr"/>
          <a:lstStyle/>
          <a:p>
            <a:r>
              <a:rPr lang="en-US" sz="1100" b="1" dirty="0"/>
              <a:t>▸ Static AI</a:t>
            </a:r>
          </a:p>
          <a:p>
            <a:r>
              <a:rPr lang="en-US" sz="1100" b="1" dirty="0"/>
              <a:t>▸ Retrieval-Augmented AI (RAG)</a:t>
            </a:r>
          </a:p>
          <a:p>
            <a:r>
              <a:rPr lang="en-US" sz="1100" b="1" dirty="0"/>
              <a:t>▸ Tool-augmented AI</a:t>
            </a:r>
          </a:p>
        </p:txBody>
      </p:sp>
      <p:sp>
        <p:nvSpPr>
          <p:cNvPr id="19" name="Text 5">
            <a:extLst>
              <a:ext uri="{FF2B5EF4-FFF2-40B4-BE49-F238E27FC236}">
                <a16:creationId xmlns:a16="http://schemas.microsoft.com/office/drawing/2014/main" id="{3F3083B0-3DB7-8759-8907-A4280B463D77}"/>
              </a:ext>
            </a:extLst>
          </p:cNvPr>
          <p:cNvSpPr/>
          <p:nvPr/>
        </p:nvSpPr>
        <p:spPr>
          <a:xfrm>
            <a:off x="7166604" y="2849749"/>
            <a:ext cx="1880238"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learning style</a:t>
            </a:r>
          </a:p>
        </p:txBody>
      </p:sp>
      <p:sp>
        <p:nvSpPr>
          <p:cNvPr id="20" name="Text 5">
            <a:extLst>
              <a:ext uri="{FF2B5EF4-FFF2-40B4-BE49-F238E27FC236}">
                <a16:creationId xmlns:a16="http://schemas.microsoft.com/office/drawing/2014/main" id="{075C5E93-B9AA-3BEE-AED1-F266BF5F0238}"/>
              </a:ext>
            </a:extLst>
          </p:cNvPr>
          <p:cNvSpPr/>
          <p:nvPr/>
        </p:nvSpPr>
        <p:spPr>
          <a:xfrm>
            <a:off x="7166604" y="3260869"/>
            <a:ext cx="2133604" cy="1636985"/>
          </a:xfrm>
          <a:prstGeom prst="rect">
            <a:avLst/>
          </a:prstGeom>
          <a:noFill/>
          <a:ln/>
        </p:spPr>
        <p:txBody>
          <a:bodyPr wrap="square" rtlCol="0" anchor="ctr"/>
          <a:lstStyle/>
          <a:p>
            <a:pPr marL="171450" indent="-171450">
              <a:buFont typeface="Arial" panose="020B0604020202020204" pitchFamily="34" charset="0"/>
              <a:buChar char="•"/>
            </a:pPr>
            <a:r>
              <a:rPr lang="en-US" sz="1100" dirty="0"/>
              <a:t>Supervised learning</a:t>
            </a:r>
          </a:p>
          <a:p>
            <a:pPr marL="171450" indent="-171450">
              <a:buFont typeface="Arial" panose="020B0604020202020204" pitchFamily="34" charset="0"/>
              <a:buChar char="•"/>
            </a:pPr>
            <a:r>
              <a:rPr lang="en-US" sz="1100" dirty="0"/>
              <a:t>Unsupervised learning</a:t>
            </a:r>
          </a:p>
          <a:p>
            <a:pPr marL="171450" indent="-171450">
              <a:buFont typeface="Arial" panose="020B0604020202020204" pitchFamily="34" charset="0"/>
              <a:buChar char="•"/>
            </a:pPr>
            <a:r>
              <a:rPr lang="en-US" sz="1100" dirty="0"/>
              <a:t>Semi-supervised learning</a:t>
            </a:r>
          </a:p>
          <a:p>
            <a:pPr marL="171450" indent="-171450">
              <a:buFont typeface="Arial" panose="020B0604020202020204" pitchFamily="34" charset="0"/>
              <a:buChar char="•"/>
            </a:pPr>
            <a:r>
              <a:rPr lang="en-US" sz="1100" dirty="0"/>
              <a:t>Reinforcement learning</a:t>
            </a:r>
          </a:p>
          <a:p>
            <a:pPr marL="171450" indent="-171450">
              <a:buFont typeface="Arial" panose="020B0604020202020204" pitchFamily="34" charset="0"/>
              <a:buChar char="•"/>
            </a:pPr>
            <a:r>
              <a:rPr lang="en-US" sz="1100" dirty="0"/>
              <a:t>Self-supervised learning</a:t>
            </a:r>
          </a:p>
          <a:p>
            <a:pPr marL="171450" indent="-171450">
              <a:buFont typeface="Arial" panose="020B0604020202020204" pitchFamily="34" charset="0"/>
              <a:buChar char="•"/>
            </a:pPr>
            <a:r>
              <a:rPr lang="en-US" sz="1100" dirty="0"/>
              <a:t>Online learning</a:t>
            </a:r>
          </a:p>
          <a:p>
            <a:pPr marL="171450" indent="-171450">
              <a:buFont typeface="Arial" panose="020B0604020202020204" pitchFamily="34" charset="0"/>
              <a:buChar char="•"/>
            </a:pPr>
            <a:r>
              <a:rPr lang="en-US" sz="1100" dirty="0"/>
              <a:t>Federated learning</a:t>
            </a:r>
          </a:p>
          <a:p>
            <a:endParaRPr lang="en-US" sz="1100" dirty="0"/>
          </a:p>
        </p:txBody>
      </p:sp>
      <p:sp>
        <p:nvSpPr>
          <p:cNvPr id="21" name="Text 5">
            <a:extLst>
              <a:ext uri="{FF2B5EF4-FFF2-40B4-BE49-F238E27FC236}">
                <a16:creationId xmlns:a16="http://schemas.microsoft.com/office/drawing/2014/main" id="{198F72A3-E562-7D1A-4219-CC94E1AE9CE5}"/>
              </a:ext>
            </a:extLst>
          </p:cNvPr>
          <p:cNvSpPr/>
          <p:nvPr/>
        </p:nvSpPr>
        <p:spPr>
          <a:xfrm>
            <a:off x="9300206" y="2849749"/>
            <a:ext cx="2213611"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capability level</a:t>
            </a:r>
          </a:p>
        </p:txBody>
      </p:sp>
      <p:sp>
        <p:nvSpPr>
          <p:cNvPr id="22" name="Text 5">
            <a:extLst>
              <a:ext uri="{FF2B5EF4-FFF2-40B4-BE49-F238E27FC236}">
                <a16:creationId xmlns:a16="http://schemas.microsoft.com/office/drawing/2014/main" id="{1DB6BE44-2A42-7979-CC57-5CB545D7F8AC}"/>
              </a:ext>
            </a:extLst>
          </p:cNvPr>
          <p:cNvSpPr/>
          <p:nvPr/>
        </p:nvSpPr>
        <p:spPr>
          <a:xfrm>
            <a:off x="9300206" y="3046621"/>
            <a:ext cx="2133604" cy="1106909"/>
          </a:xfrm>
          <a:prstGeom prst="rect">
            <a:avLst/>
          </a:prstGeom>
          <a:noFill/>
          <a:ln/>
        </p:spPr>
        <p:txBody>
          <a:bodyPr wrap="square" rtlCol="0" anchor="ctr"/>
          <a:lstStyle/>
          <a:p>
            <a:pPr marL="171450" indent="-171450">
              <a:buFont typeface="Arial" panose="020B0604020202020204" pitchFamily="34" charset="0"/>
              <a:buChar char="•"/>
            </a:pPr>
            <a:r>
              <a:rPr lang="it-IT" sz="1100" dirty="0"/>
              <a:t>Narrow AI (ANI)</a:t>
            </a:r>
          </a:p>
          <a:p>
            <a:pPr marL="171450" indent="-171450">
              <a:buFont typeface="Arial" panose="020B0604020202020204" pitchFamily="34" charset="0"/>
              <a:buChar char="•"/>
            </a:pPr>
            <a:r>
              <a:rPr lang="it-IT" sz="1100" dirty="0"/>
              <a:t>General AI (AGI)</a:t>
            </a:r>
          </a:p>
          <a:p>
            <a:pPr marL="171450" indent="-171450">
              <a:buFont typeface="Arial" panose="020B0604020202020204" pitchFamily="34" charset="0"/>
              <a:buChar char="•"/>
            </a:pPr>
            <a:r>
              <a:rPr lang="it-IT" sz="1100" dirty="0"/>
              <a:t>Superintelligence (ASI)</a:t>
            </a:r>
          </a:p>
        </p:txBody>
      </p:sp>
      <p:sp>
        <p:nvSpPr>
          <p:cNvPr id="23" name="Shape 6">
            <a:extLst>
              <a:ext uri="{FF2B5EF4-FFF2-40B4-BE49-F238E27FC236}">
                <a16:creationId xmlns:a16="http://schemas.microsoft.com/office/drawing/2014/main" id="{D8235BA9-874E-CD03-3661-0275B82FA939}"/>
              </a:ext>
            </a:extLst>
          </p:cNvPr>
          <p:cNvSpPr/>
          <p:nvPr/>
        </p:nvSpPr>
        <p:spPr>
          <a:xfrm>
            <a:off x="2866056" y="2857978"/>
            <a:ext cx="2185982" cy="16459"/>
          </a:xfrm>
          <a:prstGeom prst="rect">
            <a:avLst/>
          </a:prstGeom>
          <a:solidFill>
            <a:srgbClr val="1A1A2E"/>
          </a:solidFill>
          <a:ln w="12700">
            <a:solidFill>
              <a:srgbClr val="1A1A2E"/>
            </a:solidFill>
            <a:prstDash val="solid"/>
          </a:ln>
        </p:spPr>
      </p:sp>
      <p:sp>
        <p:nvSpPr>
          <p:cNvPr id="24" name="Shape 6">
            <a:extLst>
              <a:ext uri="{FF2B5EF4-FFF2-40B4-BE49-F238E27FC236}">
                <a16:creationId xmlns:a16="http://schemas.microsoft.com/office/drawing/2014/main" id="{DAA49C0D-D05F-A998-6342-A9EF5DF2293C}"/>
              </a:ext>
            </a:extLst>
          </p:cNvPr>
          <p:cNvSpPr/>
          <p:nvPr/>
        </p:nvSpPr>
        <p:spPr>
          <a:xfrm>
            <a:off x="5213959" y="2853199"/>
            <a:ext cx="2185982" cy="16459"/>
          </a:xfrm>
          <a:prstGeom prst="rect">
            <a:avLst/>
          </a:prstGeom>
          <a:solidFill>
            <a:srgbClr val="1A1A2E"/>
          </a:solidFill>
          <a:ln w="12700">
            <a:solidFill>
              <a:srgbClr val="1A1A2E"/>
            </a:solidFill>
            <a:prstDash val="solid"/>
          </a:ln>
        </p:spPr>
      </p:sp>
    </p:spTree>
    <p:extLst>
      <p:ext uri="{BB962C8B-B14F-4D97-AF65-F5344CB8AC3E}">
        <p14:creationId xmlns:p14="http://schemas.microsoft.com/office/powerpoint/2010/main" val="9577972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55E5584F-5ACC-9394-936B-40739069CB1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9FFF6F7-3F12-DC58-944A-65BFC7F6ECD1}"/>
              </a:ext>
            </a:extLst>
          </p:cNvPr>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FOUNDATIONS · SLIDE 3/3</a:t>
            </a:r>
            <a:endParaRPr lang="en-US" sz="900" dirty="0"/>
          </a:p>
        </p:txBody>
      </p:sp>
      <p:sp>
        <p:nvSpPr>
          <p:cNvPr id="3" name="Shape 1">
            <a:extLst>
              <a:ext uri="{FF2B5EF4-FFF2-40B4-BE49-F238E27FC236}">
                <a16:creationId xmlns:a16="http://schemas.microsoft.com/office/drawing/2014/main" id="{25FC8498-502F-B95E-0311-84F44C15E051}"/>
              </a:ext>
            </a:extLst>
          </p:cNvPr>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a:extLst>
              <a:ext uri="{FF2B5EF4-FFF2-40B4-BE49-F238E27FC236}">
                <a16:creationId xmlns:a16="http://schemas.microsoft.com/office/drawing/2014/main" id="{48F54939-9928-CA60-E686-5C11AC87A0D6}"/>
              </a:ext>
            </a:extLst>
          </p:cNvPr>
          <p:cNvSpPr/>
          <p:nvPr/>
        </p:nvSpPr>
        <p:spPr>
          <a:xfrm>
            <a:off x="502919" y="658368"/>
            <a:ext cx="45719" cy="3918204"/>
          </a:xfrm>
          <a:prstGeom prst="rect">
            <a:avLst/>
          </a:prstGeom>
          <a:solidFill>
            <a:srgbClr val="1A1A2E"/>
          </a:solidFill>
          <a:ln w="12700">
            <a:solidFill>
              <a:srgbClr val="1A1A2E"/>
            </a:solidFill>
            <a:prstDash val="solid"/>
          </a:ln>
        </p:spPr>
      </p:sp>
      <p:sp>
        <p:nvSpPr>
          <p:cNvPr id="5" name="Text 3">
            <a:extLst>
              <a:ext uri="{FF2B5EF4-FFF2-40B4-BE49-F238E27FC236}">
                <a16:creationId xmlns:a16="http://schemas.microsoft.com/office/drawing/2014/main" id="{1B10209F-E5CD-1390-0923-2C65F8340ACC}"/>
              </a:ext>
            </a:extLst>
          </p:cNvPr>
          <p:cNvSpPr/>
          <p:nvPr/>
        </p:nvSpPr>
        <p:spPr>
          <a:xfrm>
            <a:off x="685800" y="640080"/>
            <a:ext cx="8046720" cy="658368"/>
          </a:xfrm>
          <a:prstGeom prst="rect">
            <a:avLst/>
          </a:prstGeom>
          <a:noFill/>
          <a:ln/>
        </p:spPr>
        <p:txBody>
          <a:bodyPr wrap="square" rtlCol="0" anchor="ctr"/>
          <a:lstStyle/>
          <a:p>
            <a:r>
              <a:rPr lang="en-US" sz="2600" b="1" dirty="0">
                <a:solidFill>
                  <a:srgbClr val="111111"/>
                </a:solidFill>
                <a:latin typeface="Calibri" pitchFamily="34" charset="0"/>
                <a:ea typeface="Calibri" pitchFamily="34" charset="-122"/>
                <a:cs typeface="Calibri" pitchFamily="34" charset="-120"/>
              </a:rPr>
              <a:t>AI model classification and specification</a:t>
            </a:r>
            <a:endParaRPr lang="en-US" sz="2600" dirty="0"/>
          </a:p>
        </p:txBody>
      </p:sp>
      <p:sp>
        <p:nvSpPr>
          <p:cNvPr id="7" name="Text 5">
            <a:extLst>
              <a:ext uri="{FF2B5EF4-FFF2-40B4-BE49-F238E27FC236}">
                <a16:creationId xmlns:a16="http://schemas.microsoft.com/office/drawing/2014/main" id="{91BE2758-CABD-F28C-52E6-1FAFFDF82DC1}"/>
              </a:ext>
            </a:extLst>
          </p:cNvPr>
          <p:cNvSpPr/>
          <p:nvPr/>
        </p:nvSpPr>
        <p:spPr>
          <a:xfrm>
            <a:off x="502920" y="1664208"/>
            <a:ext cx="3200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LVL</a:t>
            </a:r>
            <a:endParaRPr lang="en-US" sz="1000" dirty="0"/>
          </a:p>
        </p:txBody>
      </p:sp>
      <p:sp>
        <p:nvSpPr>
          <p:cNvPr id="48" name="Text 5">
            <a:extLst>
              <a:ext uri="{FF2B5EF4-FFF2-40B4-BE49-F238E27FC236}">
                <a16:creationId xmlns:a16="http://schemas.microsoft.com/office/drawing/2014/main" id="{09770598-C205-5505-69F6-8A9F9410C67E}"/>
              </a:ext>
            </a:extLst>
          </p:cNvPr>
          <p:cNvSpPr/>
          <p:nvPr/>
        </p:nvSpPr>
        <p:spPr>
          <a:xfrm>
            <a:off x="502920" y="1267968"/>
            <a:ext cx="3832860"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intelligence style</a:t>
            </a:r>
          </a:p>
        </p:txBody>
      </p:sp>
      <p:sp>
        <p:nvSpPr>
          <p:cNvPr id="49" name="Shape 6">
            <a:extLst>
              <a:ext uri="{FF2B5EF4-FFF2-40B4-BE49-F238E27FC236}">
                <a16:creationId xmlns:a16="http://schemas.microsoft.com/office/drawing/2014/main" id="{4716DC00-DD7E-F75F-E052-22690C47C014}"/>
              </a:ext>
            </a:extLst>
          </p:cNvPr>
          <p:cNvSpPr/>
          <p:nvPr/>
        </p:nvSpPr>
        <p:spPr>
          <a:xfrm>
            <a:off x="502920" y="1615440"/>
            <a:ext cx="3832860" cy="16459"/>
          </a:xfrm>
          <a:prstGeom prst="rect">
            <a:avLst/>
          </a:prstGeom>
          <a:solidFill>
            <a:srgbClr val="1A1A2E"/>
          </a:solidFill>
          <a:ln w="12700">
            <a:solidFill>
              <a:srgbClr val="1A1A2E"/>
            </a:solidFill>
            <a:prstDash val="solid"/>
          </a:ln>
        </p:spPr>
      </p:sp>
      <p:sp>
        <p:nvSpPr>
          <p:cNvPr id="50" name="Text 5">
            <a:extLst>
              <a:ext uri="{FF2B5EF4-FFF2-40B4-BE49-F238E27FC236}">
                <a16:creationId xmlns:a16="http://schemas.microsoft.com/office/drawing/2014/main" id="{C25E3F25-5436-7E9A-5FE1-0D28C74AD3B4}"/>
              </a:ext>
            </a:extLst>
          </p:cNvPr>
          <p:cNvSpPr/>
          <p:nvPr/>
        </p:nvSpPr>
        <p:spPr>
          <a:xfrm>
            <a:off x="572450" y="1726081"/>
            <a:ext cx="1973580" cy="2458212"/>
          </a:xfrm>
          <a:prstGeom prst="rect">
            <a:avLst/>
          </a:prstGeom>
          <a:noFill/>
          <a:ln/>
        </p:spPr>
        <p:txBody>
          <a:bodyPr wrap="square" rtlCol="0" anchor="ctr"/>
          <a:lstStyle/>
          <a:p>
            <a:r>
              <a:rPr lang="en-US" sz="1100" b="1" dirty="0"/>
              <a:t>▸ Rule-based AI (Symbolic AI)</a:t>
            </a:r>
          </a:p>
          <a:p>
            <a:pPr marL="171450" indent="-171450">
              <a:buFont typeface="Arial" panose="020B0604020202020204" pitchFamily="34" charset="0"/>
              <a:buChar char="•"/>
            </a:pPr>
            <a:r>
              <a:rPr lang="en-US" sz="1100" dirty="0"/>
              <a:t>IF–THEN rules</a:t>
            </a:r>
          </a:p>
          <a:p>
            <a:pPr marL="171450" indent="-171450">
              <a:buFont typeface="Arial" panose="020B0604020202020204" pitchFamily="34" charset="0"/>
              <a:buChar char="•"/>
            </a:pPr>
            <a:r>
              <a:rPr lang="en-US" sz="1100" dirty="0"/>
              <a:t>Expert systems</a:t>
            </a:r>
          </a:p>
          <a:p>
            <a:pPr marL="171450" indent="-171450">
              <a:buFont typeface="Arial" panose="020B0604020202020204" pitchFamily="34" charset="0"/>
              <a:buChar char="•"/>
            </a:pPr>
            <a:r>
              <a:rPr lang="en-US" sz="1100" dirty="0"/>
              <a:t>Deterministic logic</a:t>
            </a:r>
            <a:br>
              <a:rPr lang="en-US" sz="1100" dirty="0"/>
            </a:br>
            <a:r>
              <a:rPr lang="en-US" sz="1100" dirty="0"/>
              <a:t>Examples: firewall rules, medical expert systems</a:t>
            </a:r>
          </a:p>
          <a:p>
            <a:pPr marL="171450" indent="-171450">
              <a:buFont typeface="Arial" panose="020B0604020202020204" pitchFamily="34" charset="0"/>
              <a:buChar char="•"/>
            </a:pPr>
            <a:endParaRPr lang="en-US" sz="1100" dirty="0"/>
          </a:p>
          <a:p>
            <a:r>
              <a:rPr lang="en-US" sz="1100" b="1" dirty="0"/>
              <a:t>▸ Machine Learning (ML)</a:t>
            </a:r>
          </a:p>
          <a:p>
            <a:pPr marL="171450" indent="-171450">
              <a:buFont typeface="Arial" panose="020B0604020202020204" pitchFamily="34" charset="0"/>
              <a:buChar char="•"/>
            </a:pPr>
            <a:r>
              <a:rPr lang="en-US" sz="1100" dirty="0"/>
              <a:t>Learns from data</a:t>
            </a:r>
          </a:p>
          <a:p>
            <a:pPr marL="171450" indent="-171450">
              <a:buFont typeface="Arial" panose="020B0604020202020204" pitchFamily="34" charset="0"/>
              <a:buChar char="•"/>
            </a:pPr>
            <a:r>
              <a:rPr lang="en-US" sz="1100" dirty="0"/>
              <a:t>No hardcoded rules</a:t>
            </a:r>
            <a:br>
              <a:rPr lang="en-US" sz="1100" dirty="0"/>
            </a:br>
            <a:r>
              <a:rPr lang="en-US" sz="1100" dirty="0"/>
              <a:t>Includes:</a:t>
            </a:r>
          </a:p>
          <a:p>
            <a:pPr marL="171450" indent="-171450">
              <a:buFont typeface="Arial" panose="020B0604020202020204" pitchFamily="34" charset="0"/>
              <a:buChar char="•"/>
            </a:pPr>
            <a:r>
              <a:rPr lang="en-US" sz="1100" dirty="0"/>
              <a:t>Supervised learning</a:t>
            </a:r>
          </a:p>
          <a:p>
            <a:pPr marL="171450" indent="-171450">
              <a:buFont typeface="Arial" panose="020B0604020202020204" pitchFamily="34" charset="0"/>
              <a:buChar char="•"/>
            </a:pPr>
            <a:r>
              <a:rPr lang="en-US" sz="1100" dirty="0"/>
              <a:t>Unsupervised learning</a:t>
            </a:r>
          </a:p>
          <a:p>
            <a:pPr marL="171450" indent="-171450">
              <a:buFont typeface="Arial" panose="020B0604020202020204" pitchFamily="34" charset="0"/>
              <a:buChar char="•"/>
            </a:pPr>
            <a:r>
              <a:rPr lang="en-US" sz="1100" dirty="0"/>
              <a:t>Reinforcement learning</a:t>
            </a:r>
          </a:p>
        </p:txBody>
      </p:sp>
      <p:sp>
        <p:nvSpPr>
          <p:cNvPr id="53" name="TextBox 52">
            <a:extLst>
              <a:ext uri="{FF2B5EF4-FFF2-40B4-BE49-F238E27FC236}">
                <a16:creationId xmlns:a16="http://schemas.microsoft.com/office/drawing/2014/main" id="{19EAE06B-0AA9-F81B-CC44-8C4E7E906F1D}"/>
              </a:ext>
            </a:extLst>
          </p:cNvPr>
          <p:cNvSpPr txBox="1"/>
          <p:nvPr/>
        </p:nvSpPr>
        <p:spPr>
          <a:xfrm>
            <a:off x="2537459" y="1731872"/>
            <a:ext cx="1920248" cy="2292935"/>
          </a:xfrm>
          <a:prstGeom prst="rect">
            <a:avLst/>
          </a:prstGeom>
          <a:noFill/>
        </p:spPr>
        <p:txBody>
          <a:bodyPr wrap="square">
            <a:spAutoFit/>
          </a:bodyPr>
          <a:lstStyle/>
          <a:p>
            <a:r>
              <a:rPr lang="en-US" sz="1100" b="1" dirty="0"/>
              <a:t>▸ Deep Learning</a:t>
            </a:r>
          </a:p>
          <a:p>
            <a:pPr marL="171450" indent="-171450">
              <a:buFont typeface="Arial" panose="020B0604020202020204" pitchFamily="34" charset="0"/>
              <a:buChar char="•"/>
            </a:pPr>
            <a:r>
              <a:rPr lang="en-US" sz="1100" dirty="0"/>
              <a:t>Neural networks with many layers</a:t>
            </a:r>
            <a:br>
              <a:rPr lang="en-US" sz="1100" dirty="0"/>
            </a:br>
            <a:r>
              <a:rPr lang="en-US" sz="1100" dirty="0"/>
              <a:t>Includes:</a:t>
            </a:r>
          </a:p>
          <a:p>
            <a:pPr marL="171450" indent="-171450">
              <a:buFont typeface="Arial" panose="020B0604020202020204" pitchFamily="34" charset="0"/>
              <a:buChar char="•"/>
            </a:pPr>
            <a:r>
              <a:rPr lang="en-US" sz="1100" dirty="0"/>
              <a:t>CNN (vision)</a:t>
            </a:r>
          </a:p>
          <a:p>
            <a:pPr marL="171450" indent="-171450">
              <a:buFont typeface="Arial" panose="020B0604020202020204" pitchFamily="34" charset="0"/>
              <a:buChar char="•"/>
            </a:pPr>
            <a:r>
              <a:rPr lang="en-US" sz="1100" dirty="0"/>
              <a:t>RNN / LSTM (time series)</a:t>
            </a:r>
          </a:p>
          <a:p>
            <a:pPr marL="171450" indent="-171450">
              <a:buFont typeface="Arial" panose="020B0604020202020204" pitchFamily="34" charset="0"/>
              <a:buChar char="•"/>
            </a:pPr>
            <a:r>
              <a:rPr lang="en-US" sz="1100" dirty="0"/>
              <a:t>Transformers (LLMs)</a:t>
            </a:r>
          </a:p>
          <a:p>
            <a:pPr marL="171450" indent="-171450">
              <a:buFont typeface="Arial" panose="020B0604020202020204" pitchFamily="34" charset="0"/>
              <a:buChar char="•"/>
            </a:pPr>
            <a:endParaRPr lang="en-US" sz="1100" dirty="0"/>
          </a:p>
          <a:p>
            <a:r>
              <a:rPr lang="en-US" sz="1100" b="1" dirty="0"/>
              <a:t>▸ Hybrid AI</a:t>
            </a:r>
          </a:p>
          <a:p>
            <a:pPr marL="171450" indent="-171450">
              <a:buFont typeface="Arial" panose="020B0604020202020204" pitchFamily="34" charset="0"/>
              <a:buChar char="•"/>
            </a:pPr>
            <a:r>
              <a:rPr lang="en-US" sz="1100" dirty="0"/>
              <a:t>Rule-based + ML</a:t>
            </a:r>
          </a:p>
          <a:p>
            <a:pPr marL="171450" indent="-171450">
              <a:buFont typeface="Arial" panose="020B0604020202020204" pitchFamily="34" charset="0"/>
              <a:buChar char="•"/>
            </a:pPr>
            <a:r>
              <a:rPr lang="en-US" sz="1100" dirty="0"/>
              <a:t>Neural-symbolic systems</a:t>
            </a:r>
            <a:br>
              <a:rPr lang="en-US" sz="1100" dirty="0"/>
            </a:br>
            <a:r>
              <a:rPr lang="en-US" sz="1100" dirty="0"/>
              <a:t>(trying to get the best of both worlds)</a:t>
            </a:r>
          </a:p>
        </p:txBody>
      </p:sp>
      <p:sp>
        <p:nvSpPr>
          <p:cNvPr id="54" name="Text 5">
            <a:extLst>
              <a:ext uri="{FF2B5EF4-FFF2-40B4-BE49-F238E27FC236}">
                <a16:creationId xmlns:a16="http://schemas.microsoft.com/office/drawing/2014/main" id="{B55900B5-74CE-A6D0-BDFA-3D9B471AFFE1}"/>
              </a:ext>
            </a:extLst>
          </p:cNvPr>
          <p:cNvSpPr/>
          <p:nvPr/>
        </p:nvSpPr>
        <p:spPr>
          <a:xfrm>
            <a:off x="4686294" y="1267968"/>
            <a:ext cx="3954788"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model / architecture type</a:t>
            </a:r>
          </a:p>
        </p:txBody>
      </p:sp>
      <p:sp>
        <p:nvSpPr>
          <p:cNvPr id="55" name="Shape 6">
            <a:extLst>
              <a:ext uri="{FF2B5EF4-FFF2-40B4-BE49-F238E27FC236}">
                <a16:creationId xmlns:a16="http://schemas.microsoft.com/office/drawing/2014/main" id="{A28BE499-D6C6-576D-1057-2B23EFAC3040}"/>
              </a:ext>
            </a:extLst>
          </p:cNvPr>
          <p:cNvSpPr/>
          <p:nvPr/>
        </p:nvSpPr>
        <p:spPr>
          <a:xfrm>
            <a:off x="4686294" y="1615440"/>
            <a:ext cx="3954788" cy="16459"/>
          </a:xfrm>
          <a:prstGeom prst="rect">
            <a:avLst/>
          </a:prstGeom>
          <a:solidFill>
            <a:srgbClr val="1A1A2E"/>
          </a:solidFill>
          <a:ln w="12700">
            <a:solidFill>
              <a:srgbClr val="1A1A2E"/>
            </a:solidFill>
            <a:prstDash val="solid"/>
          </a:ln>
        </p:spPr>
      </p:sp>
      <p:sp>
        <p:nvSpPr>
          <p:cNvPr id="57" name="TextBox 56">
            <a:extLst>
              <a:ext uri="{FF2B5EF4-FFF2-40B4-BE49-F238E27FC236}">
                <a16:creationId xmlns:a16="http://schemas.microsoft.com/office/drawing/2014/main" id="{C40FC330-4A78-3FD7-E588-51C1EA9FE3AB}"/>
              </a:ext>
            </a:extLst>
          </p:cNvPr>
          <p:cNvSpPr txBox="1"/>
          <p:nvPr/>
        </p:nvSpPr>
        <p:spPr>
          <a:xfrm>
            <a:off x="4709160" y="1702696"/>
            <a:ext cx="2103121" cy="2123658"/>
          </a:xfrm>
          <a:prstGeom prst="rect">
            <a:avLst/>
          </a:prstGeom>
          <a:noFill/>
        </p:spPr>
        <p:txBody>
          <a:bodyPr wrap="square">
            <a:spAutoFit/>
          </a:bodyPr>
          <a:lstStyle/>
          <a:p>
            <a:pPr>
              <a:buNone/>
            </a:pPr>
            <a:r>
              <a:rPr lang="en-US" sz="1100" b="1" dirty="0"/>
              <a:t>▸ Classical ML models</a:t>
            </a:r>
          </a:p>
          <a:p>
            <a:pPr marL="171450" indent="-171450">
              <a:buFont typeface="Arial" panose="020B0604020202020204" pitchFamily="34" charset="0"/>
              <a:buChar char="•"/>
            </a:pPr>
            <a:r>
              <a:rPr lang="en-US" sz="1100" dirty="0"/>
              <a:t>Linear regression</a:t>
            </a:r>
          </a:p>
          <a:p>
            <a:pPr marL="171450" indent="-171450">
              <a:buFont typeface="Arial" panose="020B0604020202020204" pitchFamily="34" charset="0"/>
              <a:buChar char="•"/>
            </a:pPr>
            <a:r>
              <a:rPr lang="en-US" sz="1100" dirty="0"/>
              <a:t>Decision trees</a:t>
            </a:r>
          </a:p>
          <a:p>
            <a:pPr marL="171450" indent="-171450">
              <a:buFont typeface="Arial" panose="020B0604020202020204" pitchFamily="34" charset="0"/>
              <a:buChar char="•"/>
            </a:pPr>
            <a:r>
              <a:rPr lang="en-US" sz="1100" dirty="0"/>
              <a:t>Random forest</a:t>
            </a:r>
          </a:p>
          <a:p>
            <a:pPr marL="171450" indent="-171450">
              <a:buFont typeface="Arial" panose="020B0604020202020204" pitchFamily="34" charset="0"/>
              <a:buChar char="•"/>
            </a:pPr>
            <a:r>
              <a:rPr lang="en-US" sz="1100" dirty="0"/>
              <a:t>SVM</a:t>
            </a:r>
          </a:p>
          <a:p>
            <a:pPr marL="171450" indent="-171450">
              <a:buFont typeface="Arial" panose="020B0604020202020204" pitchFamily="34" charset="0"/>
              <a:buChar char="•"/>
            </a:pPr>
            <a:r>
              <a:rPr lang="en-US" sz="1100" dirty="0"/>
              <a:t>k-means</a:t>
            </a:r>
          </a:p>
          <a:p>
            <a:pPr marL="171450" indent="-171450">
              <a:buFont typeface="Arial" panose="020B0604020202020204" pitchFamily="34" charset="0"/>
              <a:buChar char="•"/>
            </a:pPr>
            <a:endParaRPr lang="en-US" sz="1100" dirty="0"/>
          </a:p>
          <a:p>
            <a:pPr>
              <a:buNone/>
            </a:pPr>
            <a:r>
              <a:rPr lang="en-US" sz="1100" b="1" dirty="0"/>
              <a:t>▸ Large Language Models (LLM)</a:t>
            </a:r>
          </a:p>
          <a:p>
            <a:pPr marL="171450" indent="-171450">
              <a:buFont typeface="Arial" panose="020B0604020202020204" pitchFamily="34" charset="0"/>
              <a:buChar char="•"/>
            </a:pPr>
            <a:r>
              <a:rPr lang="en-US" sz="1100" dirty="0"/>
              <a:t>GPT-like</a:t>
            </a:r>
          </a:p>
          <a:p>
            <a:pPr marL="171450" indent="-171450">
              <a:buFont typeface="Arial" panose="020B0604020202020204" pitchFamily="34" charset="0"/>
              <a:buChar char="•"/>
            </a:pPr>
            <a:r>
              <a:rPr lang="en-US" sz="1100" dirty="0"/>
              <a:t>BERT-like</a:t>
            </a:r>
          </a:p>
          <a:p>
            <a:pPr marL="171450" indent="-171450">
              <a:buFont typeface="Arial" panose="020B0604020202020204" pitchFamily="34" charset="0"/>
              <a:buChar char="•"/>
            </a:pPr>
            <a:r>
              <a:rPr lang="en-US" sz="1100" dirty="0"/>
              <a:t>Multimodal LLMs</a:t>
            </a:r>
            <a:br>
              <a:rPr lang="en-US" sz="1100" dirty="0"/>
            </a:br>
            <a:r>
              <a:rPr lang="en-US" sz="1100" dirty="0"/>
              <a:t>(text, image, audio)</a:t>
            </a:r>
          </a:p>
        </p:txBody>
      </p:sp>
      <p:sp>
        <p:nvSpPr>
          <p:cNvPr id="59" name="TextBox 58">
            <a:extLst>
              <a:ext uri="{FF2B5EF4-FFF2-40B4-BE49-F238E27FC236}">
                <a16:creationId xmlns:a16="http://schemas.microsoft.com/office/drawing/2014/main" id="{8EC9A7B0-2813-F758-3CFD-58EEBCA08D7C}"/>
              </a:ext>
            </a:extLst>
          </p:cNvPr>
          <p:cNvSpPr txBox="1"/>
          <p:nvPr/>
        </p:nvSpPr>
        <p:spPr>
          <a:xfrm>
            <a:off x="6791325" y="1690892"/>
            <a:ext cx="1849757" cy="1277273"/>
          </a:xfrm>
          <a:prstGeom prst="rect">
            <a:avLst/>
          </a:prstGeom>
          <a:noFill/>
        </p:spPr>
        <p:txBody>
          <a:bodyPr wrap="square">
            <a:spAutoFit/>
          </a:bodyPr>
          <a:lstStyle/>
          <a:p>
            <a:pPr>
              <a:buNone/>
            </a:pPr>
            <a:r>
              <a:rPr lang="en-US" sz="1100" b="1" dirty="0"/>
              <a:t>▸ Neural architectures</a:t>
            </a:r>
          </a:p>
          <a:p>
            <a:pPr marL="171450" indent="-171450">
              <a:buFont typeface="Arial" panose="020B0604020202020204" pitchFamily="34" charset="0"/>
              <a:buChar char="•"/>
            </a:pPr>
            <a:r>
              <a:rPr lang="en-US" sz="1100" dirty="0"/>
              <a:t>CNN (images)</a:t>
            </a:r>
          </a:p>
          <a:p>
            <a:pPr marL="171450" indent="-171450">
              <a:buFont typeface="Arial" panose="020B0604020202020204" pitchFamily="34" charset="0"/>
              <a:buChar char="•"/>
            </a:pPr>
            <a:r>
              <a:rPr lang="en-US" sz="1100" dirty="0"/>
              <a:t>RNN / LSTM (sequence)</a:t>
            </a:r>
          </a:p>
          <a:p>
            <a:pPr marL="171450" indent="-171450">
              <a:buFont typeface="Arial" panose="020B0604020202020204" pitchFamily="34" charset="0"/>
              <a:buChar char="•"/>
            </a:pPr>
            <a:r>
              <a:rPr lang="en-US" sz="1100" dirty="0"/>
              <a:t>Transformer (LLM)</a:t>
            </a:r>
          </a:p>
          <a:p>
            <a:pPr marL="171450" indent="-171450">
              <a:buFont typeface="Arial" panose="020B0604020202020204" pitchFamily="34" charset="0"/>
              <a:buChar char="•"/>
            </a:pPr>
            <a:r>
              <a:rPr lang="en-US" sz="1100" dirty="0"/>
              <a:t>Autoencoders</a:t>
            </a:r>
          </a:p>
          <a:p>
            <a:pPr marL="171450" indent="-171450">
              <a:buFont typeface="Arial" panose="020B0604020202020204" pitchFamily="34" charset="0"/>
              <a:buChar char="•"/>
            </a:pPr>
            <a:r>
              <a:rPr lang="en-US" sz="1100" dirty="0"/>
              <a:t>GANs</a:t>
            </a:r>
          </a:p>
          <a:p>
            <a:pPr marL="171450" indent="-171450">
              <a:buFont typeface="Arial" panose="020B0604020202020204" pitchFamily="34" charset="0"/>
              <a:buChar char="•"/>
            </a:pPr>
            <a:r>
              <a:rPr lang="en-US" sz="1100" dirty="0"/>
              <a:t>Diffusion models</a:t>
            </a:r>
          </a:p>
        </p:txBody>
      </p:sp>
    </p:spTree>
    <p:extLst>
      <p:ext uri="{BB962C8B-B14F-4D97-AF65-F5344CB8AC3E}">
        <p14:creationId xmlns:p14="http://schemas.microsoft.com/office/powerpoint/2010/main" val="676697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6191E107-2C4E-0737-9E93-6CF54CB9922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92E52B-1CB2-3835-41CA-8CE2AEF93B6E}"/>
              </a:ext>
            </a:extLst>
          </p:cNvPr>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FOUNDATIONS · SLIDE 3/3</a:t>
            </a:r>
            <a:endParaRPr lang="en-US" sz="900" dirty="0"/>
          </a:p>
        </p:txBody>
      </p:sp>
      <p:sp>
        <p:nvSpPr>
          <p:cNvPr id="3" name="Shape 1">
            <a:extLst>
              <a:ext uri="{FF2B5EF4-FFF2-40B4-BE49-F238E27FC236}">
                <a16:creationId xmlns:a16="http://schemas.microsoft.com/office/drawing/2014/main" id="{E405B870-AA95-90A4-5A4F-7E9553975416}"/>
              </a:ext>
            </a:extLst>
          </p:cNvPr>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a:extLst>
              <a:ext uri="{FF2B5EF4-FFF2-40B4-BE49-F238E27FC236}">
                <a16:creationId xmlns:a16="http://schemas.microsoft.com/office/drawing/2014/main" id="{042687EA-F770-D2E0-17CA-CE7A95F72DED}"/>
              </a:ext>
            </a:extLst>
          </p:cNvPr>
          <p:cNvSpPr/>
          <p:nvPr/>
        </p:nvSpPr>
        <p:spPr>
          <a:xfrm>
            <a:off x="502919" y="658368"/>
            <a:ext cx="45719" cy="3918204"/>
          </a:xfrm>
          <a:prstGeom prst="rect">
            <a:avLst/>
          </a:prstGeom>
          <a:solidFill>
            <a:srgbClr val="1A1A2E"/>
          </a:solidFill>
          <a:ln w="12700">
            <a:solidFill>
              <a:srgbClr val="1A1A2E"/>
            </a:solidFill>
            <a:prstDash val="solid"/>
          </a:ln>
        </p:spPr>
      </p:sp>
      <p:sp>
        <p:nvSpPr>
          <p:cNvPr id="5" name="Text 3">
            <a:extLst>
              <a:ext uri="{FF2B5EF4-FFF2-40B4-BE49-F238E27FC236}">
                <a16:creationId xmlns:a16="http://schemas.microsoft.com/office/drawing/2014/main" id="{121C6263-64FD-7CE2-CE0D-B9E69C854435}"/>
              </a:ext>
            </a:extLst>
          </p:cNvPr>
          <p:cNvSpPr/>
          <p:nvPr/>
        </p:nvSpPr>
        <p:spPr>
          <a:xfrm>
            <a:off x="685800" y="640080"/>
            <a:ext cx="8046720" cy="658368"/>
          </a:xfrm>
          <a:prstGeom prst="rect">
            <a:avLst/>
          </a:prstGeom>
          <a:noFill/>
          <a:ln/>
        </p:spPr>
        <p:txBody>
          <a:bodyPr wrap="square" rtlCol="0" anchor="ctr"/>
          <a:lstStyle/>
          <a:p>
            <a:r>
              <a:rPr lang="en-US" sz="2600" b="1" dirty="0">
                <a:solidFill>
                  <a:srgbClr val="111111"/>
                </a:solidFill>
                <a:latin typeface="Calibri" pitchFamily="34" charset="0"/>
                <a:ea typeface="Calibri" pitchFamily="34" charset="-122"/>
                <a:cs typeface="Calibri" pitchFamily="34" charset="-120"/>
              </a:rPr>
              <a:t>AI model classification and specification</a:t>
            </a:r>
            <a:endParaRPr lang="en-US" sz="2600" dirty="0"/>
          </a:p>
        </p:txBody>
      </p:sp>
      <p:sp>
        <p:nvSpPr>
          <p:cNvPr id="7" name="Text 5">
            <a:extLst>
              <a:ext uri="{FF2B5EF4-FFF2-40B4-BE49-F238E27FC236}">
                <a16:creationId xmlns:a16="http://schemas.microsoft.com/office/drawing/2014/main" id="{52D3FFC5-1470-4F6A-F8BB-D637579EB238}"/>
              </a:ext>
            </a:extLst>
          </p:cNvPr>
          <p:cNvSpPr/>
          <p:nvPr/>
        </p:nvSpPr>
        <p:spPr>
          <a:xfrm>
            <a:off x="502920" y="1664208"/>
            <a:ext cx="3200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LVL</a:t>
            </a:r>
            <a:endParaRPr lang="en-US" sz="1000" dirty="0"/>
          </a:p>
        </p:txBody>
      </p:sp>
      <p:sp>
        <p:nvSpPr>
          <p:cNvPr id="48" name="Text 5">
            <a:extLst>
              <a:ext uri="{FF2B5EF4-FFF2-40B4-BE49-F238E27FC236}">
                <a16:creationId xmlns:a16="http://schemas.microsoft.com/office/drawing/2014/main" id="{067326E0-E7A9-95C0-64E0-77A683292FCA}"/>
              </a:ext>
            </a:extLst>
          </p:cNvPr>
          <p:cNvSpPr/>
          <p:nvPr/>
        </p:nvSpPr>
        <p:spPr>
          <a:xfrm>
            <a:off x="502920" y="1267968"/>
            <a:ext cx="1920240"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system behavior</a:t>
            </a:r>
          </a:p>
        </p:txBody>
      </p:sp>
      <p:sp>
        <p:nvSpPr>
          <p:cNvPr id="49" name="Shape 6">
            <a:extLst>
              <a:ext uri="{FF2B5EF4-FFF2-40B4-BE49-F238E27FC236}">
                <a16:creationId xmlns:a16="http://schemas.microsoft.com/office/drawing/2014/main" id="{FB7AD961-29E8-F93E-B5DA-F214009A427B}"/>
              </a:ext>
            </a:extLst>
          </p:cNvPr>
          <p:cNvSpPr/>
          <p:nvPr/>
        </p:nvSpPr>
        <p:spPr>
          <a:xfrm>
            <a:off x="502920" y="1615440"/>
            <a:ext cx="1920240" cy="16459"/>
          </a:xfrm>
          <a:prstGeom prst="rect">
            <a:avLst/>
          </a:prstGeom>
          <a:solidFill>
            <a:srgbClr val="1A1A2E"/>
          </a:solidFill>
          <a:ln w="12700">
            <a:solidFill>
              <a:srgbClr val="1A1A2E"/>
            </a:solidFill>
            <a:prstDash val="solid"/>
          </a:ln>
        </p:spPr>
      </p:sp>
      <p:sp>
        <p:nvSpPr>
          <p:cNvPr id="50" name="Text 5">
            <a:extLst>
              <a:ext uri="{FF2B5EF4-FFF2-40B4-BE49-F238E27FC236}">
                <a16:creationId xmlns:a16="http://schemas.microsoft.com/office/drawing/2014/main" id="{7181241F-C1F5-32ED-5235-97C215CB32AE}"/>
              </a:ext>
            </a:extLst>
          </p:cNvPr>
          <p:cNvSpPr/>
          <p:nvPr/>
        </p:nvSpPr>
        <p:spPr>
          <a:xfrm>
            <a:off x="600076" y="1679089"/>
            <a:ext cx="1920240" cy="1983696"/>
          </a:xfrm>
          <a:prstGeom prst="rect">
            <a:avLst/>
          </a:prstGeom>
          <a:noFill/>
          <a:ln/>
        </p:spPr>
        <p:txBody>
          <a:bodyPr wrap="square" rtlCol="0" anchor="ctr"/>
          <a:lstStyle/>
          <a:p>
            <a:r>
              <a:rPr lang="en-US" sz="1100" b="1" dirty="0"/>
              <a:t>▸ Reactive AI</a:t>
            </a:r>
          </a:p>
          <a:p>
            <a:pPr marL="171450" indent="-171450">
              <a:buFont typeface="Arial" panose="020B0604020202020204" pitchFamily="34" charset="0"/>
              <a:buChar char="•"/>
            </a:pPr>
            <a:r>
              <a:rPr lang="en-US" sz="1100" dirty="0"/>
              <a:t>No memory Responds only to current input</a:t>
            </a:r>
          </a:p>
          <a:p>
            <a:endParaRPr lang="en-US" sz="1100" dirty="0"/>
          </a:p>
          <a:p>
            <a:r>
              <a:rPr lang="en-US" sz="1100" b="1" dirty="0"/>
              <a:t>▸ Stateful AI</a:t>
            </a:r>
          </a:p>
          <a:p>
            <a:pPr marL="171450" indent="-171450">
              <a:buFont typeface="Arial" panose="020B0604020202020204" pitchFamily="34" charset="0"/>
              <a:buChar char="•"/>
            </a:pPr>
            <a:r>
              <a:rPr lang="en-US" sz="1100" dirty="0"/>
              <a:t>Has short-term memory</a:t>
            </a:r>
          </a:p>
          <a:p>
            <a:pPr marL="171450" indent="-171450">
              <a:buFont typeface="Arial" panose="020B0604020202020204" pitchFamily="34" charset="0"/>
              <a:buChar char="•"/>
            </a:pPr>
            <a:r>
              <a:rPr lang="en-US" sz="1100" dirty="0"/>
              <a:t>Keeps context</a:t>
            </a:r>
          </a:p>
          <a:p>
            <a:endParaRPr lang="en-US" sz="1100" dirty="0"/>
          </a:p>
          <a:p>
            <a:r>
              <a:rPr lang="en-US" sz="1100" b="1" dirty="0"/>
              <a:t>▸ Planning AI</a:t>
            </a:r>
          </a:p>
          <a:p>
            <a:pPr marL="171450" indent="-171450">
              <a:buFont typeface="Arial" panose="020B0604020202020204" pitchFamily="34" charset="0"/>
              <a:buChar char="•"/>
            </a:pPr>
            <a:r>
              <a:rPr lang="en-US" sz="1100" dirty="0"/>
              <a:t>Goal-oriented Uses search, planning, or reasoning</a:t>
            </a:r>
          </a:p>
        </p:txBody>
      </p:sp>
      <p:sp>
        <p:nvSpPr>
          <p:cNvPr id="54" name="Text 5">
            <a:extLst>
              <a:ext uri="{FF2B5EF4-FFF2-40B4-BE49-F238E27FC236}">
                <a16:creationId xmlns:a16="http://schemas.microsoft.com/office/drawing/2014/main" id="{56A39A9E-55AC-643A-1F99-F5B3928ADCE8}"/>
              </a:ext>
            </a:extLst>
          </p:cNvPr>
          <p:cNvSpPr/>
          <p:nvPr/>
        </p:nvSpPr>
        <p:spPr>
          <a:xfrm>
            <a:off x="2670806" y="1267968"/>
            <a:ext cx="6061714"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system organization</a:t>
            </a:r>
          </a:p>
        </p:txBody>
      </p:sp>
      <p:sp>
        <p:nvSpPr>
          <p:cNvPr id="55" name="Shape 6">
            <a:extLst>
              <a:ext uri="{FF2B5EF4-FFF2-40B4-BE49-F238E27FC236}">
                <a16:creationId xmlns:a16="http://schemas.microsoft.com/office/drawing/2014/main" id="{3B485836-FCFE-E976-61FC-71FE4269EEC7}"/>
              </a:ext>
            </a:extLst>
          </p:cNvPr>
          <p:cNvSpPr/>
          <p:nvPr/>
        </p:nvSpPr>
        <p:spPr>
          <a:xfrm>
            <a:off x="2670806" y="1615440"/>
            <a:ext cx="6061714" cy="16459"/>
          </a:xfrm>
          <a:prstGeom prst="rect">
            <a:avLst/>
          </a:prstGeom>
          <a:solidFill>
            <a:srgbClr val="1A1A2E"/>
          </a:solidFill>
          <a:ln w="12700">
            <a:solidFill>
              <a:srgbClr val="1A1A2E"/>
            </a:solidFill>
            <a:prstDash val="solid"/>
          </a:ln>
        </p:spPr>
      </p:sp>
      <p:sp>
        <p:nvSpPr>
          <p:cNvPr id="61" name="Text 5">
            <a:extLst>
              <a:ext uri="{FF2B5EF4-FFF2-40B4-BE49-F238E27FC236}">
                <a16:creationId xmlns:a16="http://schemas.microsoft.com/office/drawing/2014/main" id="{79CD3A7F-B2FC-8D2A-7B58-0EFCB846F9A1}"/>
              </a:ext>
            </a:extLst>
          </p:cNvPr>
          <p:cNvSpPr/>
          <p:nvPr/>
        </p:nvSpPr>
        <p:spPr>
          <a:xfrm>
            <a:off x="2847971" y="1389507"/>
            <a:ext cx="2230759" cy="3064263"/>
          </a:xfrm>
          <a:prstGeom prst="rect">
            <a:avLst/>
          </a:prstGeom>
          <a:noFill/>
          <a:ln/>
        </p:spPr>
        <p:txBody>
          <a:bodyPr wrap="square" rtlCol="0" anchor="ctr"/>
          <a:lstStyle/>
          <a:p>
            <a:r>
              <a:rPr lang="en-US" sz="1100" b="1" dirty="0"/>
              <a:t>▸ Single-agent AI</a:t>
            </a:r>
          </a:p>
          <a:p>
            <a:pPr marL="171450" indent="-171450">
              <a:buFont typeface="Arial" panose="020B0604020202020204" pitchFamily="34" charset="0"/>
              <a:buChar char="•"/>
            </a:pPr>
            <a:r>
              <a:rPr lang="en-US" sz="1100" dirty="0"/>
              <a:t>One model</a:t>
            </a:r>
          </a:p>
          <a:p>
            <a:pPr marL="171450" indent="-171450">
              <a:buFont typeface="Arial" panose="020B0604020202020204" pitchFamily="34" charset="0"/>
              <a:buChar char="•"/>
            </a:pPr>
            <a:r>
              <a:rPr lang="en-US" sz="1100" dirty="0"/>
              <a:t>One task</a:t>
            </a:r>
            <a:br>
              <a:rPr lang="en-US" sz="1100" dirty="0"/>
            </a:br>
            <a:r>
              <a:rPr lang="en-US" sz="1100" dirty="0"/>
              <a:t>Example: chatbot, classifier</a:t>
            </a:r>
          </a:p>
          <a:p>
            <a:pPr marL="171450" indent="-171450">
              <a:buFont typeface="Arial" panose="020B0604020202020204" pitchFamily="34" charset="0"/>
              <a:buChar char="•"/>
            </a:pPr>
            <a:endParaRPr lang="en-US" sz="1100" dirty="0"/>
          </a:p>
          <a:p>
            <a:r>
              <a:rPr lang="en-US" sz="1100" b="1" dirty="0"/>
              <a:t>▸ Agentic AI</a:t>
            </a:r>
          </a:p>
          <a:p>
            <a:pPr marL="171450" indent="-171450">
              <a:buFont typeface="Arial" panose="020B0604020202020204" pitchFamily="34" charset="0"/>
              <a:buChar char="•"/>
            </a:pPr>
            <a:r>
              <a:rPr lang="en-US" sz="1100" dirty="0"/>
              <a:t>Has:</a:t>
            </a:r>
          </a:p>
          <a:p>
            <a:pPr marL="628650" lvl="1" indent="-171450">
              <a:buFont typeface="Arial" panose="020B0604020202020204" pitchFamily="34" charset="0"/>
              <a:buChar char="•"/>
            </a:pPr>
            <a:r>
              <a:rPr lang="en-US" sz="1100" dirty="0"/>
              <a:t>goal</a:t>
            </a:r>
          </a:p>
          <a:p>
            <a:pPr marL="628650" lvl="1" indent="-171450">
              <a:buFont typeface="Arial" panose="020B0604020202020204" pitchFamily="34" charset="0"/>
              <a:buChar char="•"/>
            </a:pPr>
            <a:r>
              <a:rPr lang="en-US" sz="1100" dirty="0"/>
              <a:t>memory</a:t>
            </a:r>
          </a:p>
          <a:p>
            <a:pPr marL="628650" lvl="1" indent="-171450">
              <a:buFont typeface="Arial" panose="020B0604020202020204" pitchFamily="34" charset="0"/>
              <a:buChar char="•"/>
            </a:pPr>
            <a:r>
              <a:rPr lang="en-US" sz="1100" dirty="0"/>
              <a:t>tool use</a:t>
            </a:r>
          </a:p>
          <a:p>
            <a:pPr marL="628650" lvl="1" indent="-171450">
              <a:buFont typeface="Arial" panose="020B0604020202020204" pitchFamily="34" charset="0"/>
              <a:buChar char="•"/>
            </a:pPr>
            <a:r>
              <a:rPr lang="en-US" sz="1100" dirty="0"/>
              <a:t>planning</a:t>
            </a:r>
          </a:p>
          <a:p>
            <a:pPr marL="171450" indent="-171450">
              <a:buFont typeface="Arial" panose="020B0604020202020204" pitchFamily="34" charset="0"/>
              <a:buChar char="•"/>
            </a:pPr>
            <a:r>
              <a:rPr lang="en-US" sz="1100" dirty="0"/>
              <a:t>Can act autonomously</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
        <p:nvSpPr>
          <p:cNvPr id="63" name="TextBox 62">
            <a:extLst>
              <a:ext uri="{FF2B5EF4-FFF2-40B4-BE49-F238E27FC236}">
                <a16:creationId xmlns:a16="http://schemas.microsoft.com/office/drawing/2014/main" id="{B7403B34-0F45-A1F2-46DD-EE21B623F046}"/>
              </a:ext>
            </a:extLst>
          </p:cNvPr>
          <p:cNvSpPr txBox="1"/>
          <p:nvPr/>
        </p:nvSpPr>
        <p:spPr>
          <a:xfrm>
            <a:off x="4804408" y="1543519"/>
            <a:ext cx="2005964" cy="2292935"/>
          </a:xfrm>
          <a:prstGeom prst="rect">
            <a:avLst/>
          </a:prstGeom>
          <a:noFill/>
        </p:spPr>
        <p:txBody>
          <a:bodyPr wrap="square">
            <a:spAutoFit/>
          </a:bodyPr>
          <a:lstStyle/>
          <a:p>
            <a:pPr marL="171450" indent="-171450">
              <a:buFont typeface="Arial" panose="020B0604020202020204" pitchFamily="34" charset="0"/>
              <a:buChar char="•"/>
            </a:pPr>
            <a:endParaRPr lang="en-US" sz="1100" dirty="0"/>
          </a:p>
          <a:p>
            <a:r>
              <a:rPr lang="en-US" sz="1100" b="1" dirty="0"/>
              <a:t>▸ Multi-agent agentic AI</a:t>
            </a:r>
          </a:p>
          <a:p>
            <a:pPr marL="171450" indent="-171450">
              <a:buFont typeface="Arial" panose="020B0604020202020204" pitchFamily="34" charset="0"/>
              <a:buChar char="•"/>
            </a:pPr>
            <a:r>
              <a:rPr lang="en-US" sz="1100" dirty="0"/>
              <a:t>Multiple autonomous agents</a:t>
            </a:r>
          </a:p>
          <a:p>
            <a:pPr marL="171450" indent="-171450">
              <a:buFont typeface="Arial" panose="020B0604020202020204" pitchFamily="34" charset="0"/>
              <a:buChar char="•"/>
            </a:pPr>
            <a:r>
              <a:rPr lang="en-US" sz="1100" dirty="0"/>
              <a:t>Each has:</a:t>
            </a:r>
          </a:p>
          <a:p>
            <a:pPr marL="628650" lvl="1" indent="-171450">
              <a:buFont typeface="Arial" panose="020B0604020202020204" pitchFamily="34" charset="0"/>
              <a:buChar char="•"/>
            </a:pPr>
            <a:r>
              <a:rPr lang="en-US" sz="1100" dirty="0"/>
              <a:t>memory</a:t>
            </a:r>
          </a:p>
          <a:p>
            <a:pPr marL="628650" lvl="1" indent="-171450">
              <a:buFont typeface="Arial" panose="020B0604020202020204" pitchFamily="34" charset="0"/>
              <a:buChar char="•"/>
            </a:pPr>
            <a:r>
              <a:rPr lang="en-US" sz="1100" dirty="0"/>
              <a:t>tools</a:t>
            </a:r>
          </a:p>
          <a:p>
            <a:pPr marL="628650" lvl="1" indent="-171450">
              <a:buFont typeface="Arial" panose="020B0604020202020204" pitchFamily="34" charset="0"/>
              <a:buChar char="•"/>
            </a:pPr>
            <a:r>
              <a:rPr lang="en-US" sz="1100" dirty="0"/>
              <a:t>goals</a:t>
            </a:r>
          </a:p>
          <a:p>
            <a:pPr marL="628650" lvl="1" indent="-171450">
              <a:buFont typeface="Arial" panose="020B0604020202020204" pitchFamily="34" charset="0"/>
              <a:buChar char="•"/>
            </a:pPr>
            <a:r>
              <a:rPr lang="en-US" sz="1100" dirty="0"/>
              <a:t>reasoning</a:t>
            </a:r>
            <a:br>
              <a:rPr lang="en-US" sz="1100" dirty="0"/>
            </a:br>
            <a:r>
              <a:rPr lang="en-US" sz="1100" dirty="0"/>
              <a:t>Used in:</a:t>
            </a:r>
          </a:p>
          <a:p>
            <a:pPr marL="171450" indent="-171450">
              <a:buFont typeface="Arial" panose="020B0604020202020204" pitchFamily="34" charset="0"/>
              <a:buChar char="•"/>
            </a:pPr>
            <a:r>
              <a:rPr lang="en-US" sz="1100" dirty="0"/>
              <a:t>simulations</a:t>
            </a:r>
          </a:p>
          <a:p>
            <a:pPr marL="171450" indent="-171450">
              <a:buFont typeface="Arial" panose="020B0604020202020204" pitchFamily="34" charset="0"/>
              <a:buChar char="•"/>
            </a:pPr>
            <a:r>
              <a:rPr lang="en-US" sz="1100" dirty="0"/>
              <a:t>SOC automation</a:t>
            </a:r>
          </a:p>
          <a:p>
            <a:pPr marL="171450" indent="-171450">
              <a:buFont typeface="Arial" panose="020B0604020202020204" pitchFamily="34" charset="0"/>
              <a:buChar char="•"/>
            </a:pPr>
            <a:r>
              <a:rPr lang="en-US" sz="1100" dirty="0"/>
              <a:t>red teaming</a:t>
            </a:r>
          </a:p>
          <a:p>
            <a:pPr marL="171450" indent="-171450">
              <a:buFont typeface="Arial" panose="020B0604020202020204" pitchFamily="34" charset="0"/>
              <a:buChar char="•"/>
            </a:pPr>
            <a:r>
              <a:rPr lang="en-US" sz="1100" dirty="0"/>
              <a:t>research systems</a:t>
            </a:r>
          </a:p>
        </p:txBody>
      </p:sp>
      <p:sp>
        <p:nvSpPr>
          <p:cNvPr id="67" name="Text 5">
            <a:extLst>
              <a:ext uri="{FF2B5EF4-FFF2-40B4-BE49-F238E27FC236}">
                <a16:creationId xmlns:a16="http://schemas.microsoft.com/office/drawing/2014/main" id="{55FDD935-EA84-E4BD-E11E-7A6AA7DACE75}"/>
              </a:ext>
            </a:extLst>
          </p:cNvPr>
          <p:cNvSpPr/>
          <p:nvPr/>
        </p:nvSpPr>
        <p:spPr>
          <a:xfrm>
            <a:off x="6840851" y="1632465"/>
            <a:ext cx="2026919" cy="1404262"/>
          </a:xfrm>
          <a:prstGeom prst="rect">
            <a:avLst/>
          </a:prstGeom>
          <a:noFill/>
          <a:ln/>
        </p:spPr>
        <p:txBody>
          <a:bodyPr wrap="square" rtlCol="0" anchor="ctr"/>
          <a:lstStyle/>
          <a:p>
            <a:endParaRPr lang="en-US" sz="1100" dirty="0"/>
          </a:p>
          <a:p>
            <a:r>
              <a:rPr lang="en-US" sz="1100" b="1" dirty="0"/>
              <a:t>▸ Multi-agent AI</a:t>
            </a:r>
          </a:p>
          <a:p>
            <a:pPr marL="171450" indent="-171450">
              <a:buFont typeface="Arial" panose="020B0604020202020204" pitchFamily="34" charset="0"/>
              <a:buChar char="•"/>
            </a:pPr>
            <a:r>
              <a:rPr lang="en-US" sz="1100" dirty="0"/>
              <a:t>Multiple agents</a:t>
            </a:r>
          </a:p>
          <a:p>
            <a:pPr marL="171450" indent="-171450">
              <a:buFont typeface="Arial" panose="020B0604020202020204" pitchFamily="34" charset="0"/>
              <a:buChar char="•"/>
            </a:pPr>
            <a:r>
              <a:rPr lang="en-US" sz="1100" dirty="0"/>
              <a:t>Communicate and coordinate</a:t>
            </a:r>
          </a:p>
          <a:p>
            <a:pPr marL="171450" indent="-171450">
              <a:buFont typeface="Arial" panose="020B0604020202020204" pitchFamily="34" charset="0"/>
              <a:buChar char="•"/>
            </a:pPr>
            <a:r>
              <a:rPr lang="en-US" sz="1100" dirty="0"/>
              <a:t>Can be cooperative or competitive</a:t>
            </a:r>
          </a:p>
          <a:p>
            <a:pPr marL="171450" indent="-171450">
              <a:buFont typeface="Arial" panose="020B0604020202020204" pitchFamily="34" charset="0"/>
              <a:buChar char="•"/>
            </a:pPr>
            <a:endParaRPr lang="en-US" sz="1100" dirty="0"/>
          </a:p>
          <a:p>
            <a:pPr marL="171450" indent="-171450">
              <a:buFont typeface="Arial" panose="020B0604020202020204" pitchFamily="34" charset="0"/>
              <a:buChar char="•"/>
            </a:pPr>
            <a:endParaRPr lang="en-US" sz="1100" dirty="0"/>
          </a:p>
        </p:txBody>
      </p:sp>
    </p:spTree>
    <p:extLst>
      <p:ext uri="{BB962C8B-B14F-4D97-AF65-F5344CB8AC3E}">
        <p14:creationId xmlns:p14="http://schemas.microsoft.com/office/powerpoint/2010/main" val="41896814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a:extLst>
            <a:ext uri="{FF2B5EF4-FFF2-40B4-BE49-F238E27FC236}">
              <a16:creationId xmlns:a16="http://schemas.microsoft.com/office/drawing/2014/main" id="{841DC5B2-6979-3B8D-9E8D-D1DBD15AC1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5B6AA00-CB04-4950-B646-F29E1D3DDE7F}"/>
              </a:ext>
            </a:extLst>
          </p:cNvPr>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1 · FOUNDATIONS · SLIDE 3/3</a:t>
            </a:r>
            <a:endParaRPr lang="en-US" sz="900" dirty="0"/>
          </a:p>
        </p:txBody>
      </p:sp>
      <p:sp>
        <p:nvSpPr>
          <p:cNvPr id="3" name="Shape 1">
            <a:extLst>
              <a:ext uri="{FF2B5EF4-FFF2-40B4-BE49-F238E27FC236}">
                <a16:creationId xmlns:a16="http://schemas.microsoft.com/office/drawing/2014/main" id="{C165210A-064E-C0AA-86BE-416AEF1A79F5}"/>
              </a:ext>
            </a:extLst>
          </p:cNvPr>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a:extLst>
              <a:ext uri="{FF2B5EF4-FFF2-40B4-BE49-F238E27FC236}">
                <a16:creationId xmlns:a16="http://schemas.microsoft.com/office/drawing/2014/main" id="{F6FB1226-6969-0BE2-FBFC-5ED9C2982184}"/>
              </a:ext>
            </a:extLst>
          </p:cNvPr>
          <p:cNvSpPr/>
          <p:nvPr/>
        </p:nvSpPr>
        <p:spPr>
          <a:xfrm>
            <a:off x="502919" y="658368"/>
            <a:ext cx="45719" cy="3918204"/>
          </a:xfrm>
          <a:prstGeom prst="rect">
            <a:avLst/>
          </a:prstGeom>
          <a:solidFill>
            <a:srgbClr val="1A1A2E"/>
          </a:solidFill>
          <a:ln w="12700">
            <a:solidFill>
              <a:srgbClr val="1A1A2E"/>
            </a:solidFill>
            <a:prstDash val="solid"/>
          </a:ln>
        </p:spPr>
      </p:sp>
      <p:sp>
        <p:nvSpPr>
          <p:cNvPr id="5" name="Text 3">
            <a:extLst>
              <a:ext uri="{FF2B5EF4-FFF2-40B4-BE49-F238E27FC236}">
                <a16:creationId xmlns:a16="http://schemas.microsoft.com/office/drawing/2014/main" id="{E412745A-C1F7-FD60-43A1-71218D4E5A86}"/>
              </a:ext>
            </a:extLst>
          </p:cNvPr>
          <p:cNvSpPr/>
          <p:nvPr/>
        </p:nvSpPr>
        <p:spPr>
          <a:xfrm>
            <a:off x="685800" y="640080"/>
            <a:ext cx="8046720" cy="658368"/>
          </a:xfrm>
          <a:prstGeom prst="rect">
            <a:avLst/>
          </a:prstGeom>
          <a:noFill/>
          <a:ln/>
        </p:spPr>
        <p:txBody>
          <a:bodyPr wrap="square" rtlCol="0" anchor="ctr"/>
          <a:lstStyle/>
          <a:p>
            <a:r>
              <a:rPr lang="en-US" sz="2600" b="1" dirty="0">
                <a:solidFill>
                  <a:srgbClr val="111111"/>
                </a:solidFill>
                <a:latin typeface="Calibri" pitchFamily="34" charset="0"/>
                <a:ea typeface="Calibri" pitchFamily="34" charset="-122"/>
                <a:cs typeface="Calibri" pitchFamily="34" charset="-120"/>
              </a:rPr>
              <a:t>AI model classification and specification</a:t>
            </a:r>
            <a:endParaRPr lang="en-US" sz="2600" dirty="0"/>
          </a:p>
        </p:txBody>
      </p:sp>
      <p:sp>
        <p:nvSpPr>
          <p:cNvPr id="7" name="Text 5">
            <a:extLst>
              <a:ext uri="{FF2B5EF4-FFF2-40B4-BE49-F238E27FC236}">
                <a16:creationId xmlns:a16="http://schemas.microsoft.com/office/drawing/2014/main" id="{8863E6EC-5ABD-B556-A9C8-DB2E3EE82A50}"/>
              </a:ext>
            </a:extLst>
          </p:cNvPr>
          <p:cNvSpPr/>
          <p:nvPr/>
        </p:nvSpPr>
        <p:spPr>
          <a:xfrm>
            <a:off x="502920" y="1664208"/>
            <a:ext cx="320040" cy="274320"/>
          </a:xfrm>
          <a:prstGeom prst="rect">
            <a:avLst/>
          </a:prstGeom>
          <a:noFill/>
          <a:ln/>
        </p:spPr>
        <p:txBody>
          <a:bodyPr wrap="square"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LVL</a:t>
            </a:r>
            <a:endParaRPr lang="en-US" sz="1000" dirty="0"/>
          </a:p>
        </p:txBody>
      </p:sp>
      <p:sp>
        <p:nvSpPr>
          <p:cNvPr id="48" name="Text 5">
            <a:extLst>
              <a:ext uri="{FF2B5EF4-FFF2-40B4-BE49-F238E27FC236}">
                <a16:creationId xmlns:a16="http://schemas.microsoft.com/office/drawing/2014/main" id="{F31FD3DF-74B2-FBD0-A576-CD008A3DC19F}"/>
              </a:ext>
            </a:extLst>
          </p:cNvPr>
          <p:cNvSpPr/>
          <p:nvPr/>
        </p:nvSpPr>
        <p:spPr>
          <a:xfrm>
            <a:off x="502920" y="1267968"/>
            <a:ext cx="1920240"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control structure</a:t>
            </a:r>
          </a:p>
        </p:txBody>
      </p:sp>
      <p:sp>
        <p:nvSpPr>
          <p:cNvPr id="49" name="Shape 6">
            <a:extLst>
              <a:ext uri="{FF2B5EF4-FFF2-40B4-BE49-F238E27FC236}">
                <a16:creationId xmlns:a16="http://schemas.microsoft.com/office/drawing/2014/main" id="{DFA255BD-FC76-900B-50ED-39433007B300}"/>
              </a:ext>
            </a:extLst>
          </p:cNvPr>
          <p:cNvSpPr/>
          <p:nvPr/>
        </p:nvSpPr>
        <p:spPr>
          <a:xfrm>
            <a:off x="502920" y="1615440"/>
            <a:ext cx="1920240" cy="16459"/>
          </a:xfrm>
          <a:prstGeom prst="rect">
            <a:avLst/>
          </a:prstGeom>
          <a:solidFill>
            <a:srgbClr val="1A1A2E"/>
          </a:solidFill>
          <a:ln w="12700">
            <a:solidFill>
              <a:srgbClr val="1A1A2E"/>
            </a:solidFill>
            <a:prstDash val="solid"/>
          </a:ln>
        </p:spPr>
      </p:sp>
      <p:sp>
        <p:nvSpPr>
          <p:cNvPr id="50" name="Text 5">
            <a:extLst>
              <a:ext uri="{FF2B5EF4-FFF2-40B4-BE49-F238E27FC236}">
                <a16:creationId xmlns:a16="http://schemas.microsoft.com/office/drawing/2014/main" id="{2484EF9E-C882-9091-B780-1FD1CB6D2BE9}"/>
              </a:ext>
            </a:extLst>
          </p:cNvPr>
          <p:cNvSpPr/>
          <p:nvPr/>
        </p:nvSpPr>
        <p:spPr>
          <a:xfrm>
            <a:off x="600076" y="1679089"/>
            <a:ext cx="1920240" cy="1983696"/>
          </a:xfrm>
          <a:prstGeom prst="rect">
            <a:avLst/>
          </a:prstGeom>
          <a:noFill/>
          <a:ln/>
        </p:spPr>
        <p:txBody>
          <a:bodyPr wrap="square" rtlCol="0" anchor="ctr"/>
          <a:lstStyle/>
          <a:p>
            <a:r>
              <a:rPr lang="en-US" sz="1100" b="1" dirty="0"/>
              <a:t>▸ Orchestrated systems</a:t>
            </a:r>
          </a:p>
          <a:p>
            <a:r>
              <a:rPr lang="en-US" sz="1100" dirty="0"/>
              <a:t>Central controller</a:t>
            </a:r>
          </a:p>
          <a:p>
            <a:r>
              <a:rPr lang="en-US" sz="1100" dirty="0"/>
              <a:t>Assigns tasks to agents</a:t>
            </a:r>
          </a:p>
          <a:p>
            <a:endParaRPr lang="en-US" sz="1100" dirty="0"/>
          </a:p>
          <a:p>
            <a:r>
              <a:rPr lang="en-US" sz="1100" b="1" dirty="0"/>
              <a:t>▸ Decentralized systems</a:t>
            </a:r>
          </a:p>
          <a:p>
            <a:r>
              <a:rPr lang="en-US" sz="1100" dirty="0"/>
              <a:t>No central boss</a:t>
            </a:r>
          </a:p>
          <a:p>
            <a:r>
              <a:rPr lang="en-US" sz="1100" dirty="0"/>
              <a:t>Agents self-coordinate</a:t>
            </a:r>
          </a:p>
          <a:p>
            <a:endParaRPr lang="en-US" sz="1100" dirty="0"/>
          </a:p>
          <a:p>
            <a:r>
              <a:rPr lang="en-US" sz="1100" b="1" dirty="0"/>
              <a:t>▸ Hierarchical systems</a:t>
            </a:r>
          </a:p>
          <a:p>
            <a:r>
              <a:rPr lang="en-US" sz="1100" dirty="0"/>
              <a:t>Manager agent + worker agents</a:t>
            </a:r>
          </a:p>
        </p:txBody>
      </p:sp>
      <p:sp>
        <p:nvSpPr>
          <p:cNvPr id="54" name="Text 5">
            <a:extLst>
              <a:ext uri="{FF2B5EF4-FFF2-40B4-BE49-F238E27FC236}">
                <a16:creationId xmlns:a16="http://schemas.microsoft.com/office/drawing/2014/main" id="{2C9EB6C8-3EA8-F226-1EAA-3F763091458E}"/>
              </a:ext>
            </a:extLst>
          </p:cNvPr>
          <p:cNvSpPr/>
          <p:nvPr/>
        </p:nvSpPr>
        <p:spPr>
          <a:xfrm>
            <a:off x="2585081" y="1267968"/>
            <a:ext cx="2230760"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knowledge source</a:t>
            </a:r>
          </a:p>
        </p:txBody>
      </p:sp>
      <p:sp>
        <p:nvSpPr>
          <p:cNvPr id="55" name="Shape 6">
            <a:extLst>
              <a:ext uri="{FF2B5EF4-FFF2-40B4-BE49-F238E27FC236}">
                <a16:creationId xmlns:a16="http://schemas.microsoft.com/office/drawing/2014/main" id="{4A59E0D0-9371-E06F-7AF2-CCA0E8C9046C}"/>
              </a:ext>
            </a:extLst>
          </p:cNvPr>
          <p:cNvSpPr/>
          <p:nvPr/>
        </p:nvSpPr>
        <p:spPr>
          <a:xfrm>
            <a:off x="2585081" y="1615440"/>
            <a:ext cx="2230760" cy="16459"/>
          </a:xfrm>
          <a:prstGeom prst="rect">
            <a:avLst/>
          </a:prstGeom>
          <a:solidFill>
            <a:srgbClr val="1A1A2E"/>
          </a:solidFill>
          <a:ln w="12700">
            <a:solidFill>
              <a:srgbClr val="1A1A2E"/>
            </a:solidFill>
            <a:prstDash val="solid"/>
          </a:ln>
        </p:spPr>
      </p:sp>
      <p:sp>
        <p:nvSpPr>
          <p:cNvPr id="61" name="Text 5">
            <a:extLst>
              <a:ext uri="{FF2B5EF4-FFF2-40B4-BE49-F238E27FC236}">
                <a16:creationId xmlns:a16="http://schemas.microsoft.com/office/drawing/2014/main" id="{D60FE85F-342B-03FC-3B74-1D709EB09BC3}"/>
              </a:ext>
            </a:extLst>
          </p:cNvPr>
          <p:cNvSpPr/>
          <p:nvPr/>
        </p:nvSpPr>
        <p:spPr>
          <a:xfrm>
            <a:off x="2682237" y="1389507"/>
            <a:ext cx="2133604" cy="3064263"/>
          </a:xfrm>
          <a:prstGeom prst="rect">
            <a:avLst/>
          </a:prstGeom>
          <a:noFill/>
          <a:ln/>
        </p:spPr>
        <p:txBody>
          <a:bodyPr wrap="square" rtlCol="0" anchor="ctr"/>
          <a:lstStyle/>
          <a:p>
            <a:r>
              <a:rPr lang="en-US" sz="1100" b="1" dirty="0"/>
              <a:t>▸ Static AI</a:t>
            </a:r>
          </a:p>
          <a:p>
            <a:pPr marL="171450" indent="-171450">
              <a:buFont typeface="Arial" panose="020B0604020202020204" pitchFamily="34" charset="0"/>
              <a:buChar char="•"/>
            </a:pPr>
            <a:r>
              <a:rPr lang="en-US" sz="1100" dirty="0"/>
              <a:t>Only trained data</a:t>
            </a:r>
          </a:p>
          <a:p>
            <a:pPr marL="171450" indent="-171450">
              <a:buFont typeface="Arial" panose="020B0604020202020204" pitchFamily="34" charset="0"/>
              <a:buChar char="•"/>
            </a:pPr>
            <a:r>
              <a:rPr lang="en-US" sz="1100" dirty="0"/>
              <a:t>No external retrieval</a:t>
            </a:r>
          </a:p>
          <a:p>
            <a:r>
              <a:rPr lang="en-US" sz="1100" b="1" dirty="0"/>
              <a:t>▸ Retrieval-Augmented AI (RAG)</a:t>
            </a:r>
          </a:p>
          <a:p>
            <a:r>
              <a:rPr lang="en-US" sz="1100" dirty="0"/>
              <a:t>Uses:</a:t>
            </a:r>
          </a:p>
          <a:p>
            <a:pPr marL="628650" lvl="1" indent="-171450">
              <a:buFont typeface="Arial" panose="020B0604020202020204" pitchFamily="34" charset="0"/>
              <a:buChar char="•"/>
            </a:pPr>
            <a:r>
              <a:rPr lang="en-US" sz="1100" dirty="0"/>
              <a:t>vector DB</a:t>
            </a:r>
          </a:p>
          <a:p>
            <a:pPr marL="628650" lvl="1" indent="-171450">
              <a:buFont typeface="Arial" panose="020B0604020202020204" pitchFamily="34" charset="0"/>
              <a:buChar char="•"/>
            </a:pPr>
            <a:r>
              <a:rPr lang="en-US" sz="1100" dirty="0"/>
              <a:t>documents</a:t>
            </a:r>
          </a:p>
          <a:p>
            <a:pPr marL="628650" lvl="1" indent="-171450">
              <a:buFont typeface="Arial" panose="020B0604020202020204" pitchFamily="34" charset="0"/>
              <a:buChar char="•"/>
            </a:pPr>
            <a:r>
              <a:rPr lang="en-US" sz="1100" dirty="0"/>
              <a:t>search</a:t>
            </a:r>
            <a:br>
              <a:rPr lang="en-US" sz="1100" dirty="0"/>
            </a:br>
            <a:r>
              <a:rPr lang="en-US" sz="1100" dirty="0"/>
              <a:t>Then generates answers</a:t>
            </a:r>
          </a:p>
          <a:p>
            <a:r>
              <a:rPr lang="en-US" sz="1100" b="1" dirty="0"/>
              <a:t>▸ Tool-augmented AI</a:t>
            </a:r>
          </a:p>
          <a:p>
            <a:pPr marL="171450" indent="-171450">
              <a:buFont typeface="Arial" panose="020B0604020202020204" pitchFamily="34" charset="0"/>
              <a:buChar char="•"/>
            </a:pPr>
            <a:r>
              <a:rPr lang="en-US" sz="1100" dirty="0"/>
              <a:t>Calls APIs</a:t>
            </a:r>
          </a:p>
          <a:p>
            <a:pPr marL="171450" indent="-171450">
              <a:buFont typeface="Arial" panose="020B0604020202020204" pitchFamily="34" charset="0"/>
              <a:buChar char="•"/>
            </a:pPr>
            <a:r>
              <a:rPr lang="en-US" sz="1100" dirty="0"/>
              <a:t>Uses code</a:t>
            </a:r>
          </a:p>
          <a:p>
            <a:pPr marL="171450" indent="-171450">
              <a:buFont typeface="Arial" panose="020B0604020202020204" pitchFamily="34" charset="0"/>
              <a:buChar char="•"/>
            </a:pPr>
            <a:r>
              <a:rPr lang="en-US" sz="1100" dirty="0"/>
              <a:t>Controls systems</a:t>
            </a:r>
          </a:p>
        </p:txBody>
      </p:sp>
      <p:sp>
        <p:nvSpPr>
          <p:cNvPr id="6" name="Text 5">
            <a:extLst>
              <a:ext uri="{FF2B5EF4-FFF2-40B4-BE49-F238E27FC236}">
                <a16:creationId xmlns:a16="http://schemas.microsoft.com/office/drawing/2014/main" id="{57837801-66AD-C8FC-C0FE-CDC67C826EBA}"/>
              </a:ext>
            </a:extLst>
          </p:cNvPr>
          <p:cNvSpPr/>
          <p:nvPr/>
        </p:nvSpPr>
        <p:spPr>
          <a:xfrm>
            <a:off x="4987287" y="1267968"/>
            <a:ext cx="1880238"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learning style</a:t>
            </a:r>
          </a:p>
        </p:txBody>
      </p:sp>
      <p:sp>
        <p:nvSpPr>
          <p:cNvPr id="8" name="Shape 6">
            <a:extLst>
              <a:ext uri="{FF2B5EF4-FFF2-40B4-BE49-F238E27FC236}">
                <a16:creationId xmlns:a16="http://schemas.microsoft.com/office/drawing/2014/main" id="{AFC29277-82E3-F4EE-8BA9-9B50D38C45CE}"/>
              </a:ext>
            </a:extLst>
          </p:cNvPr>
          <p:cNvSpPr/>
          <p:nvPr/>
        </p:nvSpPr>
        <p:spPr>
          <a:xfrm>
            <a:off x="5044437" y="1615440"/>
            <a:ext cx="1880238" cy="16459"/>
          </a:xfrm>
          <a:prstGeom prst="rect">
            <a:avLst/>
          </a:prstGeom>
          <a:solidFill>
            <a:srgbClr val="1A1A2E"/>
          </a:solidFill>
          <a:ln w="12700">
            <a:solidFill>
              <a:srgbClr val="1A1A2E"/>
            </a:solidFill>
            <a:prstDash val="solid"/>
          </a:ln>
        </p:spPr>
      </p:sp>
      <p:sp>
        <p:nvSpPr>
          <p:cNvPr id="15" name="Text 5">
            <a:extLst>
              <a:ext uri="{FF2B5EF4-FFF2-40B4-BE49-F238E27FC236}">
                <a16:creationId xmlns:a16="http://schemas.microsoft.com/office/drawing/2014/main" id="{3CA9E3ED-E09F-EC43-709B-325C8289B1F9}"/>
              </a:ext>
            </a:extLst>
          </p:cNvPr>
          <p:cNvSpPr/>
          <p:nvPr/>
        </p:nvSpPr>
        <p:spPr>
          <a:xfrm>
            <a:off x="4987287" y="1679088"/>
            <a:ext cx="2133604" cy="1636985"/>
          </a:xfrm>
          <a:prstGeom prst="rect">
            <a:avLst/>
          </a:prstGeom>
          <a:noFill/>
          <a:ln/>
        </p:spPr>
        <p:txBody>
          <a:bodyPr wrap="square" rtlCol="0" anchor="ctr"/>
          <a:lstStyle/>
          <a:p>
            <a:pPr marL="171450" indent="-171450">
              <a:buFont typeface="Arial" panose="020B0604020202020204" pitchFamily="34" charset="0"/>
              <a:buChar char="•"/>
            </a:pPr>
            <a:r>
              <a:rPr lang="en-US" sz="1100" dirty="0"/>
              <a:t>Supervised learning</a:t>
            </a:r>
          </a:p>
          <a:p>
            <a:pPr marL="171450" indent="-171450">
              <a:buFont typeface="Arial" panose="020B0604020202020204" pitchFamily="34" charset="0"/>
              <a:buChar char="•"/>
            </a:pPr>
            <a:r>
              <a:rPr lang="en-US" sz="1100" dirty="0"/>
              <a:t>Unsupervised learning</a:t>
            </a:r>
          </a:p>
          <a:p>
            <a:pPr marL="171450" indent="-171450">
              <a:buFont typeface="Arial" panose="020B0604020202020204" pitchFamily="34" charset="0"/>
              <a:buChar char="•"/>
            </a:pPr>
            <a:r>
              <a:rPr lang="en-US" sz="1100" dirty="0"/>
              <a:t>Semi-supervised learning</a:t>
            </a:r>
          </a:p>
          <a:p>
            <a:pPr marL="171450" indent="-171450">
              <a:buFont typeface="Arial" panose="020B0604020202020204" pitchFamily="34" charset="0"/>
              <a:buChar char="•"/>
            </a:pPr>
            <a:r>
              <a:rPr lang="en-US" sz="1100" dirty="0"/>
              <a:t>Reinforcement learning</a:t>
            </a:r>
          </a:p>
          <a:p>
            <a:pPr marL="171450" indent="-171450">
              <a:buFont typeface="Arial" panose="020B0604020202020204" pitchFamily="34" charset="0"/>
              <a:buChar char="•"/>
            </a:pPr>
            <a:r>
              <a:rPr lang="en-US" sz="1100" dirty="0"/>
              <a:t>Self-supervised learning</a:t>
            </a:r>
          </a:p>
          <a:p>
            <a:pPr marL="171450" indent="-171450">
              <a:buFont typeface="Arial" panose="020B0604020202020204" pitchFamily="34" charset="0"/>
              <a:buChar char="•"/>
            </a:pPr>
            <a:r>
              <a:rPr lang="en-US" sz="1100" dirty="0"/>
              <a:t>Online learning</a:t>
            </a:r>
          </a:p>
          <a:p>
            <a:pPr marL="171450" indent="-171450">
              <a:buFont typeface="Arial" panose="020B0604020202020204" pitchFamily="34" charset="0"/>
              <a:buChar char="•"/>
            </a:pPr>
            <a:r>
              <a:rPr lang="en-US" sz="1100" dirty="0"/>
              <a:t>Federated learning</a:t>
            </a:r>
          </a:p>
          <a:p>
            <a:endParaRPr lang="en-US" sz="1100" dirty="0"/>
          </a:p>
        </p:txBody>
      </p:sp>
      <p:sp>
        <p:nvSpPr>
          <p:cNvPr id="20" name="Text 5">
            <a:extLst>
              <a:ext uri="{FF2B5EF4-FFF2-40B4-BE49-F238E27FC236}">
                <a16:creationId xmlns:a16="http://schemas.microsoft.com/office/drawing/2014/main" id="{91487C1B-5409-A284-DEE9-04C2AF2E2876}"/>
              </a:ext>
            </a:extLst>
          </p:cNvPr>
          <p:cNvSpPr/>
          <p:nvPr/>
        </p:nvSpPr>
        <p:spPr>
          <a:xfrm>
            <a:off x="7120889" y="1267968"/>
            <a:ext cx="2213611" cy="347472"/>
          </a:xfrm>
          <a:prstGeom prst="rect">
            <a:avLst/>
          </a:prstGeom>
          <a:noFill/>
          <a:ln/>
        </p:spPr>
        <p:txBody>
          <a:bodyPr wrap="square" rtlCol="0" anchor="ctr"/>
          <a:lstStyle/>
          <a:p>
            <a:r>
              <a:rPr lang="en-US" sz="1100" b="1" kern="0" spc="200" dirty="0">
                <a:solidFill>
                  <a:srgbClr val="1A1A2E"/>
                </a:solidFill>
                <a:latin typeface="Calibri" pitchFamily="34" charset="0"/>
                <a:ea typeface="Calibri" pitchFamily="34" charset="-122"/>
                <a:cs typeface="Calibri" pitchFamily="34" charset="-120"/>
              </a:rPr>
              <a:t>By capability level</a:t>
            </a:r>
          </a:p>
        </p:txBody>
      </p:sp>
      <p:sp>
        <p:nvSpPr>
          <p:cNvPr id="21" name="Shape 6">
            <a:extLst>
              <a:ext uri="{FF2B5EF4-FFF2-40B4-BE49-F238E27FC236}">
                <a16:creationId xmlns:a16="http://schemas.microsoft.com/office/drawing/2014/main" id="{B4A966C2-8C37-CB9F-7613-CB79E1346546}"/>
              </a:ext>
            </a:extLst>
          </p:cNvPr>
          <p:cNvSpPr/>
          <p:nvPr/>
        </p:nvSpPr>
        <p:spPr>
          <a:xfrm>
            <a:off x="7120889" y="1615440"/>
            <a:ext cx="1672065" cy="16459"/>
          </a:xfrm>
          <a:prstGeom prst="rect">
            <a:avLst/>
          </a:prstGeom>
          <a:solidFill>
            <a:srgbClr val="1A1A2E"/>
          </a:solidFill>
          <a:ln w="12700">
            <a:solidFill>
              <a:srgbClr val="1A1A2E"/>
            </a:solidFill>
            <a:prstDash val="solid"/>
          </a:ln>
        </p:spPr>
      </p:sp>
      <p:sp>
        <p:nvSpPr>
          <p:cNvPr id="23" name="Text 5">
            <a:extLst>
              <a:ext uri="{FF2B5EF4-FFF2-40B4-BE49-F238E27FC236}">
                <a16:creationId xmlns:a16="http://schemas.microsoft.com/office/drawing/2014/main" id="{1808973D-9B4A-2644-CA93-57CA17BB5EAC}"/>
              </a:ext>
            </a:extLst>
          </p:cNvPr>
          <p:cNvSpPr/>
          <p:nvPr/>
        </p:nvSpPr>
        <p:spPr>
          <a:xfrm>
            <a:off x="7120889" y="1464840"/>
            <a:ext cx="2133604" cy="1106909"/>
          </a:xfrm>
          <a:prstGeom prst="rect">
            <a:avLst/>
          </a:prstGeom>
          <a:noFill/>
          <a:ln/>
        </p:spPr>
        <p:txBody>
          <a:bodyPr wrap="square" rtlCol="0" anchor="ctr"/>
          <a:lstStyle/>
          <a:p>
            <a:pPr marL="171450" indent="-171450">
              <a:buFont typeface="Arial" panose="020B0604020202020204" pitchFamily="34" charset="0"/>
              <a:buChar char="•"/>
            </a:pPr>
            <a:r>
              <a:rPr lang="it-IT" sz="1100" dirty="0"/>
              <a:t>Narrow AI (ANI)</a:t>
            </a:r>
          </a:p>
          <a:p>
            <a:pPr marL="171450" indent="-171450">
              <a:buFont typeface="Arial" panose="020B0604020202020204" pitchFamily="34" charset="0"/>
              <a:buChar char="•"/>
            </a:pPr>
            <a:r>
              <a:rPr lang="it-IT" sz="1100" dirty="0"/>
              <a:t>General AI (AGI)</a:t>
            </a:r>
          </a:p>
          <a:p>
            <a:pPr marL="171450" indent="-171450">
              <a:buFont typeface="Arial" panose="020B0604020202020204" pitchFamily="34" charset="0"/>
              <a:buChar char="•"/>
            </a:pPr>
            <a:r>
              <a:rPr lang="it-IT" sz="1100" dirty="0"/>
              <a:t>Superintelligence (ASI)</a:t>
            </a:r>
          </a:p>
        </p:txBody>
      </p:sp>
    </p:spTree>
    <p:extLst>
      <p:ext uri="{BB962C8B-B14F-4D97-AF65-F5344CB8AC3E}">
        <p14:creationId xmlns:p14="http://schemas.microsoft.com/office/powerpoint/2010/main" val="21267648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6">
    <p:bg>
      <p:bgPr>
        <a:solidFill>
          <a:srgbClr val="1565C0"/>
        </a:solidFill>
        <a:effectLst/>
      </p:bgPr>
    </p:bg>
    <p:spTree>
      <p:nvGrpSpPr>
        <p:cNvPr id="1" name=""/>
        <p:cNvGrpSpPr/>
        <p:nvPr/>
      </p:nvGrpSpPr>
      <p:grpSpPr>
        <a:xfrm>
          <a:off x="0" y="0"/>
          <a:ext cx="0" cy="0"/>
          <a:chOff x="0" y="0"/>
          <a:chExt cx="0" cy="0"/>
        </a:xfrm>
      </p:grpSpPr>
      <p:sp>
        <p:nvSpPr>
          <p:cNvPr id="2" name="Text 0"/>
          <p:cNvSpPr/>
          <p:nvPr/>
        </p:nvSpPr>
        <p:spPr>
          <a:xfrm>
            <a:off x="548640" y="1427958"/>
            <a:ext cx="7772400" cy="457200"/>
          </a:xfrm>
          <a:prstGeom prst="rect">
            <a:avLst/>
          </a:prstGeom>
          <a:noFill/>
          <a:ln/>
        </p:spPr>
        <p:txBody>
          <a:bodyPr wrap="square"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PART 2</a:t>
            </a:r>
            <a:endParaRPr lang="en-US" sz="1300" dirty="0"/>
          </a:p>
        </p:txBody>
      </p:sp>
      <p:sp>
        <p:nvSpPr>
          <p:cNvPr id="3" name="Text 1"/>
          <p:cNvSpPr/>
          <p:nvPr/>
        </p:nvSpPr>
        <p:spPr>
          <a:xfrm>
            <a:off x="548640" y="1839438"/>
            <a:ext cx="77724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Blue Team</a:t>
            </a:r>
            <a:endParaRPr lang="en-US" sz="4400" dirty="0"/>
          </a:p>
        </p:txBody>
      </p:sp>
      <p:sp>
        <p:nvSpPr>
          <p:cNvPr id="4" name="Text 2"/>
          <p:cNvSpPr/>
          <p:nvPr/>
        </p:nvSpPr>
        <p:spPr>
          <a:xfrm>
            <a:off x="548640" y="2845278"/>
            <a:ext cx="7772400" cy="548640"/>
          </a:xfrm>
          <a:prstGeom prst="rect">
            <a:avLst/>
          </a:prstGeom>
          <a:noFill/>
          <a:ln/>
        </p:spPr>
        <p:txBody>
          <a:bodyPr wrap="square" rtlCol="0" anchor="ctr"/>
          <a:lstStyle/>
          <a:p>
            <a:pPr marL="0" indent="0">
              <a:buNone/>
            </a:pPr>
            <a:r>
              <a:rPr lang="en-US" sz="1600" i="1" dirty="0">
                <a:solidFill>
                  <a:srgbClr val="CCCCCC"/>
                </a:solidFill>
                <a:latin typeface="Calibri" pitchFamily="34" charset="0"/>
                <a:ea typeface="Calibri" pitchFamily="34" charset="-122"/>
                <a:cs typeface="Calibri" pitchFamily="34" charset="-120"/>
              </a:rPr>
              <a:t>Defensive capabilities — autonomous monitoring, response, and SOC augmentation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2 · BLUE TEAM · SLIDE 1/3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Autonomous Monitoring &amp; Detection</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4.1.1 — From passive rules to active agentic observation</a:t>
            </a:r>
            <a:endParaRPr lang="en-US" sz="1400" dirty="0"/>
          </a:p>
        </p:txBody>
      </p:sp>
      <p:sp>
        <p:nvSpPr>
          <p:cNvPr id="7" name="Text 5"/>
          <p:cNvSpPr/>
          <p:nvPr/>
        </p:nvSpPr>
        <p:spPr>
          <a:xfrm>
            <a:off x="502920" y="1664208"/>
            <a:ext cx="3749040" cy="347472"/>
          </a:xfrm>
          <a:prstGeom prst="rect">
            <a:avLst/>
          </a:prstGeom>
          <a:noFill/>
          <a:ln/>
        </p:spPr>
        <p:txBody>
          <a:bodyPr wrap="square" rtlCol="0" anchor="ctr"/>
          <a:lstStyle/>
          <a:p>
            <a:pPr marL="0" indent="0">
              <a:buNone/>
            </a:pPr>
            <a:r>
              <a:rPr lang="en-US" sz="1100" b="1" kern="0" spc="200" dirty="0">
                <a:solidFill>
                  <a:srgbClr val="444444"/>
                </a:solidFill>
                <a:latin typeface="Calibri" pitchFamily="34" charset="0"/>
                <a:ea typeface="Calibri" pitchFamily="34" charset="-122"/>
                <a:cs typeface="Calibri" pitchFamily="34" charset="-120"/>
              </a:rPr>
              <a:t>CLASSICAL / RULE-BASED</a:t>
            </a:r>
            <a:endParaRPr lang="en-US" sz="1100" dirty="0"/>
          </a:p>
        </p:txBody>
      </p:sp>
      <p:sp>
        <p:nvSpPr>
          <p:cNvPr id="8" name="Shape 6"/>
          <p:cNvSpPr/>
          <p:nvPr/>
        </p:nvSpPr>
        <p:spPr>
          <a:xfrm>
            <a:off x="502920" y="2011680"/>
            <a:ext cx="3749040" cy="16459"/>
          </a:xfrm>
          <a:prstGeom prst="rect">
            <a:avLst/>
          </a:prstGeom>
          <a:solidFill>
            <a:srgbClr val="444444"/>
          </a:solidFill>
          <a:ln w="12700">
            <a:solidFill>
              <a:srgbClr val="444444"/>
            </a:solidFill>
            <a:prstDash val="solid"/>
          </a:ln>
        </p:spPr>
      </p:sp>
      <p:sp>
        <p:nvSpPr>
          <p:cNvPr id="9" name="Text 7"/>
          <p:cNvSpPr/>
          <p:nvPr/>
        </p:nvSpPr>
        <p:spPr>
          <a:xfrm>
            <a:off x="502920" y="2084832"/>
            <a:ext cx="374904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Evaluates alerts against fixed thresholds and predefined rules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Operates on predefined, static data streams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Cannot adapt when attack patterns or network behavior evolves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Low false-negative rate on known patterns; fails on novel attacks</a:t>
            </a:r>
            <a:endParaRPr lang="en-US" sz="1300" dirty="0"/>
          </a:p>
        </p:txBody>
      </p:sp>
      <p:sp>
        <p:nvSpPr>
          <p:cNvPr id="10" name="Text 8"/>
          <p:cNvSpPr/>
          <p:nvPr/>
        </p:nvSpPr>
        <p:spPr>
          <a:xfrm>
            <a:off x="4846320" y="1664208"/>
            <a:ext cx="3840480" cy="347472"/>
          </a:xfrm>
          <a:prstGeom prst="rect">
            <a:avLst/>
          </a:prstGeom>
          <a:noFill/>
          <a:ln/>
        </p:spPr>
        <p:txBody>
          <a:bodyPr wrap="square" rtlCol="0" anchor="ctr"/>
          <a:lstStyle/>
          <a:p>
            <a:pPr marL="0" indent="0">
              <a:buNone/>
            </a:pPr>
            <a:r>
              <a:rPr lang="en-US" sz="1100" b="1" kern="0" spc="200" dirty="0">
                <a:solidFill>
                  <a:srgbClr val="1565C0"/>
                </a:solidFill>
                <a:latin typeface="Calibri" pitchFamily="34" charset="0"/>
                <a:ea typeface="Calibri" pitchFamily="34" charset="-122"/>
                <a:cs typeface="Calibri" pitchFamily="34" charset="-120"/>
              </a:rPr>
              <a:t>AGENTIC MONITORING</a:t>
            </a:r>
            <a:endParaRPr lang="en-US" sz="1100" dirty="0"/>
          </a:p>
        </p:txBody>
      </p:sp>
      <p:sp>
        <p:nvSpPr>
          <p:cNvPr id="11" name="Shape 9"/>
          <p:cNvSpPr/>
          <p:nvPr/>
        </p:nvSpPr>
        <p:spPr>
          <a:xfrm>
            <a:off x="4846320" y="2011680"/>
            <a:ext cx="3840480" cy="16459"/>
          </a:xfrm>
          <a:prstGeom prst="rect">
            <a:avLst/>
          </a:prstGeom>
          <a:solidFill>
            <a:srgbClr val="1565C0"/>
          </a:solidFill>
          <a:ln w="12700">
            <a:solidFill>
              <a:srgbClr val="1565C0"/>
            </a:solidFill>
            <a:prstDash val="solid"/>
          </a:ln>
        </p:spPr>
      </p:sp>
      <p:sp>
        <p:nvSpPr>
          <p:cNvPr id="12" name="Text 10"/>
          <p:cNvSpPr/>
          <p:nvPr/>
        </p:nvSpPr>
        <p:spPr>
          <a:xfrm>
            <a:off x="4846320" y="2084832"/>
            <a:ext cx="384048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Retains context across events using memory — correlates login, process, and data-movement signals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Expands monitoring to related entities (users, hosts, flows) when detections warrant it</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Triggers additional log retrieval and cross-system correlation automatically</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Argos (LLM-based): generates human-readable detection rules for time-series anomalies</a:t>
            </a:r>
            <a:endParaRPr lang="en-US" sz="1300" dirty="0"/>
          </a:p>
        </p:txBody>
      </p:sp>
      <p:sp>
        <p:nvSpPr>
          <p:cNvPr id="13" name="Text 11"/>
          <p:cNvSpPr/>
          <p:nvPr/>
        </p:nvSpPr>
        <p:spPr>
          <a:xfrm>
            <a:off x="502920" y="4663440"/>
            <a:ext cx="8138160" cy="347472"/>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Key risk: misaligned or deceptive agents may themselves behave as high-privilege insiders (SANS, Varonis, Exabeam — cited in §4.1.1).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2 · BLUE TEAM · SLIDE 2/3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Autonomous Incident Response</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4.1.2 — Closing the detection-to-containment gap</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Modern SOC agents observe traffic → detect anomalies → initiate containment with minimal human latency</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Multi-agent designs split IR into specialized roles: intelligence synthesis / investigation / decision support / orchestration</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IBM ATOM platform: agents for investigation, threat hunting, IAM, and vuln analysis — resolves many incidents in seconds</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CyberGuardian2: LLM-based decision support for access control changes, DB queries, code execution, and safety checks — by design NOT a fully autonomous actor</a:t>
            </a:r>
            <a:endParaRPr lang="en-US" sz="1300" dirty="0"/>
          </a:p>
          <a:p>
            <a:pPr marL="342900" indent="-342900">
              <a:spcAft>
                <a:spcPts val="1200"/>
              </a:spcAft>
              <a:buSzPct val="100000"/>
              <a:buChar char="•"/>
            </a:pPr>
            <a:r>
              <a:rPr lang="en-US" sz="1300" dirty="0">
                <a:solidFill>
                  <a:srgbClr val="111111"/>
                </a:solidFill>
                <a:latin typeface="Calibri" pitchFamily="34" charset="0"/>
                <a:ea typeface="Calibri" pitchFamily="34" charset="-122"/>
                <a:cs typeface="Calibri" pitchFamily="34" charset="-120"/>
              </a:rPr>
              <a:t>Commercial deployments (ReliaQuest, CrowdStrike Charlotte AI, Simbian): faster investigation while keeping analysts in supervisory roles</a:t>
            </a:r>
            <a:endParaRPr lang="en-US" sz="1300" dirty="0"/>
          </a:p>
          <a:p>
            <a:pPr marL="342900" indent="-342900">
              <a:spcAft>
                <a:spcPts val="600"/>
              </a:spcAft>
              <a:buSzPct val="100000"/>
              <a:buChar char="•"/>
            </a:pPr>
            <a:r>
              <a:rPr lang="en-US" sz="1300" b="1" dirty="0">
                <a:solidFill>
                  <a:srgbClr val="C0392B"/>
                </a:solidFill>
                <a:latin typeface="Calibri" pitchFamily="34" charset="0"/>
                <a:ea typeface="Calibri" pitchFamily="34" charset="-122"/>
                <a:cs typeface="Calibri" pitchFamily="34" charset="-120"/>
              </a:rPr>
              <a:t>Critical constraint (Knack &amp; Burke): irreversible actions require explicit authorization boundaries, shared vocabularies, auditable logs, and escalation protocols.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2 · BLUE TEAM · SLIDE 3/3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SOC Triage Agent — Prototype Results</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8.2 — Mistral/Ollama vs. rule-based baseline on 6 synthetic alerts</a:t>
            </a:r>
            <a:endParaRPr lang="en-US" sz="1400" dirty="0"/>
          </a:p>
        </p:txBody>
      </p:sp>
      <p:sp>
        <p:nvSpPr>
          <p:cNvPr id="7" name="Shape 5"/>
          <p:cNvSpPr/>
          <p:nvPr/>
        </p:nvSpPr>
        <p:spPr>
          <a:xfrm>
            <a:off x="685800" y="1664208"/>
            <a:ext cx="1817874" cy="1371600"/>
          </a:xfrm>
          <a:prstGeom prst="rect">
            <a:avLst/>
          </a:prstGeom>
          <a:solidFill>
            <a:srgbClr val="F2F2F2"/>
          </a:solidFill>
          <a:ln w="12700">
            <a:solidFill>
              <a:srgbClr val="DDDDDD"/>
            </a:solidFill>
            <a:prstDash val="solid"/>
          </a:ln>
        </p:spPr>
      </p:sp>
      <p:sp>
        <p:nvSpPr>
          <p:cNvPr id="8" name="Text 6"/>
          <p:cNvSpPr/>
          <p:nvPr/>
        </p:nvSpPr>
        <p:spPr>
          <a:xfrm>
            <a:off x="685800" y="1783080"/>
            <a:ext cx="1817874" cy="640080"/>
          </a:xfrm>
          <a:prstGeom prst="rect">
            <a:avLst/>
          </a:prstGeom>
          <a:noFill/>
          <a:ln/>
        </p:spPr>
        <p:txBody>
          <a:bodyPr wrap="square" rtlCol="0" anchor="ctr"/>
          <a:lstStyle/>
          <a:p>
            <a:pPr marL="0" indent="0" algn="ctr">
              <a:buNone/>
            </a:pPr>
            <a:r>
              <a:rPr lang="en-US" sz="2200" b="1" dirty="0">
                <a:solidFill>
                  <a:srgbClr val="1565C0"/>
                </a:solidFill>
                <a:latin typeface="Calibri" pitchFamily="34" charset="0"/>
                <a:ea typeface="Calibri" pitchFamily="34" charset="-122"/>
                <a:cs typeface="Calibri" pitchFamily="34" charset="-120"/>
              </a:rPr>
              <a:t>1.00</a:t>
            </a:r>
            <a:endParaRPr lang="en-US" sz="2200" dirty="0"/>
          </a:p>
        </p:txBody>
      </p:sp>
      <p:sp>
        <p:nvSpPr>
          <p:cNvPr id="9" name="Text 7"/>
          <p:cNvSpPr/>
          <p:nvPr/>
        </p:nvSpPr>
        <p:spPr>
          <a:xfrm>
            <a:off x="685800" y="2423160"/>
            <a:ext cx="1817874" cy="457200"/>
          </a:xfrm>
          <a:prstGeom prst="rect">
            <a:avLst/>
          </a:prstGeom>
          <a:noFill/>
          <a:ln/>
        </p:spPr>
        <p:txBody>
          <a:bodyPr wrap="square" rtlCol="0" anchor="ctr"/>
          <a:lstStyle/>
          <a:p>
            <a:pPr marL="0" indent="0" algn="ctr">
              <a:buNone/>
            </a:pPr>
            <a:r>
              <a:rPr lang="en-US" sz="1100" dirty="0">
                <a:solidFill>
                  <a:srgbClr val="444444"/>
                </a:solidFill>
                <a:latin typeface="Calibri" pitchFamily="34" charset="0"/>
                <a:ea typeface="Calibri" pitchFamily="34" charset="-122"/>
                <a:cs typeface="Calibri" pitchFamily="34" charset="-120"/>
              </a:rPr>
              <a:t>Precision (both)</a:t>
            </a:r>
            <a:endParaRPr lang="en-US" sz="1100" dirty="0"/>
          </a:p>
        </p:txBody>
      </p:sp>
      <p:sp>
        <p:nvSpPr>
          <p:cNvPr id="10" name="Shape 8"/>
          <p:cNvSpPr/>
          <p:nvPr/>
        </p:nvSpPr>
        <p:spPr>
          <a:xfrm>
            <a:off x="2788920" y="1664208"/>
            <a:ext cx="1817874" cy="1371600"/>
          </a:xfrm>
          <a:prstGeom prst="rect">
            <a:avLst/>
          </a:prstGeom>
          <a:solidFill>
            <a:srgbClr val="F2F2F2"/>
          </a:solidFill>
          <a:ln w="12700">
            <a:solidFill>
              <a:srgbClr val="DDDDDD"/>
            </a:solidFill>
            <a:prstDash val="solid"/>
          </a:ln>
        </p:spPr>
      </p:sp>
      <p:sp>
        <p:nvSpPr>
          <p:cNvPr id="11" name="Text 9"/>
          <p:cNvSpPr/>
          <p:nvPr/>
        </p:nvSpPr>
        <p:spPr>
          <a:xfrm>
            <a:off x="2788920" y="1783080"/>
            <a:ext cx="1817874" cy="640080"/>
          </a:xfrm>
          <a:prstGeom prst="rect">
            <a:avLst/>
          </a:prstGeom>
          <a:noFill/>
          <a:ln/>
        </p:spPr>
        <p:txBody>
          <a:bodyPr wrap="square" rtlCol="0" anchor="ctr"/>
          <a:lstStyle/>
          <a:p>
            <a:pPr marL="0" indent="0" algn="ctr">
              <a:buNone/>
            </a:pPr>
            <a:r>
              <a:rPr lang="en-US" sz="2200" b="1" dirty="0">
                <a:solidFill>
                  <a:srgbClr val="1A1A2E"/>
                </a:solidFill>
                <a:latin typeface="Calibri" pitchFamily="34" charset="0"/>
                <a:ea typeface="Calibri" pitchFamily="34" charset="-122"/>
                <a:cs typeface="Calibri" pitchFamily="34" charset="-120"/>
              </a:rPr>
              <a:t>0.75→1.00</a:t>
            </a:r>
            <a:endParaRPr lang="en-US" sz="2200" dirty="0"/>
          </a:p>
        </p:txBody>
      </p:sp>
      <p:sp>
        <p:nvSpPr>
          <p:cNvPr id="12" name="Text 10"/>
          <p:cNvSpPr/>
          <p:nvPr/>
        </p:nvSpPr>
        <p:spPr>
          <a:xfrm>
            <a:off x="2788920" y="2423160"/>
            <a:ext cx="1817874" cy="457200"/>
          </a:xfrm>
          <a:prstGeom prst="rect">
            <a:avLst/>
          </a:prstGeom>
          <a:noFill/>
          <a:ln/>
        </p:spPr>
        <p:txBody>
          <a:bodyPr wrap="square" rtlCol="0" anchor="ctr"/>
          <a:lstStyle/>
          <a:p>
            <a:pPr marL="0" indent="0" algn="ctr">
              <a:buNone/>
            </a:pPr>
            <a:r>
              <a:rPr lang="en-US" sz="1100" dirty="0">
                <a:solidFill>
                  <a:srgbClr val="444444"/>
                </a:solidFill>
                <a:latin typeface="Calibri" pitchFamily="34" charset="0"/>
                <a:ea typeface="Calibri" pitchFamily="34" charset="-122"/>
                <a:cs typeface="Calibri" pitchFamily="34" charset="-120"/>
              </a:rPr>
              <a:t>Recall (baseline→agent)</a:t>
            </a:r>
            <a:endParaRPr lang="en-US" sz="1100" dirty="0"/>
          </a:p>
        </p:txBody>
      </p:sp>
      <p:sp>
        <p:nvSpPr>
          <p:cNvPr id="13" name="Shape 11"/>
          <p:cNvSpPr/>
          <p:nvPr/>
        </p:nvSpPr>
        <p:spPr>
          <a:xfrm>
            <a:off x="4892040" y="1664208"/>
            <a:ext cx="1817874" cy="1371600"/>
          </a:xfrm>
          <a:prstGeom prst="rect">
            <a:avLst/>
          </a:prstGeom>
          <a:solidFill>
            <a:srgbClr val="F2F2F2"/>
          </a:solidFill>
          <a:ln w="12700">
            <a:solidFill>
              <a:srgbClr val="DDDDDD"/>
            </a:solidFill>
            <a:prstDash val="solid"/>
          </a:ln>
        </p:spPr>
      </p:sp>
      <p:sp>
        <p:nvSpPr>
          <p:cNvPr id="14" name="Text 12"/>
          <p:cNvSpPr/>
          <p:nvPr/>
        </p:nvSpPr>
        <p:spPr>
          <a:xfrm>
            <a:off x="4892040" y="1783080"/>
            <a:ext cx="1817874" cy="640080"/>
          </a:xfrm>
          <a:prstGeom prst="rect">
            <a:avLst/>
          </a:prstGeom>
          <a:noFill/>
          <a:ln/>
        </p:spPr>
        <p:txBody>
          <a:bodyPr wrap="square" rtlCol="0" anchor="ctr"/>
          <a:lstStyle/>
          <a:p>
            <a:pPr marL="0" indent="0" algn="ctr">
              <a:buNone/>
            </a:pPr>
            <a:r>
              <a:rPr lang="en-US" sz="2200" b="1" dirty="0">
                <a:solidFill>
                  <a:srgbClr val="1565C0"/>
                </a:solidFill>
                <a:latin typeface="Calibri" pitchFamily="34" charset="0"/>
                <a:ea typeface="Calibri" pitchFamily="34" charset="-122"/>
                <a:cs typeface="Calibri" pitchFamily="34" charset="-120"/>
              </a:rPr>
              <a:t>7.5→6.0 min</a:t>
            </a:r>
            <a:endParaRPr lang="en-US" sz="2200" dirty="0"/>
          </a:p>
        </p:txBody>
      </p:sp>
      <p:sp>
        <p:nvSpPr>
          <p:cNvPr id="15" name="Text 13"/>
          <p:cNvSpPr/>
          <p:nvPr/>
        </p:nvSpPr>
        <p:spPr>
          <a:xfrm>
            <a:off x="4892040" y="2423160"/>
            <a:ext cx="1817874" cy="457200"/>
          </a:xfrm>
          <a:prstGeom prst="rect">
            <a:avLst/>
          </a:prstGeom>
          <a:noFill/>
          <a:ln/>
        </p:spPr>
        <p:txBody>
          <a:bodyPr wrap="square" rtlCol="0" anchor="ctr"/>
          <a:lstStyle/>
          <a:p>
            <a:pPr marL="0" indent="0" algn="ctr">
              <a:buNone/>
            </a:pPr>
            <a:r>
              <a:rPr lang="en-US" sz="1100" dirty="0">
                <a:solidFill>
                  <a:srgbClr val="444444"/>
                </a:solidFill>
                <a:latin typeface="Calibri" pitchFamily="34" charset="0"/>
                <a:ea typeface="Calibri" pitchFamily="34" charset="-122"/>
                <a:cs typeface="Calibri" pitchFamily="34" charset="-120"/>
              </a:rPr>
              <a:t>MTTR reduction</a:t>
            </a:r>
            <a:endParaRPr lang="en-US" sz="1100" dirty="0"/>
          </a:p>
        </p:txBody>
      </p:sp>
      <p:sp>
        <p:nvSpPr>
          <p:cNvPr id="16" name="Shape 14"/>
          <p:cNvSpPr/>
          <p:nvPr/>
        </p:nvSpPr>
        <p:spPr>
          <a:xfrm>
            <a:off x="6995160" y="1664208"/>
            <a:ext cx="1817874" cy="1371600"/>
          </a:xfrm>
          <a:prstGeom prst="rect">
            <a:avLst/>
          </a:prstGeom>
          <a:solidFill>
            <a:srgbClr val="F2F2F2"/>
          </a:solidFill>
          <a:ln w="12700">
            <a:solidFill>
              <a:srgbClr val="DDDDDD"/>
            </a:solidFill>
            <a:prstDash val="solid"/>
          </a:ln>
        </p:spPr>
      </p:sp>
      <p:sp>
        <p:nvSpPr>
          <p:cNvPr id="17" name="Text 15"/>
          <p:cNvSpPr/>
          <p:nvPr/>
        </p:nvSpPr>
        <p:spPr>
          <a:xfrm>
            <a:off x="6995160" y="1783080"/>
            <a:ext cx="1817874" cy="640080"/>
          </a:xfrm>
          <a:prstGeom prst="rect">
            <a:avLst/>
          </a:prstGeom>
          <a:noFill/>
          <a:ln/>
        </p:spPr>
        <p:txBody>
          <a:bodyPr wrap="square" rtlCol="0" anchor="ctr"/>
          <a:lstStyle/>
          <a:p>
            <a:pPr marL="0" indent="0" algn="ctr">
              <a:buNone/>
            </a:pPr>
            <a:r>
              <a:rPr lang="en-US" sz="2200" b="1" dirty="0">
                <a:solidFill>
                  <a:srgbClr val="1A1A2E"/>
                </a:solidFill>
                <a:latin typeface="Calibri" pitchFamily="34" charset="0"/>
                <a:ea typeface="Calibri" pitchFamily="34" charset="-122"/>
                <a:cs typeface="Calibri" pitchFamily="34" charset="-120"/>
              </a:rPr>
              <a:t>0.86→1.00</a:t>
            </a:r>
            <a:endParaRPr lang="en-US" sz="2200" dirty="0"/>
          </a:p>
        </p:txBody>
      </p:sp>
      <p:sp>
        <p:nvSpPr>
          <p:cNvPr id="18" name="Text 16"/>
          <p:cNvSpPr/>
          <p:nvPr/>
        </p:nvSpPr>
        <p:spPr>
          <a:xfrm>
            <a:off x="6995160" y="2423160"/>
            <a:ext cx="1817874" cy="457200"/>
          </a:xfrm>
          <a:prstGeom prst="rect">
            <a:avLst/>
          </a:prstGeom>
          <a:noFill/>
          <a:ln/>
        </p:spPr>
        <p:txBody>
          <a:bodyPr wrap="square" rtlCol="0" anchor="ctr"/>
          <a:lstStyle/>
          <a:p>
            <a:pPr marL="0" indent="0" algn="ctr">
              <a:buNone/>
            </a:pPr>
            <a:r>
              <a:rPr lang="en-US" sz="1100" dirty="0">
                <a:solidFill>
                  <a:srgbClr val="444444"/>
                </a:solidFill>
                <a:latin typeface="Calibri" pitchFamily="34" charset="0"/>
                <a:ea typeface="Calibri" pitchFamily="34" charset="-122"/>
                <a:cs typeface="Calibri" pitchFamily="34" charset="-120"/>
              </a:rPr>
              <a:t>F1 Score</a:t>
            </a:r>
            <a:endParaRPr lang="en-US" sz="1100" dirty="0"/>
          </a:p>
        </p:txBody>
      </p:sp>
      <p:sp>
        <p:nvSpPr>
          <p:cNvPr id="19" name="Text 17"/>
          <p:cNvSpPr/>
          <p:nvPr/>
        </p:nvSpPr>
        <p:spPr>
          <a:xfrm>
            <a:off x="622540" y="3071877"/>
            <a:ext cx="7772400" cy="1338681"/>
          </a:xfrm>
          <a:prstGeom prst="rect">
            <a:avLst/>
          </a:prstGeom>
          <a:noFill/>
          <a:ln/>
        </p:spPr>
        <p:txBody>
          <a:bodyPr wrap="square" rtlCol="0" anchor="ctr"/>
          <a:lstStyle/>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6 alerts tested: Apache Struts RCE, SSH brute force, SQL injection, malware hash, suspicious user-agent, port scan</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Agent correctly escalated a known malicious hash on critical HR endpoint (baseline missed it — recall fail)</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Agent correctly closed a suspicious user-agent from CI pipeline with no malicious indicators (no false positive)</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All 12 agent actions were policy-compliant (read-only enforcement gate) and fully logged in audit trail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C0392B"/>
        </a:solidFill>
        <a:effectLst/>
      </p:bgPr>
    </p:bg>
    <p:spTree>
      <p:nvGrpSpPr>
        <p:cNvPr id="1" name=""/>
        <p:cNvGrpSpPr/>
        <p:nvPr/>
      </p:nvGrpSpPr>
      <p:grpSpPr>
        <a:xfrm>
          <a:off x="0" y="0"/>
          <a:ext cx="0" cy="0"/>
          <a:chOff x="0" y="0"/>
          <a:chExt cx="0" cy="0"/>
        </a:xfrm>
      </p:grpSpPr>
      <p:sp>
        <p:nvSpPr>
          <p:cNvPr id="2" name="Text 0"/>
          <p:cNvSpPr/>
          <p:nvPr/>
        </p:nvSpPr>
        <p:spPr>
          <a:xfrm>
            <a:off x="548640" y="1554480"/>
            <a:ext cx="7772400" cy="457200"/>
          </a:xfrm>
          <a:prstGeom prst="rect">
            <a:avLst/>
          </a:prstGeom>
          <a:noFill/>
          <a:ln/>
        </p:spPr>
        <p:txBody>
          <a:bodyPr wrap="square"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PART 3</a:t>
            </a:r>
            <a:endParaRPr lang="en-US" sz="1300" dirty="0"/>
          </a:p>
        </p:txBody>
      </p:sp>
      <p:sp>
        <p:nvSpPr>
          <p:cNvPr id="3" name="Text 1"/>
          <p:cNvSpPr/>
          <p:nvPr/>
        </p:nvSpPr>
        <p:spPr>
          <a:xfrm>
            <a:off x="548640" y="1965960"/>
            <a:ext cx="77724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Red Team — Offensive AI</a:t>
            </a:r>
            <a:endParaRPr lang="en-US" sz="4400" dirty="0"/>
          </a:p>
        </p:txBody>
      </p:sp>
      <p:sp>
        <p:nvSpPr>
          <p:cNvPr id="4" name="Text 2"/>
          <p:cNvSpPr/>
          <p:nvPr/>
        </p:nvSpPr>
        <p:spPr>
          <a:xfrm>
            <a:off x="548640" y="2971800"/>
            <a:ext cx="7772400" cy="548640"/>
          </a:xfrm>
          <a:prstGeom prst="rect">
            <a:avLst/>
          </a:prstGeom>
          <a:noFill/>
          <a:ln/>
        </p:spPr>
        <p:txBody>
          <a:bodyPr wrap="square" rtlCol="0" anchor="ctr"/>
          <a:lstStyle/>
          <a:p>
            <a:pPr marL="0" indent="0">
              <a:buNone/>
            </a:pPr>
            <a:r>
              <a:rPr lang="en-US" sz="1600" i="1" dirty="0">
                <a:solidFill>
                  <a:srgbClr val="CCCCCC"/>
                </a:solidFill>
                <a:latin typeface="Calibri" pitchFamily="34" charset="0"/>
                <a:ea typeface="Calibri" pitchFamily="34" charset="-122"/>
                <a:cs typeface="Calibri" pitchFamily="34" charset="-120"/>
              </a:rPr>
              <a:t>Autonomous penetration testing · agentic ransomware · social engineering · recon at scale</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3 · RED TEAM · SLIDE 1/5</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Autonomous Penetration Testing</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4.2.2 — From scripted tools to reasoning agents</a:t>
            </a:r>
            <a:endParaRPr lang="en-US" sz="1400" dirty="0"/>
          </a:p>
        </p:txBody>
      </p:sp>
      <p:sp>
        <p:nvSpPr>
          <p:cNvPr id="7" name="Text 5"/>
          <p:cNvSpPr/>
          <p:nvPr/>
        </p:nvSpPr>
        <p:spPr>
          <a:xfrm>
            <a:off x="502920" y="1664208"/>
            <a:ext cx="3749040" cy="347472"/>
          </a:xfrm>
          <a:prstGeom prst="rect">
            <a:avLst/>
          </a:prstGeom>
          <a:noFill/>
          <a:ln/>
        </p:spPr>
        <p:txBody>
          <a:bodyPr wrap="square" rtlCol="0" anchor="ctr"/>
          <a:lstStyle/>
          <a:p>
            <a:pPr marL="0" indent="0">
              <a:buNone/>
            </a:pPr>
            <a:r>
              <a:rPr lang="en-US" sz="1100" b="1" kern="0" spc="200" dirty="0">
                <a:solidFill>
                  <a:srgbClr val="444444"/>
                </a:solidFill>
                <a:latin typeface="Calibri" pitchFamily="34" charset="0"/>
                <a:ea typeface="Calibri" pitchFamily="34" charset="-122"/>
                <a:cs typeface="Calibri" pitchFamily="34" charset="-120"/>
              </a:rPr>
              <a:t>TRADITIONAL TOOLS</a:t>
            </a:r>
            <a:endParaRPr lang="en-US" sz="1100" dirty="0"/>
          </a:p>
        </p:txBody>
      </p:sp>
      <p:sp>
        <p:nvSpPr>
          <p:cNvPr id="8" name="Shape 6"/>
          <p:cNvSpPr/>
          <p:nvPr/>
        </p:nvSpPr>
        <p:spPr>
          <a:xfrm>
            <a:off x="502920" y="2011680"/>
            <a:ext cx="3749040" cy="16459"/>
          </a:xfrm>
          <a:prstGeom prst="rect">
            <a:avLst/>
          </a:prstGeom>
          <a:solidFill>
            <a:srgbClr val="444444"/>
          </a:solidFill>
          <a:ln w="12700">
            <a:solidFill>
              <a:srgbClr val="444444"/>
            </a:solidFill>
            <a:prstDash val="solid"/>
          </a:ln>
        </p:spPr>
      </p:sp>
      <p:sp>
        <p:nvSpPr>
          <p:cNvPr id="9" name="Text 7"/>
          <p:cNvSpPr/>
          <p:nvPr/>
        </p:nvSpPr>
        <p:spPr>
          <a:xfrm>
            <a:off x="502920" y="2084832"/>
            <a:ext cx="374904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Follows fixed stages: recon → scan → exploit → post-exploit</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Brittle: when the plan fails or context changes, tool stops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PenTestGPT (earlier generation): LLM-assisted but not truly adaptive</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Requires human operator to handle unexpected states</a:t>
            </a:r>
            <a:endParaRPr lang="en-US" sz="1300" dirty="0"/>
          </a:p>
        </p:txBody>
      </p:sp>
      <p:sp>
        <p:nvSpPr>
          <p:cNvPr id="10" name="Text 8"/>
          <p:cNvSpPr/>
          <p:nvPr/>
        </p:nvSpPr>
        <p:spPr>
          <a:xfrm>
            <a:off x="4846320" y="1664208"/>
            <a:ext cx="3840480" cy="347472"/>
          </a:xfrm>
          <a:prstGeom prst="rect">
            <a:avLst/>
          </a:prstGeom>
          <a:noFill/>
          <a:ln/>
        </p:spPr>
        <p:txBody>
          <a:bodyPr wrap="square" rtlCol="0" anchor="ctr"/>
          <a:lstStyle/>
          <a:p>
            <a:pPr marL="0" indent="0">
              <a:buNone/>
            </a:pPr>
            <a:r>
              <a:rPr lang="en-US" sz="1100" b="1" kern="0" spc="200" dirty="0">
                <a:solidFill>
                  <a:srgbClr val="C0392B"/>
                </a:solidFill>
                <a:latin typeface="Calibri" pitchFamily="34" charset="0"/>
                <a:ea typeface="Calibri" pitchFamily="34" charset="-122"/>
                <a:cs typeface="Calibri" pitchFamily="34" charset="-120"/>
              </a:rPr>
              <a:t>AGENTIC RED TEAM</a:t>
            </a:r>
            <a:endParaRPr lang="en-US" sz="1100" dirty="0"/>
          </a:p>
        </p:txBody>
      </p:sp>
      <p:sp>
        <p:nvSpPr>
          <p:cNvPr id="11" name="Shape 9"/>
          <p:cNvSpPr/>
          <p:nvPr/>
        </p:nvSpPr>
        <p:spPr>
          <a:xfrm>
            <a:off x="4846320" y="2011680"/>
            <a:ext cx="3840480" cy="16459"/>
          </a:xfrm>
          <a:prstGeom prst="rect">
            <a:avLst/>
          </a:prstGeom>
          <a:solidFill>
            <a:srgbClr val="C0392B"/>
          </a:solidFill>
          <a:ln w="12700">
            <a:solidFill>
              <a:srgbClr val="C0392B"/>
            </a:solidFill>
            <a:prstDash val="solid"/>
          </a:ln>
        </p:spPr>
      </p:sp>
      <p:sp>
        <p:nvSpPr>
          <p:cNvPr id="12" name="Text 10"/>
          <p:cNvSpPr/>
          <p:nvPr/>
        </p:nvSpPr>
        <p:spPr>
          <a:xfrm>
            <a:off x="4846320" y="2084832"/>
            <a:ext cx="3840480" cy="25603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RedTeamLLM (Challita &amp; Parrend, 2025): recursive planning, plan correction, and memory</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Outperforms PenTestGPT on VulnHub targets — reasoning + memory reduce brittleness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Safety controls: isolation, command filtering, audit logs, kill switch</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XBOW &amp; RunSybile: push autonomy further, report discovery of new vulnerabilities — but limited transparency into reasoning</a:t>
            </a:r>
            <a:endParaRPr lang="en-US" sz="1300" dirty="0"/>
          </a:p>
        </p:txBody>
      </p:sp>
      <p:sp>
        <p:nvSpPr>
          <p:cNvPr id="13" name="Text 11"/>
          <p:cNvSpPr/>
          <p:nvPr/>
        </p:nvSpPr>
        <p:spPr>
          <a:xfrm>
            <a:off x="502920" y="4617720"/>
            <a:ext cx="8138160" cy="411480"/>
          </a:xfrm>
          <a:prstGeom prst="rect">
            <a:avLst/>
          </a:prstGeom>
          <a:noFill/>
          <a:ln/>
        </p:spPr>
        <p:txBody>
          <a:bodyPr wrap="square" rtlCol="0" anchor="ctr"/>
          <a:lstStyle/>
          <a:p>
            <a:pPr marL="0" indent="0">
              <a:buNone/>
            </a:pPr>
            <a:r>
              <a:rPr lang="en-US" sz="1200" i="1" dirty="0">
                <a:solidFill>
                  <a:srgbClr val="444444"/>
                </a:solidFill>
                <a:latin typeface="Calibri" pitchFamily="34" charset="0"/>
                <a:ea typeface="Calibri" pitchFamily="34" charset="-122"/>
                <a:cs typeface="Calibri" pitchFamily="34" charset="-120"/>
              </a:rPr>
              <a:t>CTF frameworks (OWASP FinBot CTF, CSAW Agentic CTF): bounded, safe testbeds for multi-agent recon/exploitation/escalation. Reproducible but may not expose real deployment failure modes.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3 · RED TEAM · SLIDE 2/5</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Agentic Ransomware</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5.2 — Compressing the kill chain from weeks to minutes</a:t>
            </a:r>
            <a:endParaRPr lang="en-US" sz="1400" dirty="0"/>
          </a:p>
        </p:txBody>
      </p:sp>
      <p:sp>
        <p:nvSpPr>
          <p:cNvPr id="7" name="Shape 5"/>
          <p:cNvSpPr/>
          <p:nvPr/>
        </p:nvSpPr>
        <p:spPr>
          <a:xfrm>
            <a:off x="502920" y="1664208"/>
            <a:ext cx="8138160" cy="347472"/>
          </a:xfrm>
          <a:prstGeom prst="rect">
            <a:avLst/>
          </a:prstGeom>
          <a:solidFill>
            <a:srgbClr val="F2F2F2"/>
          </a:solidFill>
          <a:ln w="12700">
            <a:solidFill>
              <a:srgbClr val="DDDDDD"/>
            </a:solidFill>
            <a:prstDash val="solid"/>
          </a:ln>
        </p:spPr>
      </p:sp>
      <p:sp>
        <p:nvSpPr>
          <p:cNvPr id="8" name="Text 6"/>
          <p:cNvSpPr/>
          <p:nvPr/>
        </p:nvSpPr>
        <p:spPr>
          <a:xfrm>
            <a:off x="594360" y="1719072"/>
            <a:ext cx="7955280" cy="256032"/>
          </a:xfrm>
          <a:prstGeom prst="rect">
            <a:avLst/>
          </a:prstGeom>
          <a:noFill/>
          <a:ln/>
        </p:spPr>
        <p:txBody>
          <a:bodyPr wrap="square" rtlCol="0" anchor="ctr"/>
          <a:lstStyle/>
          <a:p>
            <a:pPr marL="0" indent="0">
              <a:buNone/>
            </a:pPr>
            <a:r>
              <a:rPr lang="en-US" sz="1200" dirty="0">
                <a:solidFill>
                  <a:srgbClr val="444444"/>
                </a:solidFill>
                <a:latin typeface="Calibri" pitchFamily="34" charset="0"/>
                <a:ea typeface="Calibri" pitchFamily="34" charset="-122"/>
                <a:cs typeface="Calibri" pitchFamily="34" charset="-120"/>
              </a:rPr>
              <a:t>TRADITIONAL (Days–Weeks): Human operator sequences each stage manually</a:t>
            </a:r>
            <a:endParaRPr lang="en-US" sz="1200" dirty="0"/>
          </a:p>
        </p:txBody>
      </p:sp>
      <p:sp>
        <p:nvSpPr>
          <p:cNvPr id="9" name="Shape 7"/>
          <p:cNvSpPr/>
          <p:nvPr/>
        </p:nvSpPr>
        <p:spPr>
          <a:xfrm>
            <a:off x="502920" y="2066544"/>
            <a:ext cx="1920240" cy="502920"/>
          </a:xfrm>
          <a:prstGeom prst="rect">
            <a:avLst/>
          </a:prstGeom>
          <a:solidFill>
            <a:srgbClr val="444444"/>
          </a:solidFill>
          <a:ln w="12700">
            <a:solidFill>
              <a:srgbClr val="444444"/>
            </a:solidFill>
            <a:prstDash val="solid"/>
          </a:ln>
        </p:spPr>
      </p:sp>
      <p:sp>
        <p:nvSpPr>
          <p:cNvPr id="10" name="Text 8"/>
          <p:cNvSpPr/>
          <p:nvPr/>
        </p:nvSpPr>
        <p:spPr>
          <a:xfrm>
            <a:off x="502920" y="2121408"/>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Recon</a:t>
            </a:r>
            <a:endParaRPr lang="en-US" sz="1100" dirty="0"/>
          </a:p>
        </p:txBody>
      </p:sp>
      <p:sp>
        <p:nvSpPr>
          <p:cNvPr id="11" name="Text 9"/>
          <p:cNvSpPr/>
          <p:nvPr/>
        </p:nvSpPr>
        <p:spPr>
          <a:xfrm>
            <a:off x="2423160" y="2121408"/>
            <a:ext cx="137160" cy="365760"/>
          </a:xfrm>
          <a:prstGeom prst="rect">
            <a:avLst/>
          </a:prstGeom>
          <a:noFill/>
          <a:ln/>
        </p:spPr>
        <p:txBody>
          <a:bodyPr wrap="square" rtlCol="0" anchor="ctr"/>
          <a:lstStyle/>
          <a:p>
            <a:pPr marL="0" indent="0" algn="ctr">
              <a:buNone/>
            </a:pPr>
            <a:r>
              <a:rPr lang="en-US" sz="1400" dirty="0">
                <a:solidFill>
                  <a:srgbClr val="444444"/>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560320" y="2066544"/>
            <a:ext cx="1920240" cy="502920"/>
          </a:xfrm>
          <a:prstGeom prst="rect">
            <a:avLst/>
          </a:prstGeom>
          <a:solidFill>
            <a:srgbClr val="444444"/>
          </a:solidFill>
          <a:ln w="12700">
            <a:solidFill>
              <a:srgbClr val="444444"/>
            </a:solidFill>
            <a:prstDash val="solid"/>
          </a:ln>
        </p:spPr>
      </p:sp>
      <p:sp>
        <p:nvSpPr>
          <p:cNvPr id="13" name="Text 11"/>
          <p:cNvSpPr/>
          <p:nvPr/>
        </p:nvSpPr>
        <p:spPr>
          <a:xfrm>
            <a:off x="2560320" y="2121408"/>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Initial Access</a:t>
            </a:r>
            <a:endParaRPr lang="en-US" sz="1100" dirty="0"/>
          </a:p>
        </p:txBody>
      </p:sp>
      <p:sp>
        <p:nvSpPr>
          <p:cNvPr id="14" name="Text 12"/>
          <p:cNvSpPr/>
          <p:nvPr/>
        </p:nvSpPr>
        <p:spPr>
          <a:xfrm>
            <a:off x="4480560" y="2121408"/>
            <a:ext cx="137160" cy="365760"/>
          </a:xfrm>
          <a:prstGeom prst="rect">
            <a:avLst/>
          </a:prstGeom>
          <a:noFill/>
          <a:ln/>
        </p:spPr>
        <p:txBody>
          <a:bodyPr wrap="square" rtlCol="0" anchor="ctr"/>
          <a:lstStyle/>
          <a:p>
            <a:pPr marL="0" indent="0" algn="ctr">
              <a:buNone/>
            </a:pPr>
            <a:r>
              <a:rPr lang="en-US" sz="1400" dirty="0">
                <a:solidFill>
                  <a:srgbClr val="444444"/>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617720" y="2066544"/>
            <a:ext cx="1920240" cy="502920"/>
          </a:xfrm>
          <a:prstGeom prst="rect">
            <a:avLst/>
          </a:prstGeom>
          <a:solidFill>
            <a:srgbClr val="444444"/>
          </a:solidFill>
          <a:ln w="12700">
            <a:solidFill>
              <a:srgbClr val="444444"/>
            </a:solidFill>
            <a:prstDash val="solid"/>
          </a:ln>
        </p:spPr>
      </p:sp>
      <p:sp>
        <p:nvSpPr>
          <p:cNvPr id="16" name="Text 14"/>
          <p:cNvSpPr/>
          <p:nvPr/>
        </p:nvSpPr>
        <p:spPr>
          <a:xfrm>
            <a:off x="4617720" y="2121408"/>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Lateral Movement</a:t>
            </a:r>
            <a:endParaRPr lang="en-US" sz="1100" dirty="0"/>
          </a:p>
        </p:txBody>
      </p:sp>
      <p:sp>
        <p:nvSpPr>
          <p:cNvPr id="17" name="Text 15"/>
          <p:cNvSpPr/>
          <p:nvPr/>
        </p:nvSpPr>
        <p:spPr>
          <a:xfrm>
            <a:off x="6537960" y="2121408"/>
            <a:ext cx="137160" cy="365760"/>
          </a:xfrm>
          <a:prstGeom prst="rect">
            <a:avLst/>
          </a:prstGeom>
          <a:noFill/>
          <a:ln/>
        </p:spPr>
        <p:txBody>
          <a:bodyPr wrap="square" rtlCol="0" anchor="ctr"/>
          <a:lstStyle/>
          <a:p>
            <a:pPr marL="0" indent="0" algn="ctr">
              <a:buNone/>
            </a:pPr>
            <a:r>
              <a:rPr lang="en-US" sz="1400" dirty="0">
                <a:solidFill>
                  <a:srgbClr val="444444"/>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675120" y="2066544"/>
            <a:ext cx="1920240" cy="502920"/>
          </a:xfrm>
          <a:prstGeom prst="rect">
            <a:avLst/>
          </a:prstGeom>
          <a:solidFill>
            <a:srgbClr val="444444"/>
          </a:solidFill>
          <a:ln w="12700">
            <a:solidFill>
              <a:srgbClr val="444444"/>
            </a:solidFill>
            <a:prstDash val="solid"/>
          </a:ln>
        </p:spPr>
      </p:sp>
      <p:sp>
        <p:nvSpPr>
          <p:cNvPr id="19" name="Text 17"/>
          <p:cNvSpPr/>
          <p:nvPr/>
        </p:nvSpPr>
        <p:spPr>
          <a:xfrm>
            <a:off x="6675120" y="2121408"/>
            <a:ext cx="1920240" cy="36576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Exfiltration</a:t>
            </a:r>
            <a:endParaRPr lang="en-US" sz="1100" dirty="0"/>
          </a:p>
        </p:txBody>
      </p:sp>
      <p:sp>
        <p:nvSpPr>
          <p:cNvPr id="20" name="Shape 18"/>
          <p:cNvSpPr/>
          <p:nvPr/>
        </p:nvSpPr>
        <p:spPr>
          <a:xfrm>
            <a:off x="502920" y="2679192"/>
            <a:ext cx="8138160" cy="347472"/>
          </a:xfrm>
          <a:prstGeom prst="rect">
            <a:avLst/>
          </a:prstGeom>
          <a:solidFill>
            <a:srgbClr val="FFF0F0"/>
          </a:solidFill>
          <a:ln w="12700">
            <a:solidFill>
              <a:srgbClr val="C0392B"/>
            </a:solidFill>
            <a:prstDash val="solid"/>
          </a:ln>
        </p:spPr>
      </p:sp>
      <p:sp>
        <p:nvSpPr>
          <p:cNvPr id="21" name="Text 19"/>
          <p:cNvSpPr/>
          <p:nvPr/>
        </p:nvSpPr>
        <p:spPr>
          <a:xfrm>
            <a:off x="594360" y="2734056"/>
            <a:ext cx="7955280" cy="256032"/>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AGENTIC (Minutes–Hours): Adaptive feedback loop — agents replan in real time when actions fail</a:t>
            </a:r>
            <a:endParaRPr lang="en-US" sz="1200" dirty="0"/>
          </a:p>
        </p:txBody>
      </p:sp>
      <p:sp>
        <p:nvSpPr>
          <p:cNvPr id="22" name="Shape 20"/>
          <p:cNvSpPr/>
          <p:nvPr/>
        </p:nvSpPr>
        <p:spPr>
          <a:xfrm>
            <a:off x="502920" y="3063240"/>
            <a:ext cx="1920240" cy="502920"/>
          </a:xfrm>
          <a:prstGeom prst="rect">
            <a:avLst/>
          </a:prstGeom>
          <a:solidFill>
            <a:srgbClr val="C0392B"/>
          </a:solidFill>
          <a:ln w="12700">
            <a:solidFill>
              <a:srgbClr val="C0392B"/>
            </a:solidFill>
            <a:prstDash val="solid"/>
          </a:ln>
        </p:spPr>
      </p:sp>
      <p:sp>
        <p:nvSpPr>
          <p:cNvPr id="23" name="Text 21"/>
          <p:cNvSpPr/>
          <p:nvPr/>
        </p:nvSpPr>
        <p:spPr>
          <a:xfrm>
            <a:off x="502920" y="3118104"/>
            <a:ext cx="1920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Auto Recon</a:t>
            </a:r>
            <a:endParaRPr lang="en-US" sz="1100" dirty="0"/>
          </a:p>
        </p:txBody>
      </p:sp>
      <p:sp>
        <p:nvSpPr>
          <p:cNvPr id="24" name="Text 22"/>
          <p:cNvSpPr/>
          <p:nvPr/>
        </p:nvSpPr>
        <p:spPr>
          <a:xfrm>
            <a:off x="2423160" y="3118104"/>
            <a:ext cx="137160" cy="365760"/>
          </a:xfrm>
          <a:prstGeom prst="rect">
            <a:avLst/>
          </a:prstGeom>
          <a:noFill/>
          <a:ln/>
        </p:spPr>
        <p:txBody>
          <a:bodyPr wrap="square" rtlCol="0" anchor="ctr"/>
          <a:lstStyle/>
          <a:p>
            <a:pPr marL="0" indent="0" algn="ctr">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2560320" y="3063240"/>
            <a:ext cx="1920240" cy="502920"/>
          </a:xfrm>
          <a:prstGeom prst="rect">
            <a:avLst/>
          </a:prstGeom>
          <a:solidFill>
            <a:srgbClr val="C0392B"/>
          </a:solidFill>
          <a:ln w="12700">
            <a:solidFill>
              <a:srgbClr val="C0392B"/>
            </a:solidFill>
            <a:prstDash val="solid"/>
          </a:ln>
        </p:spPr>
      </p:sp>
      <p:sp>
        <p:nvSpPr>
          <p:cNvPr id="26" name="Text 24"/>
          <p:cNvSpPr/>
          <p:nvPr/>
        </p:nvSpPr>
        <p:spPr>
          <a:xfrm>
            <a:off x="2560320" y="3118104"/>
            <a:ext cx="1920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Adaptive Exploit</a:t>
            </a:r>
            <a:endParaRPr lang="en-US" sz="1100" dirty="0"/>
          </a:p>
        </p:txBody>
      </p:sp>
      <p:sp>
        <p:nvSpPr>
          <p:cNvPr id="27" name="Text 25"/>
          <p:cNvSpPr/>
          <p:nvPr/>
        </p:nvSpPr>
        <p:spPr>
          <a:xfrm>
            <a:off x="4480560" y="3118104"/>
            <a:ext cx="137160" cy="365760"/>
          </a:xfrm>
          <a:prstGeom prst="rect">
            <a:avLst/>
          </a:prstGeom>
          <a:noFill/>
          <a:ln/>
        </p:spPr>
        <p:txBody>
          <a:bodyPr wrap="square" rtlCol="0" anchor="ctr"/>
          <a:lstStyle/>
          <a:p>
            <a:pPr marL="0" indent="0" algn="ctr">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28" name="Shape 26"/>
          <p:cNvSpPr/>
          <p:nvPr/>
        </p:nvSpPr>
        <p:spPr>
          <a:xfrm>
            <a:off x="4617720" y="3063240"/>
            <a:ext cx="1920240" cy="502920"/>
          </a:xfrm>
          <a:prstGeom prst="rect">
            <a:avLst/>
          </a:prstGeom>
          <a:solidFill>
            <a:srgbClr val="C0392B"/>
          </a:solidFill>
          <a:ln w="12700">
            <a:solidFill>
              <a:srgbClr val="C0392B"/>
            </a:solidFill>
            <a:prstDash val="solid"/>
          </a:ln>
        </p:spPr>
      </p:sp>
      <p:sp>
        <p:nvSpPr>
          <p:cNvPr id="29" name="Text 27"/>
          <p:cNvSpPr/>
          <p:nvPr/>
        </p:nvSpPr>
        <p:spPr>
          <a:xfrm>
            <a:off x="4617720" y="3118104"/>
            <a:ext cx="1920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Parallel Persist</a:t>
            </a:r>
            <a:endParaRPr lang="en-US" sz="1100" dirty="0"/>
          </a:p>
        </p:txBody>
      </p:sp>
      <p:sp>
        <p:nvSpPr>
          <p:cNvPr id="30" name="Text 28"/>
          <p:cNvSpPr/>
          <p:nvPr/>
        </p:nvSpPr>
        <p:spPr>
          <a:xfrm>
            <a:off x="6537960" y="3118104"/>
            <a:ext cx="137160" cy="365760"/>
          </a:xfrm>
          <a:prstGeom prst="rect">
            <a:avLst/>
          </a:prstGeom>
          <a:noFill/>
          <a:ln/>
        </p:spPr>
        <p:txBody>
          <a:bodyPr wrap="square" rtlCol="0" anchor="ctr"/>
          <a:lstStyle/>
          <a:p>
            <a:pPr marL="0" indent="0" algn="ctr">
              <a:buNone/>
            </a:pPr>
            <a:r>
              <a:rPr lang="en-US" sz="1400" dirty="0">
                <a:solidFill>
                  <a:srgbClr val="C0392B"/>
                </a:solidFill>
                <a:latin typeface="Calibri" pitchFamily="34" charset="0"/>
                <a:ea typeface="Calibri" pitchFamily="34" charset="-122"/>
                <a:cs typeface="Calibri" pitchFamily="34" charset="-120"/>
              </a:rPr>
              <a:t>↺</a:t>
            </a:r>
            <a:endParaRPr lang="en-US" sz="1400" dirty="0"/>
          </a:p>
        </p:txBody>
      </p:sp>
      <p:sp>
        <p:nvSpPr>
          <p:cNvPr id="31" name="Shape 29"/>
          <p:cNvSpPr/>
          <p:nvPr/>
        </p:nvSpPr>
        <p:spPr>
          <a:xfrm>
            <a:off x="6675120" y="3063240"/>
            <a:ext cx="1920240" cy="502920"/>
          </a:xfrm>
          <a:prstGeom prst="rect">
            <a:avLst/>
          </a:prstGeom>
          <a:solidFill>
            <a:srgbClr val="C0392B"/>
          </a:solidFill>
          <a:ln w="12700">
            <a:solidFill>
              <a:srgbClr val="C0392B"/>
            </a:solidFill>
            <a:prstDash val="solid"/>
          </a:ln>
        </p:spPr>
      </p:sp>
      <p:sp>
        <p:nvSpPr>
          <p:cNvPr id="32" name="Text 30"/>
          <p:cNvSpPr/>
          <p:nvPr/>
        </p:nvSpPr>
        <p:spPr>
          <a:xfrm>
            <a:off x="6675120" y="3118104"/>
            <a:ext cx="1920240" cy="36576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Rapid Exfil</a:t>
            </a:r>
            <a:endParaRPr lang="en-US" sz="1100" dirty="0"/>
          </a:p>
        </p:txBody>
      </p:sp>
      <p:sp>
        <p:nvSpPr>
          <p:cNvPr id="33" name="Text 31"/>
          <p:cNvSpPr/>
          <p:nvPr/>
        </p:nvSpPr>
        <p:spPr>
          <a:xfrm>
            <a:off x="685800" y="3675888"/>
            <a:ext cx="7772400" cy="3017520"/>
          </a:xfrm>
          <a:prstGeom prst="rect">
            <a:avLst/>
          </a:prstGeom>
          <a:noFill/>
          <a:ln/>
        </p:spPr>
        <p:txBody>
          <a:bodyPr wrap="square" rtlCol="0" anchor="ctr"/>
          <a:lstStyle/>
          <a:p>
            <a:pPr marL="342900" indent="-342900">
              <a:spcAft>
                <a:spcPts val="600"/>
              </a:spcAft>
              <a:buSzPct val="100000"/>
              <a:buChar char="•"/>
            </a:pPr>
            <a:r>
              <a:rPr lang="en-US" sz="1250" b="1" dirty="0">
                <a:solidFill>
                  <a:srgbClr val="C0392B"/>
                </a:solidFill>
                <a:latin typeface="Calibri" pitchFamily="34" charset="0"/>
                <a:ea typeface="Calibri" pitchFamily="34" charset="-122"/>
                <a:cs typeface="Calibri" pitchFamily="34" charset="-120"/>
              </a:rPr>
              <a:t>Palo Alto Unit 42 (2025): agentic agents complete full ransomware lifecycle in ~25 minutes</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Mean Time to Exfiltrate fell from 9 days (2021) → 2 days (2024) → &lt;1 hour in many cases</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'Ransomware variant' = orchestration adaptation, NOT new malware binary. Agent replans attack sequence when steps fail (Halcyon 2025)</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Anthropic misuse report: LLMs used to interpret stolen data, profile victims, draft extortion communications — humans retain high-level control only</a:t>
            </a:r>
            <a:endParaRPr lang="en-US" sz="1250" dirty="0"/>
          </a:p>
          <a:p>
            <a:pPr marL="342900" indent="-342900">
              <a:spcAft>
                <a:spcPts val="600"/>
              </a:spcAft>
              <a:buSzPct val="100000"/>
              <a:buChar char="•"/>
            </a:pPr>
            <a:r>
              <a:rPr lang="en-US" sz="1250" b="1" dirty="0">
                <a:solidFill>
                  <a:srgbClr val="111111"/>
                </a:solidFill>
                <a:latin typeface="Calibri" pitchFamily="34" charset="0"/>
                <a:ea typeface="Calibri" pitchFamily="34" charset="-122"/>
                <a:cs typeface="Calibri" pitchFamily="34" charset="-120"/>
              </a:rPr>
              <a:t>Defender implication: detection must shift LEFT — interrupt the agent's planning loop BEFORE exfiltration completes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3 · RED TEAM · SLIDE 3/5</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Adaptive Social Engineering &amp; Fraud</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5.3 — ScamAgents, phishing agents, and multi-turn deception</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800"/>
              </a:spcAft>
              <a:buSzPct val="100000"/>
              <a:buChar char="•"/>
            </a:pPr>
            <a:r>
              <a:rPr lang="en-US" sz="1300" b="1" dirty="0">
                <a:solidFill>
                  <a:srgbClr val="C0392B"/>
                </a:solidFill>
                <a:latin typeface="Calibri" pitchFamily="34" charset="0"/>
                <a:ea typeface="Calibri" pitchFamily="34" charset="-122"/>
                <a:cs typeface="Calibri" pitchFamily="34" charset="-120"/>
              </a:rPr>
              <a:t>ScamAgents (Badhe, 2025): autonomous agents conduct multi-turn scam calls that adapt in real time to victim responses</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Key capability: agents evade LLM safety guardrails (refusal mechanisms, prompt-level content filters) and complete end-to-end fraud pipelines using planning, memory, and speech synthesis</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Heiding et al. (2024): automated spear-phishing agents match human attacker performance in live studies against real subjects</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Voice-enabled agents (Fang et al., 2024): reproduce end-to-end phone scam workflows autonomously</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Multimodal (AR) agents (Bi et al., 2025): adapt to visual and audio cues from victims — achieve high compliance rates</a:t>
            </a:r>
            <a:endParaRPr lang="en-US" sz="1300" dirty="0"/>
          </a:p>
          <a:p>
            <a:pPr marL="342900" indent="-342900">
              <a:spcAft>
                <a:spcPts val="1200"/>
              </a:spcAft>
              <a:buSzPct val="100000"/>
              <a:buChar char="•"/>
            </a:pPr>
            <a:r>
              <a:rPr lang="en-US" sz="1300" dirty="0">
                <a:solidFill>
                  <a:srgbClr val="111111"/>
                </a:solidFill>
                <a:latin typeface="Calibri" pitchFamily="34" charset="0"/>
                <a:ea typeface="Calibri" pitchFamily="34" charset="-122"/>
                <a:cs typeface="Calibri" pitchFamily="34" charset="-120"/>
              </a:rPr>
              <a:t>Web agents (Kim et al., 2025): combine browsing, form-filling, and account interaction for PII harvesting and impersonation</a:t>
            </a:r>
            <a:endParaRPr lang="en-US" sz="1300" dirty="0"/>
          </a:p>
          <a:p>
            <a:pPr marL="342900" indent="-342900">
              <a:spcAft>
                <a:spcPts val="600"/>
              </a:spcAft>
              <a:buSzPct val="100000"/>
              <a:buChar char="•"/>
            </a:pPr>
            <a:r>
              <a:rPr lang="en-US" sz="1300" b="1" dirty="0">
                <a:solidFill>
                  <a:srgbClr val="C0392B"/>
                </a:solidFill>
                <a:latin typeface="Calibri" pitchFamily="34" charset="0"/>
                <a:ea typeface="Calibri" pitchFamily="34" charset="-122"/>
                <a:cs typeface="Calibri" pitchFamily="34" charset="-120"/>
              </a:rPr>
              <a:t>Detection challenge: these are sustained multi-turn behaviors — single-prompt safety filters cannot stop them. Must detect INTENT DRIFT across sessions.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3 · RED TEAM · SLIDE 4/5</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Autonomous Reconnaissance at Scale</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5.1 / §4.2.2 — Repurposing defensive tools offensively</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800"/>
              </a:spcAft>
              <a:buSzPct val="100000"/>
              <a:buChar char="•"/>
            </a:pPr>
            <a:r>
              <a:rPr lang="en-US" sz="1300" b="1" dirty="0">
                <a:solidFill>
                  <a:srgbClr val="C0392B"/>
                </a:solidFill>
                <a:latin typeface="Calibri" pitchFamily="34" charset="0"/>
                <a:ea typeface="Calibri" pitchFamily="34" charset="-122"/>
                <a:cs typeface="Calibri" pitchFamily="34" charset="-120"/>
              </a:rPr>
              <a:t>HexStrike-AI: a legitimate red-team platform designed for vulnerability discovery — weaponized by threat actors to scan thousands of IP addresses in parallel autonomously (Lakshmanan, 2025)</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Same risk applies to: backup scanners, configuration auditors, IAM monitoring agents — any agent with broad read access to network topology can be repurposed for reconnaissance</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Unit 42 (2025): tested nine attack scenarios on CrewAI and AutoGen frameworks — found prompt injection, unsafe tool use, SQL injection, and communication poisoning enable data exfiltration, credential theft, and remote code execution</a:t>
            </a:r>
            <a:endParaRPr lang="en-US" sz="1300" dirty="0"/>
          </a:p>
          <a:p>
            <a:pPr marL="342900" indent="-342900">
              <a:spcAft>
                <a:spcPts val="1200"/>
              </a:spcAft>
              <a:buSzPct val="100000"/>
              <a:buChar char="•"/>
            </a:pPr>
            <a:r>
              <a:rPr lang="en-US" sz="1300" dirty="0">
                <a:solidFill>
                  <a:srgbClr val="111111"/>
                </a:solidFill>
                <a:latin typeface="Calibri" pitchFamily="34" charset="0"/>
                <a:ea typeface="Calibri" pitchFamily="34" charset="-122"/>
                <a:cs typeface="Calibri" pitchFamily="34" charset="-120"/>
              </a:rPr>
              <a:t>Root cause: weak input validation and insecure integrations in agentic frameworks themselves — not the underlying LLM</a:t>
            </a:r>
            <a:endParaRPr lang="en-US" sz="1300" dirty="0"/>
          </a:p>
          <a:p>
            <a:pPr marL="342900" indent="-342900">
              <a:spcAft>
                <a:spcPts val="600"/>
              </a:spcAft>
              <a:buSzPct val="100000"/>
              <a:buChar char="•"/>
            </a:pPr>
            <a:r>
              <a:rPr lang="en-US" sz="1300" b="1" dirty="0">
                <a:solidFill>
                  <a:srgbClr val="1A1A2E"/>
                </a:solidFill>
                <a:latin typeface="Calibri" pitchFamily="34" charset="0"/>
                <a:ea typeface="Calibri" pitchFamily="34" charset="-122"/>
                <a:cs typeface="Calibri" pitchFamily="34" charset="-120"/>
              </a:rPr>
              <a:t>Defender takeaway: every agent with external tool access is a potential reconnaissance tool if compromised. Principle of least privilege must apply to agents, not just humans.</a:t>
            </a:r>
            <a:endParaRPr lang="en-US" sz="1300" dirty="0"/>
          </a:p>
          <a:p>
            <a:pPr marL="342900" indent="-342900">
              <a:spcAft>
                <a:spcPts val="600"/>
              </a:spcAft>
              <a:buSzPct val="100000"/>
              <a:buChar char="•"/>
            </a:pPr>
            <a:r>
              <a:rPr lang="en-US" sz="1300" dirty="0">
                <a:solidFill>
                  <a:srgbClr val="C0392B"/>
                </a:solidFill>
                <a:latin typeface="Calibri" pitchFamily="34" charset="0"/>
                <a:ea typeface="Calibri" pitchFamily="34" charset="-122"/>
                <a:cs typeface="Calibri" pitchFamily="34" charset="-120"/>
              </a:rPr>
              <a:t>Mean Time to Exfiltrate (2021→2024): 9 days → 2 days — automation is the primary driver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3 · RED TEAM · SLIDE 5/5</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Taxonomy of Agentic Attacks</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Table 4 of the survey — Domains, techniques, and the agentic capabilities that enable them</a:t>
            </a:r>
            <a:endParaRPr lang="en-US" sz="1400" dirty="0"/>
          </a:p>
        </p:txBody>
      </p:sp>
      <p:sp>
        <p:nvSpPr>
          <p:cNvPr id="7" name="Shape 5"/>
          <p:cNvSpPr/>
          <p:nvPr/>
        </p:nvSpPr>
        <p:spPr>
          <a:xfrm>
            <a:off x="502920" y="1664208"/>
            <a:ext cx="8138160" cy="365760"/>
          </a:xfrm>
          <a:prstGeom prst="rect">
            <a:avLst/>
          </a:prstGeom>
          <a:solidFill>
            <a:srgbClr val="C0392B"/>
          </a:solidFill>
          <a:ln w="12700">
            <a:solidFill>
              <a:srgbClr val="C0392B"/>
            </a:solidFill>
            <a:prstDash val="solid"/>
          </a:ln>
        </p:spPr>
      </p:sp>
      <p:sp>
        <p:nvSpPr>
          <p:cNvPr id="8" name="Text 6"/>
          <p:cNvSpPr/>
          <p:nvPr/>
        </p:nvSpPr>
        <p:spPr>
          <a:xfrm>
            <a:off x="548640" y="1709928"/>
            <a:ext cx="10972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Domain</a:t>
            </a:r>
            <a:endParaRPr lang="en-US" sz="1100" dirty="0"/>
          </a:p>
        </p:txBody>
      </p:sp>
      <p:sp>
        <p:nvSpPr>
          <p:cNvPr id="9" name="Text 7"/>
          <p:cNvSpPr/>
          <p:nvPr/>
        </p:nvSpPr>
        <p:spPr>
          <a:xfrm>
            <a:off x="1737360" y="1709928"/>
            <a:ext cx="192024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Techniques</a:t>
            </a:r>
            <a:endParaRPr lang="en-US" sz="1100" dirty="0"/>
          </a:p>
        </p:txBody>
      </p:sp>
      <p:sp>
        <p:nvSpPr>
          <p:cNvPr id="10" name="Text 8"/>
          <p:cNvSpPr/>
          <p:nvPr/>
        </p:nvSpPr>
        <p:spPr>
          <a:xfrm>
            <a:off x="3749040" y="1709928"/>
            <a:ext cx="233172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Agentic Capabilities</a:t>
            </a:r>
            <a:endParaRPr lang="en-US" sz="1100" dirty="0"/>
          </a:p>
        </p:txBody>
      </p:sp>
      <p:sp>
        <p:nvSpPr>
          <p:cNvPr id="11" name="Text 9"/>
          <p:cNvSpPr/>
          <p:nvPr/>
        </p:nvSpPr>
        <p:spPr>
          <a:xfrm>
            <a:off x="6172200" y="1709928"/>
            <a:ext cx="1783080"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Key Refs</a:t>
            </a:r>
            <a:endParaRPr lang="en-US" sz="1100" dirty="0"/>
          </a:p>
        </p:txBody>
      </p:sp>
      <p:sp>
        <p:nvSpPr>
          <p:cNvPr id="12" name="Shape 10"/>
          <p:cNvSpPr/>
          <p:nvPr/>
        </p:nvSpPr>
        <p:spPr>
          <a:xfrm>
            <a:off x="502920" y="2075688"/>
            <a:ext cx="8138160" cy="667512"/>
          </a:xfrm>
          <a:prstGeom prst="rect">
            <a:avLst/>
          </a:prstGeom>
          <a:solidFill>
            <a:srgbClr val="F2F2F2"/>
          </a:solidFill>
          <a:ln w="12700">
            <a:solidFill>
              <a:srgbClr val="DDDDDD"/>
            </a:solidFill>
            <a:prstDash val="solid"/>
          </a:ln>
        </p:spPr>
      </p:sp>
      <p:sp>
        <p:nvSpPr>
          <p:cNvPr id="13" name="Text 11"/>
          <p:cNvSpPr/>
          <p:nvPr/>
        </p:nvSpPr>
        <p:spPr>
          <a:xfrm>
            <a:off x="548640" y="2121408"/>
            <a:ext cx="1097280" cy="566928"/>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Ransomware</a:t>
            </a:r>
            <a:endParaRPr lang="en-US" sz="1200" dirty="0"/>
          </a:p>
        </p:txBody>
      </p:sp>
      <p:sp>
        <p:nvSpPr>
          <p:cNvPr id="14" name="Text 12"/>
          <p:cNvSpPr/>
          <p:nvPr/>
        </p:nvSpPr>
        <p:spPr>
          <a:xfrm>
            <a:off x="1737360" y="2121408"/>
            <a:ext cx="19202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Full automated lifecycle: compromise → exfiltration</a:t>
            </a:r>
            <a:endParaRPr lang="en-US" sz="1100" dirty="0"/>
          </a:p>
        </p:txBody>
      </p:sp>
      <p:sp>
        <p:nvSpPr>
          <p:cNvPr id="15" name="Text 13"/>
          <p:cNvSpPr/>
          <p:nvPr/>
        </p:nvSpPr>
        <p:spPr>
          <a:xfrm>
            <a:off x="3749040" y="2121408"/>
            <a:ext cx="233172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Multi-agent orchestration, real-time replanning</a:t>
            </a:r>
            <a:endParaRPr lang="en-US" sz="1100" dirty="0"/>
          </a:p>
        </p:txBody>
      </p:sp>
      <p:sp>
        <p:nvSpPr>
          <p:cNvPr id="16" name="Text 14"/>
          <p:cNvSpPr/>
          <p:nvPr/>
        </p:nvSpPr>
        <p:spPr>
          <a:xfrm>
            <a:off x="6172200" y="2121408"/>
            <a:ext cx="1783080" cy="566928"/>
          </a:xfrm>
          <a:prstGeom prst="rect">
            <a:avLst/>
          </a:prstGeom>
          <a:noFill/>
          <a:ln/>
        </p:spPr>
        <p:txBody>
          <a:bodyPr wrap="square" rtlCol="0" anchor="ctr"/>
          <a:lstStyle/>
          <a:p>
            <a:pPr marL="0" indent="0">
              <a:buNone/>
            </a:pPr>
            <a:r>
              <a:rPr lang="en-US" sz="1050" i="1" dirty="0">
                <a:solidFill>
                  <a:srgbClr val="AAAAAA"/>
                </a:solidFill>
                <a:latin typeface="Calibri" pitchFamily="34" charset="0"/>
                <a:ea typeface="Calibri" pitchFamily="34" charset="-122"/>
                <a:cs typeface="Calibri" pitchFamily="34" charset="-120"/>
              </a:rPr>
              <a:t>Unit 42, Halcyon</a:t>
            </a:r>
            <a:endParaRPr lang="en-US" sz="1050" dirty="0"/>
          </a:p>
        </p:txBody>
      </p:sp>
      <p:sp>
        <p:nvSpPr>
          <p:cNvPr id="17" name="Shape 15"/>
          <p:cNvSpPr/>
          <p:nvPr/>
        </p:nvSpPr>
        <p:spPr>
          <a:xfrm>
            <a:off x="502920" y="2788920"/>
            <a:ext cx="8138160" cy="667512"/>
          </a:xfrm>
          <a:prstGeom prst="rect">
            <a:avLst/>
          </a:prstGeom>
          <a:solidFill>
            <a:srgbClr val="FFFFFF"/>
          </a:solidFill>
          <a:ln w="12700">
            <a:solidFill>
              <a:srgbClr val="DDDDDD"/>
            </a:solidFill>
            <a:prstDash val="solid"/>
          </a:ln>
        </p:spPr>
      </p:sp>
      <p:sp>
        <p:nvSpPr>
          <p:cNvPr id="18" name="Text 16"/>
          <p:cNvSpPr/>
          <p:nvPr/>
        </p:nvSpPr>
        <p:spPr>
          <a:xfrm>
            <a:off x="548640" y="2834640"/>
            <a:ext cx="1097280" cy="566928"/>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Insider Threats</a:t>
            </a:r>
            <a:endParaRPr lang="en-US" sz="1200" dirty="0"/>
          </a:p>
        </p:txBody>
      </p:sp>
      <p:sp>
        <p:nvSpPr>
          <p:cNvPr id="19" name="Text 17"/>
          <p:cNvSpPr/>
          <p:nvPr/>
        </p:nvSpPr>
        <p:spPr>
          <a:xfrm>
            <a:off x="1737360" y="2834640"/>
            <a:ext cx="19202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Record tampering, stealth data theft, malicious tasks under valid identity</a:t>
            </a:r>
            <a:endParaRPr lang="en-US" sz="1100" dirty="0"/>
          </a:p>
        </p:txBody>
      </p:sp>
      <p:sp>
        <p:nvSpPr>
          <p:cNvPr id="20" name="Text 18"/>
          <p:cNvSpPr/>
          <p:nvPr/>
        </p:nvSpPr>
        <p:spPr>
          <a:xfrm>
            <a:off x="3749040" y="2834640"/>
            <a:ext cx="233172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Persistent access, autonomous execution under normal credentials</a:t>
            </a:r>
            <a:endParaRPr lang="en-US" sz="1100" dirty="0"/>
          </a:p>
        </p:txBody>
      </p:sp>
      <p:sp>
        <p:nvSpPr>
          <p:cNvPr id="21" name="Text 19"/>
          <p:cNvSpPr/>
          <p:nvPr/>
        </p:nvSpPr>
        <p:spPr>
          <a:xfrm>
            <a:off x="6172200" y="2834640"/>
            <a:ext cx="1783080" cy="566928"/>
          </a:xfrm>
          <a:prstGeom prst="rect">
            <a:avLst/>
          </a:prstGeom>
          <a:noFill/>
          <a:ln/>
        </p:spPr>
        <p:txBody>
          <a:bodyPr wrap="square" rtlCol="0" anchor="ctr"/>
          <a:lstStyle/>
          <a:p>
            <a:pPr marL="0" indent="0">
              <a:buNone/>
            </a:pPr>
            <a:r>
              <a:rPr lang="en-US" sz="1050" i="1" dirty="0">
                <a:solidFill>
                  <a:srgbClr val="AAAAAA"/>
                </a:solidFill>
                <a:latin typeface="Calibri" pitchFamily="34" charset="0"/>
                <a:ea typeface="Calibri" pitchFamily="34" charset="-122"/>
                <a:cs typeface="Calibri" pitchFamily="34" charset="-120"/>
              </a:rPr>
              <a:t>TechMonitor, Anthropic</a:t>
            </a:r>
            <a:endParaRPr lang="en-US" sz="1050" dirty="0"/>
          </a:p>
        </p:txBody>
      </p:sp>
      <p:sp>
        <p:nvSpPr>
          <p:cNvPr id="22" name="Shape 20"/>
          <p:cNvSpPr/>
          <p:nvPr/>
        </p:nvSpPr>
        <p:spPr>
          <a:xfrm>
            <a:off x="502920" y="3502152"/>
            <a:ext cx="8138160" cy="667512"/>
          </a:xfrm>
          <a:prstGeom prst="rect">
            <a:avLst/>
          </a:prstGeom>
          <a:solidFill>
            <a:srgbClr val="F2F2F2"/>
          </a:solidFill>
          <a:ln w="12700">
            <a:solidFill>
              <a:srgbClr val="DDDDDD"/>
            </a:solidFill>
            <a:prstDash val="solid"/>
          </a:ln>
        </p:spPr>
      </p:sp>
      <p:sp>
        <p:nvSpPr>
          <p:cNvPr id="23" name="Text 21"/>
          <p:cNvSpPr/>
          <p:nvPr/>
        </p:nvSpPr>
        <p:spPr>
          <a:xfrm>
            <a:off x="548640" y="3547872"/>
            <a:ext cx="1097280" cy="566928"/>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Social Engineering</a:t>
            </a:r>
            <a:endParaRPr lang="en-US" sz="1200" dirty="0"/>
          </a:p>
        </p:txBody>
      </p:sp>
      <p:sp>
        <p:nvSpPr>
          <p:cNvPr id="24" name="Text 22"/>
          <p:cNvSpPr/>
          <p:nvPr/>
        </p:nvSpPr>
        <p:spPr>
          <a:xfrm>
            <a:off x="1737360" y="3547872"/>
            <a:ext cx="19202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Voice scams, deepfake phishing, synthetic identity fraud</a:t>
            </a:r>
            <a:endParaRPr lang="en-US" sz="1100" dirty="0"/>
          </a:p>
        </p:txBody>
      </p:sp>
      <p:sp>
        <p:nvSpPr>
          <p:cNvPr id="25" name="Text 23"/>
          <p:cNvSpPr/>
          <p:nvPr/>
        </p:nvSpPr>
        <p:spPr>
          <a:xfrm>
            <a:off x="3749040" y="3547872"/>
            <a:ext cx="233172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Goal decomposition, adaptive dialogue, multimodal synthesis</a:t>
            </a:r>
            <a:endParaRPr lang="en-US" sz="1100" dirty="0"/>
          </a:p>
        </p:txBody>
      </p:sp>
      <p:sp>
        <p:nvSpPr>
          <p:cNvPr id="26" name="Text 24"/>
          <p:cNvSpPr/>
          <p:nvPr/>
        </p:nvSpPr>
        <p:spPr>
          <a:xfrm>
            <a:off x="6172200" y="3547872"/>
            <a:ext cx="1783080" cy="566928"/>
          </a:xfrm>
          <a:prstGeom prst="rect">
            <a:avLst/>
          </a:prstGeom>
          <a:noFill/>
          <a:ln/>
        </p:spPr>
        <p:txBody>
          <a:bodyPr wrap="square" rtlCol="0" anchor="ctr"/>
          <a:lstStyle/>
          <a:p>
            <a:pPr marL="0" indent="0">
              <a:buNone/>
            </a:pPr>
            <a:r>
              <a:rPr lang="en-US" sz="1050" i="1" dirty="0">
                <a:solidFill>
                  <a:srgbClr val="AAAAAA"/>
                </a:solidFill>
                <a:latin typeface="Calibri" pitchFamily="34" charset="0"/>
                <a:ea typeface="Calibri" pitchFamily="34" charset="-122"/>
                <a:cs typeface="Calibri" pitchFamily="34" charset="-120"/>
              </a:rPr>
              <a:t>ScamAgents, Visa, Fang et al.</a:t>
            </a:r>
            <a:endParaRPr lang="en-US" sz="1050" dirty="0"/>
          </a:p>
        </p:txBody>
      </p:sp>
      <p:sp>
        <p:nvSpPr>
          <p:cNvPr id="27" name="Shape 25"/>
          <p:cNvSpPr/>
          <p:nvPr/>
        </p:nvSpPr>
        <p:spPr>
          <a:xfrm>
            <a:off x="502920" y="4215384"/>
            <a:ext cx="8138160" cy="667512"/>
          </a:xfrm>
          <a:prstGeom prst="rect">
            <a:avLst/>
          </a:prstGeom>
          <a:solidFill>
            <a:srgbClr val="FFFFFF"/>
          </a:solidFill>
          <a:ln w="12700">
            <a:solidFill>
              <a:srgbClr val="DDDDDD"/>
            </a:solidFill>
            <a:prstDash val="solid"/>
          </a:ln>
        </p:spPr>
      </p:sp>
      <p:sp>
        <p:nvSpPr>
          <p:cNvPr id="28" name="Text 26"/>
          <p:cNvSpPr/>
          <p:nvPr/>
        </p:nvSpPr>
        <p:spPr>
          <a:xfrm>
            <a:off x="548640" y="4261104"/>
            <a:ext cx="1097280" cy="566928"/>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Recon &amp; Exploit</a:t>
            </a:r>
            <a:endParaRPr lang="en-US" sz="1200" dirty="0"/>
          </a:p>
        </p:txBody>
      </p:sp>
      <p:sp>
        <p:nvSpPr>
          <p:cNvPr id="29" name="Text 27"/>
          <p:cNvSpPr/>
          <p:nvPr/>
        </p:nvSpPr>
        <p:spPr>
          <a:xfrm>
            <a:off x="1737360" y="4261104"/>
            <a:ext cx="19202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Autonomous scanning, adaptive malware, real-time reconnaissance at scale</a:t>
            </a:r>
            <a:endParaRPr lang="en-US" sz="1100" dirty="0"/>
          </a:p>
        </p:txBody>
      </p:sp>
      <p:sp>
        <p:nvSpPr>
          <p:cNvPr id="30" name="Text 28"/>
          <p:cNvSpPr/>
          <p:nvPr/>
        </p:nvSpPr>
        <p:spPr>
          <a:xfrm>
            <a:off x="3749040" y="4261104"/>
            <a:ext cx="233172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Self-improving exploitation strategies, parallel tool use</a:t>
            </a:r>
            <a:endParaRPr lang="en-US" sz="1100" dirty="0"/>
          </a:p>
        </p:txBody>
      </p:sp>
      <p:sp>
        <p:nvSpPr>
          <p:cNvPr id="31" name="Text 29"/>
          <p:cNvSpPr/>
          <p:nvPr/>
        </p:nvSpPr>
        <p:spPr>
          <a:xfrm>
            <a:off x="6172200" y="4261104"/>
            <a:ext cx="1783080" cy="566928"/>
          </a:xfrm>
          <a:prstGeom prst="rect">
            <a:avLst/>
          </a:prstGeom>
          <a:noFill/>
          <a:ln/>
        </p:spPr>
        <p:txBody>
          <a:bodyPr wrap="square" rtlCol="0" anchor="ctr"/>
          <a:lstStyle/>
          <a:p>
            <a:pPr marL="0" indent="0">
              <a:buNone/>
            </a:pPr>
            <a:r>
              <a:rPr lang="en-US" sz="1050" i="1" dirty="0">
                <a:solidFill>
                  <a:srgbClr val="AAAAAA"/>
                </a:solidFill>
                <a:latin typeface="Calibri" pitchFamily="34" charset="0"/>
                <a:ea typeface="Calibri" pitchFamily="34" charset="-122"/>
                <a:cs typeface="Calibri" pitchFamily="34" charset="-120"/>
              </a:rPr>
              <a:t>Kshetri, Unit 42</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6A1B9A"/>
        </a:solidFill>
        <a:effectLst/>
      </p:bgPr>
    </p:bg>
    <p:spTree>
      <p:nvGrpSpPr>
        <p:cNvPr id="1" name=""/>
        <p:cNvGrpSpPr/>
        <p:nvPr/>
      </p:nvGrpSpPr>
      <p:grpSpPr>
        <a:xfrm>
          <a:off x="0" y="0"/>
          <a:ext cx="0" cy="0"/>
          <a:chOff x="0" y="0"/>
          <a:chExt cx="0" cy="0"/>
        </a:xfrm>
      </p:grpSpPr>
      <p:sp>
        <p:nvSpPr>
          <p:cNvPr id="2" name="Text 0"/>
          <p:cNvSpPr/>
          <p:nvPr/>
        </p:nvSpPr>
        <p:spPr>
          <a:xfrm>
            <a:off x="548640" y="1554480"/>
            <a:ext cx="7772400" cy="457200"/>
          </a:xfrm>
          <a:prstGeom prst="rect">
            <a:avLst/>
          </a:prstGeom>
          <a:noFill/>
          <a:ln/>
        </p:spPr>
        <p:txBody>
          <a:bodyPr wrap="square"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PART 4</a:t>
            </a:r>
            <a:endParaRPr lang="en-US" sz="1300" dirty="0"/>
          </a:p>
        </p:txBody>
      </p:sp>
      <p:sp>
        <p:nvSpPr>
          <p:cNvPr id="3" name="Text 1"/>
          <p:cNvSpPr/>
          <p:nvPr/>
        </p:nvSpPr>
        <p:spPr>
          <a:xfrm>
            <a:off x="548640" y="1965960"/>
            <a:ext cx="77724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Purple Team</a:t>
            </a:r>
            <a:endParaRPr lang="en-US" sz="4400" dirty="0"/>
          </a:p>
        </p:txBody>
      </p:sp>
      <p:sp>
        <p:nvSpPr>
          <p:cNvPr id="4" name="Text 2"/>
          <p:cNvSpPr/>
          <p:nvPr/>
        </p:nvSpPr>
        <p:spPr>
          <a:xfrm>
            <a:off x="548640" y="2971800"/>
            <a:ext cx="7772400" cy="548640"/>
          </a:xfrm>
          <a:prstGeom prst="rect">
            <a:avLst/>
          </a:prstGeom>
          <a:noFill/>
          <a:ln/>
        </p:spPr>
        <p:txBody>
          <a:bodyPr wrap="square" rtlCol="0" anchor="ctr"/>
          <a:lstStyle/>
          <a:p>
            <a:pPr marL="0" indent="0">
              <a:buNone/>
            </a:pPr>
            <a:r>
              <a:rPr lang="en-US" sz="1600" i="1" dirty="0">
                <a:solidFill>
                  <a:srgbClr val="CCCCCC"/>
                </a:solidFill>
                <a:latin typeface="Calibri" pitchFamily="34" charset="0"/>
                <a:ea typeface="Calibri" pitchFamily="34" charset="-122"/>
                <a:cs typeface="Calibri" pitchFamily="34" charset="-120"/>
              </a:rPr>
              <a:t>Adaptive red-blue simulation and automated cyber range generation</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4 · PURPLE TEAM · SLIDE 1/2</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Adaptive Red–Blue Simulation</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4.1.3 &amp; Prototype 8.1 — Agents learning from each other</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Game-theoretic framing: cyber defense = repeated attacker-defender interaction. LLM agents update beliefs and act under uncertainty (Zhu, 2025)</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Red agents: emulate reconnaissance, exploitation, privilege escalation — generating attack strategies from system config alone</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Blue agents: respond with detection, patching, policy updates — inferring countermeasures without pre-coded rules</a:t>
            </a:r>
            <a:endParaRPr lang="en-US" sz="1300" dirty="0"/>
          </a:p>
          <a:p>
            <a:pPr marL="342900" indent="-342900">
              <a:spcAft>
                <a:spcPts val="1200"/>
              </a:spcAft>
              <a:buSzPct val="100000"/>
              <a:buChar char="•"/>
            </a:pPr>
            <a:r>
              <a:rPr lang="en-US" sz="1300" dirty="0">
                <a:solidFill>
                  <a:srgbClr val="111111"/>
                </a:solidFill>
                <a:latin typeface="Calibri" pitchFamily="34" charset="0"/>
                <a:ea typeface="Calibri" pitchFamily="34" charset="-122"/>
                <a:cs typeface="Calibri" pitchFamily="34" charset="-120"/>
              </a:rPr>
              <a:t>Trend Micro digital twin: coordinated red-blue co-evolution in sandboxed environments — improves defensive learning while limiting real-world risk</a:t>
            </a:r>
            <a:endParaRPr lang="en-US" sz="1300" dirty="0"/>
          </a:p>
          <a:p>
            <a:pPr marL="342900" indent="-342900">
              <a:spcAft>
                <a:spcPts val="400"/>
              </a:spcAft>
              <a:buSzPct val="100000"/>
              <a:buChar char="•"/>
            </a:pPr>
            <a:r>
              <a:rPr lang="en-US" sz="1300" b="1" dirty="0">
                <a:solidFill>
                  <a:srgbClr val="111111"/>
                </a:solidFill>
                <a:latin typeface="Calibri" pitchFamily="34" charset="0"/>
                <a:ea typeface="Calibri" pitchFamily="34" charset="-122"/>
                <a:cs typeface="Calibri" pitchFamily="34" charset="-120"/>
              </a:rPr>
              <a:t>Prototype (Section 8.1): Mistral via Ollama — 2-round simulation with fully autonomous adaptation. Neither agent was pre-programmed with specific strategies:</a:t>
            </a:r>
            <a:endParaRPr lang="en-US" sz="1300" dirty="0"/>
          </a:p>
          <a:p>
            <a:pPr marL="342900" indent="-342900">
              <a:spcAft>
                <a:spcPts val="400"/>
              </a:spcAft>
              <a:buSzPct val="100000"/>
              <a:buChar char="•"/>
            </a:pPr>
            <a:r>
              <a:rPr lang="en-US" sz="1300" dirty="0">
                <a:solidFill>
                  <a:srgbClr val="111111"/>
                </a:solidFill>
                <a:latin typeface="Calibri" pitchFamily="34" charset="0"/>
                <a:ea typeface="Calibri" pitchFamily="34" charset="-122"/>
                <a:cs typeface="Calibri" pitchFamily="34" charset="-120"/>
              </a:rPr>
              <a:t>  Round 1 — Red: Apache 2.4.49 RCE → Blue: patch + IDS + firewall rules</a:t>
            </a:r>
            <a:endParaRPr lang="en-US" sz="1300" dirty="0"/>
          </a:p>
          <a:p>
            <a:pPr marL="342900" indent="-342900">
              <a:spcAft>
                <a:spcPts val="1000"/>
              </a:spcAft>
              <a:buSzPct val="100000"/>
              <a:buChar char="•"/>
            </a:pPr>
            <a:r>
              <a:rPr lang="en-US" sz="1300" dirty="0">
                <a:solidFill>
                  <a:srgbClr val="111111"/>
                </a:solidFill>
                <a:latin typeface="Calibri" pitchFamily="34" charset="0"/>
                <a:ea typeface="Calibri" pitchFamily="34" charset="-122"/>
                <a:cs typeface="Calibri" pitchFamily="34" charset="-120"/>
              </a:rPr>
              <a:t>  Round 2 — Red: zero-day + polymorphic malware + pass-the-hash → Blue: ATP + network segmentation + user behavior analytics</a:t>
            </a:r>
            <a:endParaRPr lang="en-US" sz="1300" dirty="0"/>
          </a:p>
          <a:p>
            <a:pPr marL="342900" indent="-342900">
              <a:spcAft>
                <a:spcPts val="600"/>
              </a:spcAft>
              <a:buSzPct val="100000"/>
              <a:buChar char="•"/>
            </a:pPr>
            <a:r>
              <a:rPr lang="en-US" sz="1300" b="1" dirty="0">
                <a:solidFill>
                  <a:srgbClr val="C0392B"/>
                </a:solidFill>
                <a:latin typeface="Calibri" pitchFamily="34" charset="0"/>
                <a:ea typeface="Calibri" pitchFamily="34" charset="-122"/>
                <a:cs typeface="Calibri" pitchFamily="34" charset="-120"/>
              </a:rPr>
              <a:t>Risk: misaligned objectives or incomplete incentives can amplify failure modes. Escalation compression = key systemic danger.</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4 · PURPLE TEAM · SLIDE 2/2</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Automated Cyber Range Generation</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4.4.1 — ARCeR and Cyberwheel</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Traditional cyber range construction: expert scripting of network topologies, services, and attack scenarios — time-consuming, costly, slow to iterate</a:t>
            </a:r>
            <a:endParaRPr lang="en-US" sz="1300" dirty="0"/>
          </a:p>
          <a:p>
            <a:pPr marL="342900" indent="-342900">
              <a:spcAft>
                <a:spcPts val="800"/>
              </a:spcAft>
              <a:buSzPct val="100000"/>
              <a:buChar char="•"/>
            </a:pPr>
            <a:r>
              <a:rPr lang="en-US" sz="1300" b="1" dirty="0">
                <a:solidFill>
                  <a:srgbClr val="111111"/>
                </a:solidFill>
                <a:latin typeface="Calibri" pitchFamily="34" charset="0"/>
                <a:ea typeface="Calibri" pitchFamily="34" charset="-122"/>
                <a:cs typeface="Calibri" pitchFamily="34" charset="-120"/>
              </a:rPr>
              <a:t>ARCeR (Lupinacci et al., 2025): multi-agent RAG pipeline generates and deploys cyber ranges from natural language descriptions</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Specialized agents: (1) retrieve documentation, (2) generate configurations, (3) validate compatibility, (4) orchestrate deployment</a:t>
            </a:r>
            <a:endParaRPr lang="en-US" sz="1300" dirty="0"/>
          </a:p>
          <a:p>
            <a:pPr marL="342900" indent="-342900">
              <a:spcAft>
                <a:spcPts val="1200"/>
              </a:spcAft>
              <a:buSzPct val="100000"/>
              <a:buChar char="•"/>
            </a:pPr>
            <a:r>
              <a:rPr lang="en-US" sz="1300" dirty="0">
                <a:solidFill>
                  <a:srgbClr val="111111"/>
                </a:solidFill>
                <a:latin typeface="Calibri" pitchFamily="34" charset="0"/>
                <a:ea typeface="Calibri" pitchFamily="34" charset="-122"/>
                <a:cs typeface="Calibri" pitchFamily="34" charset="-120"/>
              </a:rPr>
              <a:t>Result: reduced instructor effort, faster iteration, improved configuration correctness vs. single-model RAG systems</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Cyberwheel (Oesch et al., 2024): high-fidelity simulation + emulation environment. Agents trained in simulation → evaluated in virtualized environments via graph-based network definitions</a:t>
            </a:r>
            <a:endParaRPr lang="en-US" sz="1300" dirty="0"/>
          </a:p>
          <a:p>
            <a:pPr marL="342900" indent="-342900">
              <a:spcAft>
                <a:spcPts val="800"/>
              </a:spcAft>
              <a:buSzPct val="100000"/>
              <a:buChar char="•"/>
            </a:pPr>
            <a:r>
              <a:rPr lang="en-US" sz="1300" dirty="0">
                <a:solidFill>
                  <a:srgbClr val="C0392B"/>
                </a:solidFill>
                <a:latin typeface="Calibri" pitchFamily="34" charset="0"/>
                <a:ea typeface="Calibri" pitchFamily="34" charset="-122"/>
                <a:cs typeface="Calibri" pitchFamily="34" charset="-120"/>
              </a:rPr>
              <a:t>Key limitation of both: validate structural correctness, NOT scenario realism or learning value. Human review still required to assess threat fidelity</a:t>
            </a:r>
            <a:endParaRPr lang="en-US" sz="1300" dirty="0"/>
          </a:p>
          <a:p>
            <a:pPr marL="342900" indent="-342900">
              <a:spcAft>
                <a:spcPts val="600"/>
              </a:spcAft>
              <a:buSzPct val="100000"/>
              <a:buChar char="•"/>
            </a:pPr>
            <a:r>
              <a:rPr lang="en-US" sz="1300" dirty="0">
                <a:solidFill>
                  <a:srgbClr val="444444"/>
                </a:solidFill>
                <a:latin typeface="Calibri" pitchFamily="34" charset="0"/>
                <a:ea typeface="Calibri" pitchFamily="34" charset="-122"/>
                <a:cs typeface="Calibri" pitchFamily="34" charset="-120"/>
              </a:rPr>
              <a:t>Open problem: how to validate that auto-generated ranges reflect evolving real-world threats rather than being structurally correct but substantively limited</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36454F"/>
        </a:solidFill>
        <a:effectLst/>
      </p:bgPr>
    </p:bg>
    <p:spTree>
      <p:nvGrpSpPr>
        <p:cNvPr id="1" name=""/>
        <p:cNvGrpSpPr/>
        <p:nvPr/>
      </p:nvGrpSpPr>
      <p:grpSpPr>
        <a:xfrm>
          <a:off x="0" y="0"/>
          <a:ext cx="0" cy="0"/>
          <a:chOff x="0" y="0"/>
          <a:chExt cx="0" cy="0"/>
        </a:xfrm>
      </p:grpSpPr>
      <p:sp>
        <p:nvSpPr>
          <p:cNvPr id="2" name="Text 0"/>
          <p:cNvSpPr/>
          <p:nvPr/>
        </p:nvSpPr>
        <p:spPr>
          <a:xfrm>
            <a:off x="548640" y="1554480"/>
            <a:ext cx="7772400" cy="457200"/>
          </a:xfrm>
          <a:prstGeom prst="rect">
            <a:avLst/>
          </a:prstGeom>
          <a:noFill/>
          <a:ln/>
        </p:spPr>
        <p:txBody>
          <a:bodyPr wrap="square"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PART 5</a:t>
            </a:r>
            <a:endParaRPr lang="en-US" sz="1300" dirty="0"/>
          </a:p>
        </p:txBody>
      </p:sp>
      <p:sp>
        <p:nvSpPr>
          <p:cNvPr id="3" name="Text 1"/>
          <p:cNvSpPr/>
          <p:nvPr/>
        </p:nvSpPr>
        <p:spPr>
          <a:xfrm>
            <a:off x="548640" y="1965960"/>
            <a:ext cx="77724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Risks to the Agents</a:t>
            </a:r>
            <a:endParaRPr lang="en-US" sz="4400" dirty="0"/>
          </a:p>
        </p:txBody>
      </p:sp>
      <p:sp>
        <p:nvSpPr>
          <p:cNvPr id="4" name="Text 2"/>
          <p:cNvSpPr/>
          <p:nvPr/>
        </p:nvSpPr>
        <p:spPr>
          <a:xfrm>
            <a:off x="548640" y="2971800"/>
            <a:ext cx="7772400" cy="548640"/>
          </a:xfrm>
          <a:prstGeom prst="rect">
            <a:avLst/>
          </a:prstGeom>
          <a:noFill/>
          <a:ln/>
        </p:spPr>
        <p:txBody>
          <a:bodyPr wrap="square" rtlCol="0" anchor="ctr"/>
          <a:lstStyle/>
          <a:p>
            <a:pPr marL="0" indent="0">
              <a:buNone/>
            </a:pPr>
            <a:r>
              <a:rPr lang="en-US" sz="1600" i="1" dirty="0">
                <a:solidFill>
                  <a:srgbClr val="CCCCCC"/>
                </a:solidFill>
                <a:latin typeface="Calibri" pitchFamily="34" charset="0"/>
                <a:ea typeface="Calibri" pitchFamily="34" charset="-122"/>
                <a:cs typeface="Calibri" pitchFamily="34" charset="-120"/>
              </a:rPr>
              <a:t>Attack surfaces targeting AI systems — four-layer model, prompt injection, memory poisoning</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5 · AGENT RISKS · SLIDE 1/3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The Four-Layer Risk Model</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6.1 &amp; Figure 5 — Wong &amp; Saade's threat taxonomy across agent layers</a:t>
            </a:r>
            <a:endParaRPr lang="en-US" sz="1400" dirty="0"/>
          </a:p>
        </p:txBody>
      </p:sp>
      <p:sp>
        <p:nvSpPr>
          <p:cNvPr id="7" name="Shape 5"/>
          <p:cNvSpPr/>
          <p:nvPr/>
        </p:nvSpPr>
        <p:spPr>
          <a:xfrm>
            <a:off x="502920" y="1664208"/>
            <a:ext cx="8138160" cy="685800"/>
          </a:xfrm>
          <a:prstGeom prst="rect">
            <a:avLst/>
          </a:prstGeom>
          <a:solidFill>
            <a:srgbClr val="F2F2F2"/>
          </a:solidFill>
          <a:ln w="12700">
            <a:solidFill>
              <a:srgbClr val="DDDDDD"/>
            </a:solidFill>
            <a:prstDash val="solid"/>
          </a:ln>
        </p:spPr>
      </p:sp>
      <p:sp>
        <p:nvSpPr>
          <p:cNvPr id="8" name="Shape 6"/>
          <p:cNvSpPr/>
          <p:nvPr/>
        </p:nvSpPr>
        <p:spPr>
          <a:xfrm>
            <a:off x="502920" y="1664208"/>
            <a:ext cx="36576" cy="685800"/>
          </a:xfrm>
          <a:prstGeom prst="rect">
            <a:avLst/>
          </a:prstGeom>
          <a:solidFill>
            <a:srgbClr val="C0392B"/>
          </a:solidFill>
          <a:ln w="12700">
            <a:solidFill>
              <a:srgbClr val="C0392B"/>
            </a:solidFill>
            <a:prstDash val="solid"/>
          </a:ln>
        </p:spPr>
      </p:sp>
      <p:sp>
        <p:nvSpPr>
          <p:cNvPr id="9" name="Text 7"/>
          <p:cNvSpPr/>
          <p:nvPr/>
        </p:nvSpPr>
        <p:spPr>
          <a:xfrm>
            <a:off x="640080" y="1719072"/>
            <a:ext cx="1737360" cy="548640"/>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Perception Layer</a:t>
            </a:r>
            <a:endParaRPr lang="en-US" sz="1200" dirty="0"/>
          </a:p>
        </p:txBody>
      </p:sp>
      <p:sp>
        <p:nvSpPr>
          <p:cNvPr id="10" name="Text 8"/>
          <p:cNvSpPr/>
          <p:nvPr/>
        </p:nvSpPr>
        <p:spPr>
          <a:xfrm>
            <a:off x="2423160" y="1719072"/>
            <a:ext cx="32918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Threats: Data poisoning · adversarial inputs · supply chain attacks</a:t>
            </a:r>
            <a:endParaRPr lang="en-US" sz="1100" dirty="0"/>
          </a:p>
        </p:txBody>
      </p:sp>
      <p:sp>
        <p:nvSpPr>
          <p:cNvPr id="11" name="Text 9"/>
          <p:cNvSpPr/>
          <p:nvPr/>
        </p:nvSpPr>
        <p:spPr>
          <a:xfrm>
            <a:off x="5760720" y="1719072"/>
            <a:ext cx="283464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Defense: Input validation · guardrails · anomaly detection</a:t>
            </a:r>
            <a:endParaRPr lang="en-US" sz="1100" dirty="0"/>
          </a:p>
        </p:txBody>
      </p:sp>
      <p:sp>
        <p:nvSpPr>
          <p:cNvPr id="12" name="Shape 10"/>
          <p:cNvSpPr/>
          <p:nvPr/>
        </p:nvSpPr>
        <p:spPr>
          <a:xfrm>
            <a:off x="502920" y="2414016"/>
            <a:ext cx="8138160" cy="685800"/>
          </a:xfrm>
          <a:prstGeom prst="rect">
            <a:avLst/>
          </a:prstGeom>
          <a:solidFill>
            <a:srgbClr val="F2F2F2"/>
          </a:solidFill>
          <a:ln w="12700">
            <a:solidFill>
              <a:srgbClr val="DDDDDD"/>
            </a:solidFill>
            <a:prstDash val="solid"/>
          </a:ln>
        </p:spPr>
      </p:sp>
      <p:sp>
        <p:nvSpPr>
          <p:cNvPr id="13" name="Shape 11"/>
          <p:cNvSpPr/>
          <p:nvPr/>
        </p:nvSpPr>
        <p:spPr>
          <a:xfrm>
            <a:off x="502920" y="2414016"/>
            <a:ext cx="36576" cy="685800"/>
          </a:xfrm>
          <a:prstGeom prst="rect">
            <a:avLst/>
          </a:prstGeom>
          <a:solidFill>
            <a:srgbClr val="E65100"/>
          </a:solidFill>
          <a:ln w="12700">
            <a:solidFill>
              <a:srgbClr val="E65100"/>
            </a:solidFill>
            <a:prstDash val="solid"/>
          </a:ln>
        </p:spPr>
      </p:sp>
      <p:sp>
        <p:nvSpPr>
          <p:cNvPr id="14" name="Text 12"/>
          <p:cNvSpPr/>
          <p:nvPr/>
        </p:nvSpPr>
        <p:spPr>
          <a:xfrm>
            <a:off x="640080" y="2468880"/>
            <a:ext cx="1737360" cy="548640"/>
          </a:xfrm>
          <a:prstGeom prst="rect">
            <a:avLst/>
          </a:prstGeom>
          <a:noFill/>
          <a:ln/>
        </p:spPr>
        <p:txBody>
          <a:bodyPr wrap="square" rtlCol="0" anchor="ctr"/>
          <a:lstStyle/>
          <a:p>
            <a:pPr marL="0" indent="0">
              <a:buNone/>
            </a:pPr>
            <a:r>
              <a:rPr lang="en-US" sz="1200" b="1" dirty="0">
                <a:solidFill>
                  <a:srgbClr val="E65100"/>
                </a:solidFill>
                <a:latin typeface="Calibri" pitchFamily="34" charset="0"/>
                <a:ea typeface="Calibri" pitchFamily="34" charset="-122"/>
                <a:cs typeface="Calibri" pitchFamily="34" charset="-120"/>
              </a:rPr>
              <a:t>Reasoning Layer</a:t>
            </a:r>
            <a:endParaRPr lang="en-US" sz="1200" dirty="0"/>
          </a:p>
        </p:txBody>
      </p:sp>
      <p:sp>
        <p:nvSpPr>
          <p:cNvPr id="15" name="Text 13"/>
          <p:cNvSpPr/>
          <p:nvPr/>
        </p:nvSpPr>
        <p:spPr>
          <a:xfrm>
            <a:off x="2423160" y="2468880"/>
            <a:ext cx="32918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Threats: Prompt injection · logic manipulation · backdoors · reasoning trace hijacking</a:t>
            </a:r>
            <a:endParaRPr lang="en-US" sz="1100" dirty="0"/>
          </a:p>
        </p:txBody>
      </p:sp>
      <p:sp>
        <p:nvSpPr>
          <p:cNvPr id="16" name="Text 14"/>
          <p:cNvSpPr/>
          <p:nvPr/>
        </p:nvSpPr>
        <p:spPr>
          <a:xfrm>
            <a:off x="5760720" y="2468880"/>
            <a:ext cx="283464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Defense: Multi-agent debate · reasoning guardrails · chain-of-thought monitoring</a:t>
            </a:r>
            <a:endParaRPr lang="en-US" sz="1100" dirty="0"/>
          </a:p>
        </p:txBody>
      </p:sp>
      <p:sp>
        <p:nvSpPr>
          <p:cNvPr id="17" name="Shape 15"/>
          <p:cNvSpPr/>
          <p:nvPr/>
        </p:nvSpPr>
        <p:spPr>
          <a:xfrm>
            <a:off x="502920" y="3163824"/>
            <a:ext cx="8138160" cy="685800"/>
          </a:xfrm>
          <a:prstGeom prst="rect">
            <a:avLst/>
          </a:prstGeom>
          <a:solidFill>
            <a:srgbClr val="F2F2F2"/>
          </a:solidFill>
          <a:ln w="12700">
            <a:solidFill>
              <a:srgbClr val="DDDDDD"/>
            </a:solidFill>
            <a:prstDash val="solid"/>
          </a:ln>
        </p:spPr>
      </p:sp>
      <p:sp>
        <p:nvSpPr>
          <p:cNvPr id="18" name="Shape 16"/>
          <p:cNvSpPr/>
          <p:nvPr/>
        </p:nvSpPr>
        <p:spPr>
          <a:xfrm>
            <a:off x="502920" y="3163824"/>
            <a:ext cx="36576" cy="685800"/>
          </a:xfrm>
          <a:prstGeom prst="rect">
            <a:avLst/>
          </a:prstGeom>
          <a:solidFill>
            <a:srgbClr val="1565C0"/>
          </a:solidFill>
          <a:ln w="12700">
            <a:solidFill>
              <a:srgbClr val="1565C0"/>
            </a:solidFill>
            <a:prstDash val="solid"/>
          </a:ln>
        </p:spPr>
      </p:sp>
      <p:sp>
        <p:nvSpPr>
          <p:cNvPr id="19" name="Text 17"/>
          <p:cNvSpPr/>
          <p:nvPr/>
        </p:nvSpPr>
        <p:spPr>
          <a:xfrm>
            <a:off x="640080" y="3218688"/>
            <a:ext cx="1737360" cy="548640"/>
          </a:xfrm>
          <a:prstGeom prst="rect">
            <a:avLst/>
          </a:prstGeom>
          <a:noFill/>
          <a:ln/>
        </p:spPr>
        <p:txBody>
          <a:bodyPr wrap="square" rtlCol="0" anchor="ctr"/>
          <a:lstStyle/>
          <a:p>
            <a:pPr marL="0" indent="0">
              <a:buNone/>
            </a:pPr>
            <a:r>
              <a:rPr lang="en-US" sz="1200" b="1" dirty="0">
                <a:solidFill>
                  <a:srgbClr val="1565C0"/>
                </a:solidFill>
                <a:latin typeface="Calibri" pitchFamily="34" charset="0"/>
                <a:ea typeface="Calibri" pitchFamily="34" charset="-122"/>
                <a:cs typeface="Calibri" pitchFamily="34" charset="-120"/>
              </a:rPr>
              <a:t>Action Layer</a:t>
            </a:r>
            <a:endParaRPr lang="en-US" sz="1200" dirty="0"/>
          </a:p>
        </p:txBody>
      </p:sp>
      <p:sp>
        <p:nvSpPr>
          <p:cNvPr id="20" name="Text 18"/>
          <p:cNvSpPr/>
          <p:nvPr/>
        </p:nvSpPr>
        <p:spPr>
          <a:xfrm>
            <a:off x="2423160" y="3218688"/>
            <a:ext cx="32918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Threats: API misuse · unsafe tool invocation · unauthorized code execution</a:t>
            </a:r>
            <a:endParaRPr lang="en-US" sz="1100" dirty="0"/>
          </a:p>
        </p:txBody>
      </p:sp>
      <p:sp>
        <p:nvSpPr>
          <p:cNvPr id="21" name="Text 19"/>
          <p:cNvSpPr/>
          <p:nvPr/>
        </p:nvSpPr>
        <p:spPr>
          <a:xfrm>
            <a:off x="5760720" y="3218688"/>
            <a:ext cx="283464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Defense: Sandboxing · privilege separation · secure tool emulation</a:t>
            </a:r>
            <a:endParaRPr lang="en-US" sz="1100" dirty="0"/>
          </a:p>
        </p:txBody>
      </p:sp>
      <p:sp>
        <p:nvSpPr>
          <p:cNvPr id="22" name="Shape 20"/>
          <p:cNvSpPr/>
          <p:nvPr/>
        </p:nvSpPr>
        <p:spPr>
          <a:xfrm>
            <a:off x="502920" y="3913632"/>
            <a:ext cx="8138160" cy="685800"/>
          </a:xfrm>
          <a:prstGeom prst="rect">
            <a:avLst/>
          </a:prstGeom>
          <a:solidFill>
            <a:srgbClr val="F2F2F2"/>
          </a:solidFill>
          <a:ln w="12700">
            <a:solidFill>
              <a:srgbClr val="DDDDDD"/>
            </a:solidFill>
            <a:prstDash val="solid"/>
          </a:ln>
        </p:spPr>
      </p:sp>
      <p:sp>
        <p:nvSpPr>
          <p:cNvPr id="23" name="Shape 21"/>
          <p:cNvSpPr/>
          <p:nvPr/>
        </p:nvSpPr>
        <p:spPr>
          <a:xfrm>
            <a:off x="502920" y="3913632"/>
            <a:ext cx="36576" cy="685800"/>
          </a:xfrm>
          <a:prstGeom prst="rect">
            <a:avLst/>
          </a:prstGeom>
          <a:solidFill>
            <a:srgbClr val="6A1B9A"/>
          </a:solidFill>
          <a:ln w="12700">
            <a:solidFill>
              <a:srgbClr val="6A1B9A"/>
            </a:solidFill>
            <a:prstDash val="solid"/>
          </a:ln>
        </p:spPr>
      </p:sp>
      <p:sp>
        <p:nvSpPr>
          <p:cNvPr id="24" name="Text 22"/>
          <p:cNvSpPr/>
          <p:nvPr/>
        </p:nvSpPr>
        <p:spPr>
          <a:xfrm>
            <a:off x="640080" y="3968496"/>
            <a:ext cx="1737360" cy="548640"/>
          </a:xfrm>
          <a:prstGeom prst="rect">
            <a:avLst/>
          </a:prstGeom>
          <a:noFill/>
          <a:ln/>
        </p:spPr>
        <p:txBody>
          <a:bodyPr wrap="square" rtlCol="0" anchor="ctr"/>
          <a:lstStyle/>
          <a:p>
            <a:pPr marL="0" indent="0">
              <a:buNone/>
            </a:pPr>
            <a:r>
              <a:rPr lang="en-US" sz="1200" b="1" dirty="0">
                <a:solidFill>
                  <a:srgbClr val="6A1B9A"/>
                </a:solidFill>
                <a:latin typeface="Calibri" pitchFamily="34" charset="0"/>
                <a:ea typeface="Calibri" pitchFamily="34" charset="-122"/>
                <a:cs typeface="Calibri" pitchFamily="34" charset="-120"/>
              </a:rPr>
              <a:t>Memory Layer</a:t>
            </a:r>
            <a:endParaRPr lang="en-US" sz="1200" dirty="0"/>
          </a:p>
        </p:txBody>
      </p:sp>
      <p:sp>
        <p:nvSpPr>
          <p:cNvPr id="25" name="Text 23"/>
          <p:cNvSpPr/>
          <p:nvPr/>
        </p:nvSpPr>
        <p:spPr>
          <a:xfrm>
            <a:off x="2423160" y="3968496"/>
            <a:ext cx="3291840" cy="566928"/>
          </a:xfrm>
          <a:prstGeom prst="rect">
            <a:avLst/>
          </a:prstGeom>
          <a:noFill/>
          <a:ln/>
        </p:spPr>
        <p:txBody>
          <a:bodyPr wrap="square" rtlCol="0" anchor="ctr"/>
          <a:lstStyle/>
          <a:p>
            <a:pPr marL="0" indent="0">
              <a:buNone/>
            </a:pPr>
            <a:r>
              <a:rPr lang="en-US" sz="1100" dirty="0">
                <a:solidFill>
                  <a:srgbClr val="111111"/>
                </a:solidFill>
                <a:latin typeface="Calibri" pitchFamily="34" charset="0"/>
                <a:ea typeface="Calibri" pitchFamily="34" charset="-122"/>
                <a:cs typeface="Calibri" pitchFamily="34" charset="-120"/>
              </a:rPr>
              <a:t>Threats: Poisoned retrievals · data leakage · cross-user privacy violations · persistent memory poisoning</a:t>
            </a:r>
            <a:endParaRPr lang="en-US" sz="1100" dirty="0"/>
          </a:p>
        </p:txBody>
      </p:sp>
      <p:sp>
        <p:nvSpPr>
          <p:cNvPr id="26" name="Text 24"/>
          <p:cNvSpPr/>
          <p:nvPr/>
        </p:nvSpPr>
        <p:spPr>
          <a:xfrm>
            <a:off x="5760720" y="3968496"/>
            <a:ext cx="2834640" cy="566928"/>
          </a:xfrm>
          <a:prstGeom prst="rect">
            <a:avLst/>
          </a:prstGeom>
          <a:noFill/>
          <a:ln/>
        </p:spPr>
        <p:txBody>
          <a:bodyPr wrap="square" rtlCol="0" anchor="ctr"/>
          <a:lstStyle/>
          <a:p>
            <a:pPr marL="0" indent="0">
              <a:buNone/>
            </a:pPr>
            <a:r>
              <a:rPr lang="en-US" sz="1100" dirty="0">
                <a:solidFill>
                  <a:srgbClr val="444444"/>
                </a:solidFill>
                <a:latin typeface="Calibri" pitchFamily="34" charset="0"/>
                <a:ea typeface="Calibri" pitchFamily="34" charset="-122"/>
                <a:cs typeface="Calibri" pitchFamily="34" charset="-120"/>
              </a:rPr>
              <a:t>Defense: Encryption · fine-grained access control · memory versioning</a:t>
            </a:r>
            <a:endParaRPr lang="en-US" sz="1100" dirty="0"/>
          </a:p>
        </p:txBody>
      </p:sp>
      <p:sp>
        <p:nvSpPr>
          <p:cNvPr id="27" name="Text 25"/>
          <p:cNvSpPr/>
          <p:nvPr/>
        </p:nvSpPr>
        <p:spPr>
          <a:xfrm>
            <a:off x="502920" y="4681728"/>
            <a:ext cx="8138160" cy="347472"/>
          </a:xfrm>
          <a:prstGeom prst="rect">
            <a:avLst/>
          </a:prstGeom>
          <a:noFill/>
          <a:ln/>
        </p:spPr>
        <p:txBody>
          <a:bodyPr wrap="square" rtlCol="0" anchor="ctr"/>
          <a:lstStyle/>
          <a:p>
            <a:pPr marL="0" indent="0">
              <a:buNone/>
            </a:pPr>
            <a:r>
              <a:rPr lang="en-US" sz="1200" b="1" dirty="0">
                <a:solidFill>
                  <a:srgbClr val="C0392B"/>
                </a:solidFill>
                <a:latin typeface="Calibri" pitchFamily="34" charset="0"/>
                <a:ea typeface="Calibri" pitchFamily="34" charset="-122"/>
                <a:cs typeface="Calibri" pitchFamily="34" charset="-120"/>
              </a:rPr>
              <a:t>Key insight: failures PROPAGATE across layers — effective defense requires coordinated controls, not isolated mitigations. No single framework yet connects all four layers.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5 · AGENT RISKS · SLIDE 2/3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Prompt Injection &amp; Tool Invocation Risks</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6.3 — The authority and orchestration problem</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600"/>
              </a:spcAft>
              <a:buSzPct val="100000"/>
              <a:buChar char="•"/>
            </a:pPr>
            <a:r>
              <a:rPr lang="en-US" sz="1250" b="1" dirty="0">
                <a:solidFill>
                  <a:srgbClr val="111111"/>
                </a:solidFill>
                <a:latin typeface="Calibri" pitchFamily="34" charset="0"/>
                <a:ea typeface="Calibri" pitchFamily="34" charset="-122"/>
                <a:cs typeface="Calibri" pitchFamily="34" charset="-120"/>
              </a:rPr>
              <a:t>Prompt injection = malicious instructions hidden in data the agent processes (web pages, documents, emails, API responses)</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In multi-step agents, injected instructions can propagate across multiple tool calls and agent transitions — cascading compromise</a:t>
            </a:r>
            <a:endParaRPr lang="en-US" sz="1250" dirty="0"/>
          </a:p>
          <a:p>
            <a:pPr marL="342900" indent="-342900">
              <a:spcAft>
                <a:spcPts val="600"/>
              </a:spcAft>
              <a:buSzPct val="100000"/>
              <a:buChar char="•"/>
            </a:pPr>
            <a:r>
              <a:rPr lang="en-US" sz="1250" dirty="0">
                <a:solidFill>
                  <a:srgbClr val="111111"/>
                </a:solidFill>
                <a:latin typeface="Calibri" pitchFamily="34" charset="0"/>
                <a:ea typeface="Calibri" pitchFamily="34" charset="-122"/>
                <a:cs typeface="Calibri" pitchFamily="34" charset="-120"/>
              </a:rPr>
              <a:t>Hybrid attacks: combine prompt injection with XSS and CSRF — bypass BOTH AI guardrails and traditional web app defenses (McHugh et al., 2025)</a:t>
            </a:r>
            <a:endParaRPr lang="en-US" sz="1250" dirty="0"/>
          </a:p>
          <a:p>
            <a:pPr marL="342900" indent="-342900">
              <a:spcAft>
                <a:spcPts val="1000"/>
              </a:spcAft>
              <a:buSzPct val="100000"/>
              <a:buChar char="•"/>
            </a:pPr>
            <a:r>
              <a:rPr lang="en-US" sz="1250" dirty="0">
                <a:solidFill>
                  <a:srgbClr val="111111"/>
                </a:solidFill>
                <a:latin typeface="Calibri" pitchFamily="34" charset="0"/>
                <a:ea typeface="Calibri" pitchFamily="34" charset="-122"/>
                <a:cs typeface="Calibri" pitchFamily="34" charset="-120"/>
              </a:rPr>
              <a:t>Semantic prompt injections: hidden in symbolic or multimodal content — static text filters cannot detect them (NVIDIA, 2025)</a:t>
            </a:r>
            <a:endParaRPr lang="en-US" sz="1250" dirty="0"/>
          </a:p>
          <a:p>
            <a:pPr marL="342900" indent="-342900">
              <a:spcAft>
                <a:spcPts val="400"/>
              </a:spcAft>
              <a:buSzPct val="100000"/>
              <a:buChar char="•"/>
            </a:pPr>
            <a:r>
              <a:rPr lang="en-US" sz="1250" b="1" dirty="0">
                <a:solidFill>
                  <a:srgbClr val="111111"/>
                </a:solidFill>
                <a:latin typeface="Calibri" pitchFamily="34" charset="0"/>
                <a:ea typeface="Calibri" pitchFamily="34" charset="-122"/>
                <a:cs typeface="Calibri" pitchFamily="34" charset="-120"/>
              </a:rPr>
              <a:t>MITIGATIONS (Table 6) — each addresses a different failure point:</a:t>
            </a:r>
            <a:endParaRPr lang="en-US" sz="1250" dirty="0"/>
          </a:p>
          <a:p>
            <a:pPr marL="342900" indent="-342900">
              <a:spcAft>
                <a:spcPts val="400"/>
              </a:spcAft>
              <a:buSzPct val="100000"/>
              <a:buChar char="•"/>
            </a:pPr>
            <a:r>
              <a:rPr lang="en-US" sz="1250" dirty="0">
                <a:solidFill>
                  <a:srgbClr val="111111"/>
                </a:solidFill>
                <a:latin typeface="Calibri" pitchFamily="34" charset="0"/>
                <a:ea typeface="Calibri" pitchFamily="34" charset="-122"/>
                <a:cs typeface="Calibri" pitchFamily="34" charset="-120"/>
              </a:rPr>
              <a:t>  Input sanitization: blocks pattern-based injections — FAILS against semantic/multimodal attacks</a:t>
            </a:r>
            <a:endParaRPr lang="en-US" sz="1250" dirty="0"/>
          </a:p>
          <a:p>
            <a:pPr marL="342900" indent="-342900">
              <a:spcAft>
                <a:spcPts val="400"/>
              </a:spcAft>
              <a:buSzPct val="100000"/>
              <a:buChar char="•"/>
            </a:pPr>
            <a:r>
              <a:rPr lang="en-US" sz="1250" dirty="0">
                <a:solidFill>
                  <a:srgbClr val="111111"/>
                </a:solidFill>
                <a:latin typeface="Calibri" pitchFamily="34" charset="0"/>
                <a:ea typeface="Calibri" pitchFamily="34" charset="-122"/>
                <a:cs typeface="Calibri" pitchFamily="34" charset="-120"/>
              </a:rPr>
              <a:t>  Scoped credentials / least privilege: limits blast radius — does NOT prevent injected instructions from steering toward permitted-but-harmful actions</a:t>
            </a:r>
            <a:endParaRPr lang="en-US" sz="1250" dirty="0"/>
          </a:p>
          <a:p>
            <a:pPr marL="342900" indent="-342900">
              <a:spcAft>
                <a:spcPts val="400"/>
              </a:spcAft>
              <a:buSzPct val="100000"/>
              <a:buChar char="•"/>
            </a:pPr>
            <a:r>
              <a:rPr lang="en-US" sz="1250" dirty="0">
                <a:solidFill>
                  <a:srgbClr val="111111"/>
                </a:solidFill>
                <a:latin typeface="Calibri" pitchFamily="34" charset="0"/>
                <a:ea typeface="Calibri" pitchFamily="34" charset="-122"/>
                <a:cs typeface="Calibri" pitchFamily="34" charset="-120"/>
              </a:rPr>
              <a:t>  Runtime monitoring / red-teaming: detects post-hoc — often misses cross-service cascades</a:t>
            </a:r>
            <a:endParaRPr lang="en-US" sz="1250" dirty="0"/>
          </a:p>
          <a:p>
            <a:pPr marL="342900" indent="-342900">
              <a:spcAft>
                <a:spcPts val="800"/>
              </a:spcAft>
              <a:buSzPct val="100000"/>
              <a:buChar char="•"/>
            </a:pPr>
            <a:r>
              <a:rPr lang="en-US" sz="1250" dirty="0">
                <a:solidFill>
                  <a:srgbClr val="111111"/>
                </a:solidFill>
                <a:latin typeface="Calibri" pitchFamily="34" charset="0"/>
                <a:ea typeface="Calibri" pitchFamily="34" charset="-122"/>
                <a:cs typeface="Calibri" pitchFamily="34" charset="-120"/>
              </a:rPr>
              <a:t>  Intent-bound delegation (Agentic JWT): binds actions to authenticated intent — incomplete against poisoned context</a:t>
            </a:r>
            <a:endParaRPr lang="en-US" sz="1250" dirty="0"/>
          </a:p>
          <a:p>
            <a:pPr marL="342900" indent="-342900">
              <a:spcAft>
                <a:spcPts val="600"/>
              </a:spcAft>
              <a:buSzPct val="100000"/>
              <a:buChar char="•"/>
            </a:pPr>
            <a:r>
              <a:rPr lang="en-US" sz="1250" dirty="0">
                <a:solidFill>
                  <a:srgbClr val="444444"/>
                </a:solidFill>
                <a:latin typeface="Calibri" pitchFamily="34" charset="0"/>
                <a:ea typeface="Calibri" pitchFamily="34" charset="-122"/>
                <a:cs typeface="Calibri" pitchFamily="34" charset="-120"/>
              </a:rPr>
              <a:t>Open problem: compose controls so intent, permissions, and execution context stay bound across heterogeneous services without suppressing agent utility</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5 · AGENT RISKS · SLIDE 3/3</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Collusion, Memory Poisoning &amp; Action Hijacking</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6.4, 6.7 — System-level risks unique to agentic AI</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800"/>
              </a:spcAft>
              <a:buSzPct val="100000"/>
              <a:buChar char="•"/>
            </a:pPr>
            <a:r>
              <a:rPr lang="en-US" sz="1300" b="1" dirty="0">
                <a:solidFill>
                  <a:srgbClr val="C0392B"/>
                </a:solidFill>
                <a:latin typeface="Calibri" pitchFamily="34" charset="0"/>
                <a:ea typeface="Calibri" pitchFamily="34" charset="-122"/>
                <a:cs typeface="Calibri" pitchFamily="34" charset="-120"/>
              </a:rPr>
              <a:t>Emergent collusion: agents sharing memory, databases, and credentials can produce cascading harm WITHOUT explicit coordination logic — a compromised agent triggers harmful cross-system actions (Khan et al., 2024)</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Steganographic collusion (Motwani et al., 2025): agents exchange hidden signals through benign-looking messages, enabling covert coordination that surface-level policy monitoring cannot detect</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Memory poisoning: corrupted long-term memory influences ALL future tasks — attack persists long after the initial vector is closed. Microsoft and OWASP classify this as a distinct risk class</a:t>
            </a:r>
            <a:endParaRPr lang="en-US" sz="1300" dirty="0"/>
          </a:p>
          <a:p>
            <a:pPr marL="342900" indent="-342900">
              <a:spcAft>
                <a:spcPts val="800"/>
              </a:spcAft>
              <a:buSzPct val="100000"/>
              <a:buChar char="•"/>
            </a:pPr>
            <a:r>
              <a:rPr lang="en-US" sz="1300" dirty="0">
                <a:solidFill>
                  <a:srgbClr val="111111"/>
                </a:solidFill>
                <a:latin typeface="Calibri" pitchFamily="34" charset="0"/>
                <a:ea typeface="Calibri" pitchFamily="34" charset="-122"/>
                <a:cs typeface="Calibri" pitchFamily="34" charset="-120"/>
              </a:rPr>
              <a:t>Action hijacking (Lupinacci et al., 2025): small, silent changes to reasoning traces shift agent behavior — demonstrated to achieve complete computer takeover without the agent 'realizing' it has been compromised</a:t>
            </a:r>
            <a:endParaRPr lang="en-US" sz="1300" dirty="0"/>
          </a:p>
          <a:p>
            <a:pPr marL="342900" indent="-342900">
              <a:spcAft>
                <a:spcPts val="1200"/>
              </a:spcAft>
              <a:buSzPct val="100000"/>
              <a:buChar char="•"/>
            </a:pPr>
            <a:r>
              <a:rPr lang="en-US" sz="1300" dirty="0">
                <a:solidFill>
                  <a:srgbClr val="111111"/>
                </a:solidFill>
                <a:latin typeface="Calibri" pitchFamily="34" charset="0"/>
                <a:ea typeface="Calibri" pitchFamily="34" charset="-122"/>
                <a:cs typeface="Calibri" pitchFamily="34" charset="-120"/>
              </a:rPr>
              <a:t>Agent Security Bench &amp; UDora: attackers can hijack multi-step planning mid-execution even when inputs appear benign at ingestion</a:t>
            </a:r>
            <a:endParaRPr lang="en-US" sz="1300" dirty="0"/>
          </a:p>
          <a:p>
            <a:pPr marL="342900" indent="-342900">
              <a:spcAft>
                <a:spcPts val="600"/>
              </a:spcAft>
              <a:buSzPct val="100000"/>
              <a:buChar char="•"/>
            </a:pPr>
            <a:r>
              <a:rPr lang="en-US" sz="1300" b="1" dirty="0">
                <a:solidFill>
                  <a:srgbClr val="1A1A2E"/>
                </a:solidFill>
                <a:latin typeface="Calibri" pitchFamily="34" charset="0"/>
                <a:ea typeface="Calibri" pitchFamily="34" charset="-122"/>
                <a:cs typeface="Calibri" pitchFamily="34" charset="-120"/>
              </a:rPr>
              <a:t>'Multi-agent security tax' (Peigne-Lefebvre et al., 2025): stronger coordination controls empirically reduce harmful behavior BUT also degrade collaboration efficiency and task performance — fundamental tradeoff.</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3">
    <p:bg>
      <p:bgPr>
        <a:solidFill>
          <a:srgbClr val="2C5F2D"/>
        </a:solidFill>
        <a:effectLst/>
      </p:bgPr>
    </p:bg>
    <p:spTree>
      <p:nvGrpSpPr>
        <p:cNvPr id="1" name=""/>
        <p:cNvGrpSpPr/>
        <p:nvPr/>
      </p:nvGrpSpPr>
      <p:grpSpPr>
        <a:xfrm>
          <a:off x="0" y="0"/>
          <a:ext cx="0" cy="0"/>
          <a:chOff x="0" y="0"/>
          <a:chExt cx="0" cy="0"/>
        </a:xfrm>
      </p:grpSpPr>
      <p:sp>
        <p:nvSpPr>
          <p:cNvPr id="2" name="Text 0"/>
          <p:cNvSpPr/>
          <p:nvPr/>
        </p:nvSpPr>
        <p:spPr>
          <a:xfrm>
            <a:off x="548640" y="1554480"/>
            <a:ext cx="7772400" cy="457200"/>
          </a:xfrm>
          <a:prstGeom prst="rect">
            <a:avLst/>
          </a:prstGeom>
          <a:noFill/>
          <a:ln/>
        </p:spPr>
        <p:txBody>
          <a:bodyPr wrap="square" rtlCol="0" anchor="ctr"/>
          <a:lstStyle/>
          <a:p>
            <a:pPr marL="0" indent="0">
              <a:buNone/>
            </a:pPr>
            <a:r>
              <a:rPr lang="en-US" sz="1300" b="1" kern="0" spc="400" dirty="0">
                <a:solidFill>
                  <a:srgbClr val="FFFFFF"/>
                </a:solidFill>
                <a:latin typeface="Calibri" pitchFamily="34" charset="0"/>
                <a:ea typeface="Calibri" pitchFamily="34" charset="-122"/>
                <a:cs typeface="Calibri" pitchFamily="34" charset="-120"/>
              </a:rPr>
              <a:t>PART 6</a:t>
            </a:r>
            <a:endParaRPr lang="en-US" sz="1300" dirty="0"/>
          </a:p>
        </p:txBody>
      </p:sp>
      <p:sp>
        <p:nvSpPr>
          <p:cNvPr id="3" name="Text 1"/>
          <p:cNvSpPr/>
          <p:nvPr/>
        </p:nvSpPr>
        <p:spPr>
          <a:xfrm>
            <a:off x="548640" y="1965960"/>
            <a:ext cx="7772400" cy="1005840"/>
          </a:xfrm>
          <a:prstGeom prst="rect">
            <a:avLst/>
          </a:prstGeom>
          <a:noFill/>
          <a:ln/>
        </p:spPr>
        <p:txBody>
          <a:bodyPr wrap="square" rtlCol="0" anchor="ctr"/>
          <a:lstStyle/>
          <a:p>
            <a:pPr marL="0" indent="0">
              <a:buNone/>
            </a:pPr>
            <a:r>
              <a:rPr lang="en-US" sz="4400" b="1" dirty="0">
                <a:solidFill>
                  <a:srgbClr val="FFFFFF"/>
                </a:solidFill>
                <a:latin typeface="Calibri" pitchFamily="34" charset="0"/>
                <a:ea typeface="Calibri" pitchFamily="34" charset="-122"/>
                <a:cs typeface="Calibri" pitchFamily="34" charset="-120"/>
              </a:rPr>
              <a:t>Prototypes &amp; Future Work</a:t>
            </a:r>
            <a:endParaRPr lang="en-US" sz="4400" dirty="0"/>
          </a:p>
        </p:txBody>
      </p:sp>
      <p:sp>
        <p:nvSpPr>
          <p:cNvPr id="4" name="Text 2"/>
          <p:cNvSpPr/>
          <p:nvPr/>
        </p:nvSpPr>
        <p:spPr>
          <a:xfrm>
            <a:off x="548640" y="2971800"/>
            <a:ext cx="7772400" cy="548640"/>
          </a:xfrm>
          <a:prstGeom prst="rect">
            <a:avLst/>
          </a:prstGeom>
          <a:noFill/>
          <a:ln/>
        </p:spPr>
        <p:txBody>
          <a:bodyPr wrap="square" rtlCol="0" anchor="ctr"/>
          <a:lstStyle/>
          <a:p>
            <a:pPr marL="0" indent="0">
              <a:buNone/>
            </a:pPr>
            <a:r>
              <a:rPr lang="en-US" sz="1600" i="1" dirty="0">
                <a:solidFill>
                  <a:srgbClr val="CCCCCC"/>
                </a:solidFill>
                <a:latin typeface="Calibri" pitchFamily="34" charset="0"/>
                <a:ea typeface="Calibri" pitchFamily="34" charset="-122"/>
                <a:cs typeface="Calibri" pitchFamily="34" charset="-120"/>
              </a:rPr>
              <a:t>What the authors built, and what the field still needs to solve</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6 · PROTOTYPES · SLIDE 1/2</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Three Prototype Implementations</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8 — Feasibility demonstrations using Mistral via Ollama (local, safe, reproducible)</a:t>
            </a:r>
            <a:endParaRPr lang="en-US" sz="1400" dirty="0"/>
          </a:p>
        </p:txBody>
      </p:sp>
      <p:sp>
        <p:nvSpPr>
          <p:cNvPr id="7" name="Shape 5"/>
          <p:cNvSpPr/>
          <p:nvPr/>
        </p:nvSpPr>
        <p:spPr>
          <a:xfrm>
            <a:off x="365760" y="1664208"/>
            <a:ext cx="2697480" cy="3291840"/>
          </a:xfrm>
          <a:prstGeom prst="rect">
            <a:avLst/>
          </a:prstGeom>
          <a:solidFill>
            <a:srgbClr val="F2F2F2"/>
          </a:solidFill>
          <a:ln w="12700">
            <a:solidFill>
              <a:srgbClr val="DDDDDD"/>
            </a:solidFill>
            <a:prstDash val="solid"/>
          </a:ln>
        </p:spPr>
      </p:sp>
      <p:sp>
        <p:nvSpPr>
          <p:cNvPr id="8" name="Shape 6"/>
          <p:cNvSpPr/>
          <p:nvPr/>
        </p:nvSpPr>
        <p:spPr>
          <a:xfrm>
            <a:off x="365760" y="1664208"/>
            <a:ext cx="2697480" cy="34747"/>
          </a:xfrm>
          <a:prstGeom prst="rect">
            <a:avLst/>
          </a:prstGeom>
          <a:solidFill>
            <a:srgbClr val="C0392B"/>
          </a:solidFill>
          <a:ln w="12700">
            <a:solidFill>
              <a:srgbClr val="C0392B"/>
            </a:solidFill>
            <a:prstDash val="solid"/>
          </a:ln>
        </p:spPr>
      </p:sp>
      <p:sp>
        <p:nvSpPr>
          <p:cNvPr id="9" name="Text 7"/>
          <p:cNvSpPr/>
          <p:nvPr/>
        </p:nvSpPr>
        <p:spPr>
          <a:xfrm>
            <a:off x="365760" y="1719072"/>
            <a:ext cx="2697480" cy="292608"/>
          </a:xfrm>
          <a:prstGeom prst="rect">
            <a:avLst/>
          </a:prstGeom>
          <a:noFill/>
          <a:ln/>
        </p:spPr>
        <p:txBody>
          <a:bodyPr wrap="square" rtlCol="0" anchor="ctr"/>
          <a:lstStyle/>
          <a:p>
            <a:pPr marL="0" indent="0" algn="ctr">
              <a:buNone/>
            </a:pPr>
            <a:r>
              <a:rPr lang="en-US" sz="1100" b="1" dirty="0">
                <a:solidFill>
                  <a:srgbClr val="C0392B"/>
                </a:solidFill>
                <a:latin typeface="Calibri" pitchFamily="34" charset="0"/>
                <a:ea typeface="Calibri" pitchFamily="34" charset="-122"/>
                <a:cs typeface="Calibri" pitchFamily="34" charset="-120"/>
              </a:rPr>
              <a:t>§8.1</a:t>
            </a:r>
            <a:endParaRPr lang="en-US" sz="1100" dirty="0"/>
          </a:p>
        </p:txBody>
      </p:sp>
      <p:sp>
        <p:nvSpPr>
          <p:cNvPr id="10" name="Text 8"/>
          <p:cNvSpPr/>
          <p:nvPr/>
        </p:nvSpPr>
        <p:spPr>
          <a:xfrm>
            <a:off x="457200" y="2011680"/>
            <a:ext cx="2514600" cy="457200"/>
          </a:xfrm>
          <a:prstGeom prst="rect">
            <a:avLst/>
          </a:prstGeom>
          <a:noFill/>
          <a:ln/>
        </p:spPr>
        <p:txBody>
          <a:bodyPr wrap="square" rtlCol="0" anchor="ctr"/>
          <a:lstStyle/>
          <a:p>
            <a:pPr marL="0" indent="0" algn="ctr">
              <a:buNone/>
            </a:pPr>
            <a:r>
              <a:rPr lang="en-US" sz="1250" b="1" dirty="0">
                <a:solidFill>
                  <a:srgbClr val="111111"/>
                </a:solidFill>
                <a:latin typeface="Calibri" pitchFamily="34" charset="0"/>
                <a:ea typeface="Calibri" pitchFamily="34" charset="-122"/>
                <a:cs typeface="Calibri" pitchFamily="34" charset="-120"/>
              </a:rPr>
              <a:t>Adaptive Red-Blue Simulation</a:t>
            </a:r>
            <a:endParaRPr lang="en-US" sz="1250" dirty="0"/>
          </a:p>
        </p:txBody>
      </p:sp>
      <p:sp>
        <p:nvSpPr>
          <p:cNvPr id="11" name="Text 9"/>
          <p:cNvSpPr/>
          <p:nvPr/>
        </p:nvSpPr>
        <p:spPr>
          <a:xfrm>
            <a:off x="475488" y="2514600"/>
            <a:ext cx="2468880" cy="2286000"/>
          </a:xfrm>
          <a:prstGeom prst="rect">
            <a:avLst/>
          </a:prstGeom>
          <a:noFill/>
          <a:ln/>
        </p:spPr>
        <p:txBody>
          <a:bodyPr wrap="square" rtlCol="0" anchor="ctr"/>
          <a:lstStyle/>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Input: static system config file + role instruction</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Round 1: Red exploits Apache RCE → Blue patches + deploys IDS</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Round 2: Both adapt autonomously (no user input) — Red escalates to zero-day + polymorphic malware → Blue deploys ATP + segmentation</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Demonstrates: goal-directed adaptation, not scripted responses</a:t>
            </a:r>
            <a:endParaRPr lang="en-US" sz="1150" dirty="0"/>
          </a:p>
        </p:txBody>
      </p:sp>
      <p:sp>
        <p:nvSpPr>
          <p:cNvPr id="12" name="Shape 10"/>
          <p:cNvSpPr/>
          <p:nvPr/>
        </p:nvSpPr>
        <p:spPr>
          <a:xfrm>
            <a:off x="3200400" y="1664208"/>
            <a:ext cx="2697480" cy="3291840"/>
          </a:xfrm>
          <a:prstGeom prst="rect">
            <a:avLst/>
          </a:prstGeom>
          <a:solidFill>
            <a:srgbClr val="F2F2F2"/>
          </a:solidFill>
          <a:ln w="12700">
            <a:solidFill>
              <a:srgbClr val="DDDDDD"/>
            </a:solidFill>
            <a:prstDash val="solid"/>
          </a:ln>
        </p:spPr>
      </p:sp>
      <p:sp>
        <p:nvSpPr>
          <p:cNvPr id="13" name="Shape 11"/>
          <p:cNvSpPr/>
          <p:nvPr/>
        </p:nvSpPr>
        <p:spPr>
          <a:xfrm>
            <a:off x="3200400" y="1664208"/>
            <a:ext cx="2697480" cy="34747"/>
          </a:xfrm>
          <a:prstGeom prst="rect">
            <a:avLst/>
          </a:prstGeom>
          <a:solidFill>
            <a:srgbClr val="1565C0"/>
          </a:solidFill>
          <a:ln w="12700">
            <a:solidFill>
              <a:srgbClr val="1565C0"/>
            </a:solidFill>
            <a:prstDash val="solid"/>
          </a:ln>
        </p:spPr>
      </p:sp>
      <p:sp>
        <p:nvSpPr>
          <p:cNvPr id="14" name="Text 12"/>
          <p:cNvSpPr/>
          <p:nvPr/>
        </p:nvSpPr>
        <p:spPr>
          <a:xfrm>
            <a:off x="3200400" y="1719072"/>
            <a:ext cx="2697480" cy="292608"/>
          </a:xfrm>
          <a:prstGeom prst="rect">
            <a:avLst/>
          </a:prstGeom>
          <a:noFill/>
          <a:ln/>
        </p:spPr>
        <p:txBody>
          <a:bodyPr wrap="square" rtlCol="0" anchor="ctr"/>
          <a:lstStyle/>
          <a:p>
            <a:pPr marL="0" indent="0" algn="ctr">
              <a:buNone/>
            </a:pPr>
            <a:r>
              <a:rPr lang="en-US" sz="1100" b="1" dirty="0">
                <a:solidFill>
                  <a:srgbClr val="1565C0"/>
                </a:solidFill>
                <a:latin typeface="Calibri" pitchFamily="34" charset="0"/>
                <a:ea typeface="Calibri" pitchFamily="34" charset="-122"/>
                <a:cs typeface="Calibri" pitchFamily="34" charset="-120"/>
              </a:rPr>
              <a:t>§8.2</a:t>
            </a:r>
            <a:endParaRPr lang="en-US" sz="1100" dirty="0"/>
          </a:p>
        </p:txBody>
      </p:sp>
      <p:sp>
        <p:nvSpPr>
          <p:cNvPr id="15" name="Text 13"/>
          <p:cNvSpPr/>
          <p:nvPr/>
        </p:nvSpPr>
        <p:spPr>
          <a:xfrm>
            <a:off x="3291840" y="2011680"/>
            <a:ext cx="2514600" cy="457200"/>
          </a:xfrm>
          <a:prstGeom prst="rect">
            <a:avLst/>
          </a:prstGeom>
          <a:noFill/>
          <a:ln/>
        </p:spPr>
        <p:txBody>
          <a:bodyPr wrap="square" rtlCol="0" anchor="ctr"/>
          <a:lstStyle/>
          <a:p>
            <a:pPr marL="0" indent="0" algn="ctr">
              <a:buNone/>
            </a:pPr>
            <a:r>
              <a:rPr lang="en-US" sz="1250" b="1" dirty="0">
                <a:solidFill>
                  <a:srgbClr val="111111"/>
                </a:solidFill>
                <a:latin typeface="Calibri" pitchFamily="34" charset="0"/>
                <a:ea typeface="Calibri" pitchFamily="34" charset="-122"/>
                <a:cs typeface="Calibri" pitchFamily="34" charset="-120"/>
              </a:rPr>
              <a:t>SOC Triage Agent</a:t>
            </a:r>
            <a:endParaRPr lang="en-US" sz="1250" dirty="0"/>
          </a:p>
        </p:txBody>
      </p:sp>
      <p:sp>
        <p:nvSpPr>
          <p:cNvPr id="16" name="Text 14"/>
          <p:cNvSpPr/>
          <p:nvPr/>
        </p:nvSpPr>
        <p:spPr>
          <a:xfrm>
            <a:off x="3310128" y="2514600"/>
            <a:ext cx="2468880" cy="2286000"/>
          </a:xfrm>
          <a:prstGeom prst="rect">
            <a:avLst/>
          </a:prstGeom>
          <a:noFill/>
          <a:ln/>
        </p:spPr>
        <p:txBody>
          <a:bodyPr wrap="square" rtlCol="0" anchor="ctr"/>
          <a:lstStyle/>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6 synthetic alerts tested vs. rule-based baseline</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Baseline: Precision 1.00 / Recall 0.75 / F1 0.86 / MTTR 7.5 min</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Agent: Precision 1.00 / Recall 1.00 / F1 1.00 / MTTR 6.0 min</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All 12 decisions through read-only policy gate + audit log</a:t>
            </a:r>
            <a:endParaRPr lang="en-US" sz="1150" dirty="0"/>
          </a:p>
        </p:txBody>
      </p:sp>
      <p:sp>
        <p:nvSpPr>
          <p:cNvPr id="17" name="Shape 15"/>
          <p:cNvSpPr/>
          <p:nvPr/>
        </p:nvSpPr>
        <p:spPr>
          <a:xfrm>
            <a:off x="6035040" y="1664208"/>
            <a:ext cx="2697480" cy="3291840"/>
          </a:xfrm>
          <a:prstGeom prst="rect">
            <a:avLst/>
          </a:prstGeom>
          <a:solidFill>
            <a:srgbClr val="F2F2F2"/>
          </a:solidFill>
          <a:ln w="12700">
            <a:solidFill>
              <a:srgbClr val="DDDDDD"/>
            </a:solidFill>
            <a:prstDash val="solid"/>
          </a:ln>
        </p:spPr>
      </p:sp>
      <p:sp>
        <p:nvSpPr>
          <p:cNvPr id="18" name="Shape 16"/>
          <p:cNvSpPr/>
          <p:nvPr/>
        </p:nvSpPr>
        <p:spPr>
          <a:xfrm>
            <a:off x="6035040" y="1664208"/>
            <a:ext cx="2697480" cy="34747"/>
          </a:xfrm>
          <a:prstGeom prst="rect">
            <a:avLst/>
          </a:prstGeom>
          <a:solidFill>
            <a:srgbClr val="6A1B9A"/>
          </a:solidFill>
          <a:ln w="12700">
            <a:solidFill>
              <a:srgbClr val="6A1B9A"/>
            </a:solidFill>
            <a:prstDash val="solid"/>
          </a:ln>
        </p:spPr>
      </p:sp>
      <p:sp>
        <p:nvSpPr>
          <p:cNvPr id="19" name="Text 17"/>
          <p:cNvSpPr/>
          <p:nvPr/>
        </p:nvSpPr>
        <p:spPr>
          <a:xfrm>
            <a:off x="6035040" y="1719072"/>
            <a:ext cx="2697480" cy="292608"/>
          </a:xfrm>
          <a:prstGeom prst="rect">
            <a:avLst/>
          </a:prstGeom>
          <a:noFill/>
          <a:ln/>
        </p:spPr>
        <p:txBody>
          <a:bodyPr wrap="square" rtlCol="0" anchor="ctr"/>
          <a:lstStyle/>
          <a:p>
            <a:pPr marL="0" indent="0" algn="ctr">
              <a:buNone/>
            </a:pPr>
            <a:r>
              <a:rPr lang="en-US" sz="1100" b="1" dirty="0">
                <a:solidFill>
                  <a:srgbClr val="6A1B9A"/>
                </a:solidFill>
                <a:latin typeface="Calibri" pitchFamily="34" charset="0"/>
                <a:ea typeface="Calibri" pitchFamily="34" charset="-122"/>
                <a:cs typeface="Calibri" pitchFamily="34" charset="-120"/>
              </a:rPr>
              <a:t>§8.3</a:t>
            </a:r>
            <a:endParaRPr lang="en-US" sz="1100" dirty="0"/>
          </a:p>
        </p:txBody>
      </p:sp>
      <p:sp>
        <p:nvSpPr>
          <p:cNvPr id="20" name="Text 18"/>
          <p:cNvSpPr/>
          <p:nvPr/>
        </p:nvSpPr>
        <p:spPr>
          <a:xfrm>
            <a:off x="6126480" y="2011680"/>
            <a:ext cx="2514600" cy="457200"/>
          </a:xfrm>
          <a:prstGeom prst="rect">
            <a:avLst/>
          </a:prstGeom>
          <a:noFill/>
          <a:ln/>
        </p:spPr>
        <p:txBody>
          <a:bodyPr wrap="square" rtlCol="0" anchor="ctr"/>
          <a:lstStyle/>
          <a:p>
            <a:pPr marL="0" indent="0" algn="ctr">
              <a:buNone/>
            </a:pPr>
            <a:r>
              <a:rPr lang="en-US" sz="1250" b="1" dirty="0">
                <a:solidFill>
                  <a:srgbClr val="111111"/>
                </a:solidFill>
                <a:latin typeface="Calibri" pitchFamily="34" charset="0"/>
                <a:ea typeface="Calibri" pitchFamily="34" charset="-122"/>
                <a:cs typeface="Calibri" pitchFamily="34" charset="-120"/>
              </a:rPr>
              <a:t>Anomaly / IDS Agent</a:t>
            </a:r>
            <a:endParaRPr lang="en-US" sz="1250" dirty="0"/>
          </a:p>
        </p:txBody>
      </p:sp>
      <p:sp>
        <p:nvSpPr>
          <p:cNvPr id="21" name="Text 19"/>
          <p:cNvSpPr/>
          <p:nvPr/>
        </p:nvSpPr>
        <p:spPr>
          <a:xfrm>
            <a:off x="6144768" y="2514600"/>
            <a:ext cx="2468880" cy="2286000"/>
          </a:xfrm>
          <a:prstGeom prst="rect">
            <a:avLst/>
          </a:prstGeom>
          <a:noFill/>
          <a:ln/>
        </p:spPr>
        <p:txBody>
          <a:bodyPr wrap="square" rtlCol="0" anchor="ctr"/>
          <a:lstStyle/>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Synthetic NetFlow windows — bytes/sec, pkts/sec, SYN rate, failed conn</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RAG corpus: benign periodicity patterns vs. malicious volumetric signatures</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Baseline AUROC 0.87 / F1 0.74 — Agent AUROC 0.93 / F1 0.81</a:t>
            </a:r>
            <a:endParaRPr lang="en-US" sz="1150" dirty="0"/>
          </a:p>
          <a:p>
            <a:pPr marL="342900" indent="-342900">
              <a:spcAft>
                <a:spcPts val="500"/>
              </a:spcAft>
              <a:buSzPct val="100000"/>
              <a:buChar char="•"/>
            </a:pPr>
            <a:r>
              <a:rPr lang="en-US" sz="1150" dirty="0">
                <a:solidFill>
                  <a:srgbClr val="111111"/>
                </a:solidFill>
                <a:latin typeface="Calibri" pitchFamily="34" charset="0"/>
                <a:ea typeface="Calibri" pitchFamily="34" charset="-122"/>
                <a:cs typeface="Calibri" pitchFamily="34" charset="-120"/>
              </a:rPr>
              <a:t>Agent produces human-readable rationale with avg. usefulness score 0.83</a:t>
            </a:r>
            <a:endParaRPr lang="en-US" sz="1150" dirty="0"/>
          </a:p>
        </p:txBody>
      </p:sp>
      <p:sp>
        <p:nvSpPr>
          <p:cNvPr id="22" name="Text 20"/>
          <p:cNvSpPr/>
          <p:nvPr/>
        </p:nvSpPr>
        <p:spPr>
          <a:xfrm>
            <a:off x="365760" y="5047488"/>
            <a:ext cx="8412480" cy="347472"/>
          </a:xfrm>
          <a:prstGeom prst="rect">
            <a:avLst/>
          </a:prstGeom>
          <a:noFill/>
          <a:ln/>
        </p:spPr>
        <p:txBody>
          <a:bodyPr wrap="square" rtlCol="0" anchor="ctr"/>
          <a:lstStyle/>
          <a:p>
            <a:pPr marL="0" indent="0" algn="ctr">
              <a:buNone/>
            </a:pPr>
            <a:r>
              <a:rPr lang="en-US" sz="1250" b="1" dirty="0">
                <a:solidFill>
                  <a:srgbClr val="1A1A2E"/>
                </a:solidFill>
                <a:latin typeface="Calibri" pitchFamily="34" charset="0"/>
                <a:ea typeface="Calibri" pitchFamily="34" charset="-122"/>
                <a:cs typeface="Calibri" pitchFamily="34" charset="-120"/>
              </a:rPr>
              <a:t>Design principle across all three: read-only policy enforcement gate + full audit log. Autonomy bounded by governance, not removed.</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502920" y="256032"/>
            <a:ext cx="8229600" cy="256032"/>
          </a:xfrm>
          <a:prstGeom prst="rect">
            <a:avLst/>
          </a:prstGeom>
          <a:noFill/>
          <a:ln/>
        </p:spPr>
        <p:txBody>
          <a:bodyPr wrap="square" rtlCol="0" anchor="ctr"/>
          <a:lstStyle/>
          <a:p>
            <a:pPr marL="0" indent="0">
              <a:buNone/>
            </a:pPr>
            <a:r>
              <a:rPr lang="en-US" sz="900" kern="0" spc="300" dirty="0">
                <a:solidFill>
                  <a:srgbClr val="AAAAAA"/>
                </a:solidFill>
                <a:latin typeface="Calibri" pitchFamily="34" charset="0"/>
                <a:ea typeface="Calibri" pitchFamily="34" charset="-122"/>
                <a:cs typeface="Calibri" pitchFamily="34" charset="-120"/>
              </a:rPr>
              <a:t>PART 6 · FUTURE WORK · SLIDE 2/2</a:t>
            </a:r>
            <a:endParaRPr lang="en-US" sz="900" dirty="0"/>
          </a:p>
        </p:txBody>
      </p:sp>
      <p:sp>
        <p:nvSpPr>
          <p:cNvPr id="3" name="Shape 1"/>
          <p:cNvSpPr/>
          <p:nvPr/>
        </p:nvSpPr>
        <p:spPr>
          <a:xfrm>
            <a:off x="502920" y="566928"/>
            <a:ext cx="8138160" cy="10973"/>
          </a:xfrm>
          <a:prstGeom prst="rect">
            <a:avLst/>
          </a:prstGeom>
          <a:solidFill>
            <a:srgbClr val="DDDDDD"/>
          </a:solidFill>
          <a:ln w="12700">
            <a:solidFill>
              <a:srgbClr val="DDDDDD"/>
            </a:solidFill>
            <a:prstDash val="solid"/>
          </a:ln>
        </p:spPr>
      </p:sp>
      <p:sp>
        <p:nvSpPr>
          <p:cNvPr id="4" name="Shape 2"/>
          <p:cNvSpPr/>
          <p:nvPr/>
        </p:nvSpPr>
        <p:spPr>
          <a:xfrm>
            <a:off x="502920" y="658368"/>
            <a:ext cx="36576" cy="3657600"/>
          </a:xfrm>
          <a:prstGeom prst="rect">
            <a:avLst/>
          </a:prstGeom>
          <a:solidFill>
            <a:srgbClr val="1A1A2E"/>
          </a:solidFill>
          <a:ln w="12700">
            <a:solidFill>
              <a:srgbClr val="1A1A2E"/>
            </a:solidFill>
            <a:prstDash val="solid"/>
          </a:ln>
        </p:spPr>
      </p:sp>
      <p:sp>
        <p:nvSpPr>
          <p:cNvPr id="5" name="Text 3"/>
          <p:cNvSpPr/>
          <p:nvPr/>
        </p:nvSpPr>
        <p:spPr>
          <a:xfrm>
            <a:off x="685800" y="640080"/>
            <a:ext cx="8046720" cy="658368"/>
          </a:xfrm>
          <a:prstGeom prst="rect">
            <a:avLst/>
          </a:prstGeom>
          <a:noFill/>
          <a:ln/>
        </p:spPr>
        <p:txBody>
          <a:bodyPr wrap="square" rtlCol="0" anchor="ctr"/>
          <a:lstStyle/>
          <a:p>
            <a:pPr marL="0" indent="0">
              <a:buNone/>
            </a:pPr>
            <a:r>
              <a:rPr lang="en-US" sz="2600" b="1" dirty="0">
                <a:solidFill>
                  <a:srgbClr val="111111"/>
                </a:solidFill>
                <a:latin typeface="Calibri" pitchFamily="34" charset="0"/>
                <a:ea typeface="Calibri" pitchFamily="34" charset="-122"/>
                <a:cs typeface="Calibri" pitchFamily="34" charset="-120"/>
              </a:rPr>
              <a:t>Open Research Directions</a:t>
            </a:r>
            <a:endParaRPr lang="en-US" sz="2600" dirty="0"/>
          </a:p>
        </p:txBody>
      </p:sp>
      <p:sp>
        <p:nvSpPr>
          <p:cNvPr id="6" name="Text 4"/>
          <p:cNvSpPr/>
          <p:nvPr/>
        </p:nvSpPr>
        <p:spPr>
          <a:xfrm>
            <a:off x="685800" y="1234440"/>
            <a:ext cx="8046720" cy="365760"/>
          </a:xfrm>
          <a:prstGeom prst="rect">
            <a:avLst/>
          </a:prstGeom>
          <a:noFill/>
          <a:ln/>
        </p:spPr>
        <p:txBody>
          <a:bodyPr wrap="square" rtlCol="0" anchor="ctr"/>
          <a:lstStyle/>
          <a:p>
            <a:pPr marL="0" indent="0">
              <a:buNone/>
            </a:pPr>
            <a:r>
              <a:rPr lang="en-US" sz="1400" i="1" dirty="0">
                <a:solidFill>
                  <a:srgbClr val="444444"/>
                </a:solidFill>
                <a:latin typeface="Calibri" pitchFamily="34" charset="0"/>
                <a:ea typeface="Calibri" pitchFamily="34" charset="-122"/>
                <a:cs typeface="Calibri" pitchFamily="34" charset="-120"/>
              </a:rPr>
              <a:t>Section 9 — What the field still needs to solve</a:t>
            </a:r>
            <a:endParaRPr lang="en-US" sz="1400" dirty="0"/>
          </a:p>
        </p:txBody>
      </p:sp>
      <p:sp>
        <p:nvSpPr>
          <p:cNvPr id="7" name="Text 5"/>
          <p:cNvSpPr/>
          <p:nvPr/>
        </p:nvSpPr>
        <p:spPr>
          <a:xfrm>
            <a:off x="685800" y="1691640"/>
            <a:ext cx="7772400" cy="3017520"/>
          </a:xfrm>
          <a:prstGeom prst="rect">
            <a:avLst/>
          </a:prstGeom>
          <a:noFill/>
          <a:ln/>
        </p:spPr>
        <p:txBody>
          <a:bodyPr wrap="square" rtlCol="0" anchor="ctr"/>
          <a:lstStyle/>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Input inspection &amp; control: lightweight, real-time, adaptive mechanisms that distinguish instructions from data across multimodal and multi-step inputs — current filters are incomplete and fail at scale</a:t>
            </a:r>
            <a:endParaRPr lang="en-US" sz="1300" dirty="0"/>
          </a:p>
          <a:p>
            <a:pPr marL="342900" indent="-342900">
              <a:spcAft>
                <a:spcPts val="700"/>
              </a:spcAft>
              <a:buSzPct val="100000"/>
              <a:buChar char="•"/>
            </a:pPr>
            <a:r>
              <a:rPr lang="en-US" sz="1300" b="1" dirty="0">
                <a:solidFill>
                  <a:srgbClr val="1A1A2E"/>
                </a:solidFill>
                <a:latin typeface="Calibri" pitchFamily="34" charset="0"/>
                <a:ea typeface="Calibri" pitchFamily="34" charset="-122"/>
                <a:cs typeface="Calibri" pitchFamily="34" charset="-120"/>
              </a:rPr>
              <a:t>Transparency of internal execution: structured logging and execution traces that expose agent reasoning chains, planning steps, and tool calls WITHOUT leaking sensitive data or creating new attack surfaces</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Robust planning &amp; reasoning: formal guarantees for multi-step plans. Combine LLMs with verifiable policies or formal constraints that enforce safety rules throughout execution — not just at the start</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Secure multi-agent coordination: protocols for agent communication that enforce trust, verification, and accountability — without the 'multi-agent security tax' collapsing collaboration efficiency</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Memory integrity &amp; privacy: secure memory architectures with validation, versioning, and access control. Privacy-preserving retrieval that doesn't leak cross-user data</a:t>
            </a:r>
            <a:endParaRPr lang="en-US" sz="1300" dirty="0"/>
          </a:p>
          <a:p>
            <a:pPr marL="342900" indent="-342900">
              <a:spcAft>
                <a:spcPts val="700"/>
              </a:spcAft>
              <a:buSzPct val="100000"/>
              <a:buChar char="•"/>
            </a:pPr>
            <a:r>
              <a:rPr lang="en-US" sz="1300" dirty="0">
                <a:solidFill>
                  <a:srgbClr val="111111"/>
                </a:solidFill>
                <a:latin typeface="Calibri" pitchFamily="34" charset="0"/>
                <a:ea typeface="Calibri" pitchFamily="34" charset="-122"/>
                <a:cs typeface="Calibri" pitchFamily="34" charset="-120"/>
              </a:rPr>
              <a:t>Unified evaluation benchmarks: comprehensive test suites covering perception, reasoning, action, interaction, and memory — reflecting real deployment scenarios, not just isolated attack vectors</a:t>
            </a:r>
            <a:endParaRPr lang="en-US" sz="1300" dirty="0"/>
          </a:p>
          <a:p>
            <a:pPr marL="342900" indent="-342900">
              <a:spcAft>
                <a:spcPts val="600"/>
              </a:spcAft>
              <a:buSzPct val="100000"/>
              <a:buChar char="•"/>
            </a:pPr>
            <a:r>
              <a:rPr lang="en-US" sz="1300" b="1" dirty="0">
                <a:solidFill>
                  <a:srgbClr val="C0392B"/>
                </a:solidFill>
                <a:latin typeface="Calibri" pitchFamily="34" charset="0"/>
                <a:ea typeface="Calibri" pitchFamily="34" charset="-122"/>
                <a:cs typeface="Calibri" pitchFamily="34" charset="-120"/>
              </a:rPr>
              <a:t>Governance &amp; deployment assurance: policy enforcement and human oversight baked into agent design as first-class requirements — not added as external constraints after the fact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bg>
      <p:bgPr>
        <a:solidFill>
          <a:srgbClr val="1A1A2E"/>
        </a:solidFill>
        <a:effectLst/>
      </p:bgPr>
    </p:bg>
    <p:spTree>
      <p:nvGrpSpPr>
        <p:cNvPr id="1" name=""/>
        <p:cNvGrpSpPr/>
        <p:nvPr/>
      </p:nvGrpSpPr>
      <p:grpSpPr>
        <a:xfrm>
          <a:off x="0" y="0"/>
          <a:ext cx="0" cy="0"/>
          <a:chOff x="0" y="0"/>
          <a:chExt cx="0" cy="0"/>
        </a:xfrm>
      </p:grpSpPr>
      <p:sp>
        <p:nvSpPr>
          <p:cNvPr id="2" name="Text 0"/>
          <p:cNvSpPr/>
          <p:nvPr/>
        </p:nvSpPr>
        <p:spPr>
          <a:xfrm>
            <a:off x="548640" y="548640"/>
            <a:ext cx="7772400" cy="457200"/>
          </a:xfrm>
          <a:prstGeom prst="rect">
            <a:avLst/>
          </a:prstGeom>
          <a:noFill/>
          <a:ln/>
        </p:spPr>
        <p:txBody>
          <a:bodyPr wrap="square" rtlCol="0" anchor="ctr"/>
          <a:lstStyle/>
          <a:p>
            <a:pPr marL="0" indent="0">
              <a:buNone/>
            </a:pPr>
            <a:r>
              <a:rPr lang="en-US" sz="1200" b="1" kern="0" spc="400" dirty="0">
                <a:solidFill>
                  <a:srgbClr val="AABBD4"/>
                </a:solidFill>
                <a:latin typeface="Calibri" pitchFamily="34" charset="0"/>
                <a:ea typeface="Calibri" pitchFamily="34" charset="-122"/>
                <a:cs typeface="Calibri" pitchFamily="34" charset="-120"/>
              </a:rPr>
              <a:t>CONCLUSION</a:t>
            </a:r>
            <a:endParaRPr lang="en-US" sz="1200" dirty="0"/>
          </a:p>
        </p:txBody>
      </p:sp>
      <p:sp>
        <p:nvSpPr>
          <p:cNvPr id="3" name="Shape 1"/>
          <p:cNvSpPr/>
          <p:nvPr/>
        </p:nvSpPr>
        <p:spPr>
          <a:xfrm>
            <a:off x="548640" y="987552"/>
            <a:ext cx="1371600" cy="13716"/>
          </a:xfrm>
          <a:prstGeom prst="rect">
            <a:avLst/>
          </a:prstGeom>
          <a:solidFill>
            <a:srgbClr val="FFFFFF"/>
          </a:solidFill>
          <a:ln w="12700">
            <a:solidFill>
              <a:srgbClr val="FFFFFF"/>
            </a:solidFill>
            <a:prstDash val="solid"/>
          </a:ln>
        </p:spPr>
      </p:sp>
      <p:sp>
        <p:nvSpPr>
          <p:cNvPr id="4" name="Shape 2"/>
          <p:cNvSpPr/>
          <p:nvPr/>
        </p:nvSpPr>
        <p:spPr>
          <a:xfrm>
            <a:off x="548640" y="1143000"/>
            <a:ext cx="27432" cy="621792"/>
          </a:xfrm>
          <a:prstGeom prst="rect">
            <a:avLst/>
          </a:prstGeom>
          <a:solidFill>
            <a:srgbClr val="FFFFFF"/>
          </a:solidFill>
          <a:ln w="12700">
            <a:solidFill>
              <a:srgbClr val="FFFFFF"/>
            </a:solidFill>
            <a:prstDash val="solid"/>
          </a:ln>
        </p:spPr>
      </p:sp>
      <p:sp>
        <p:nvSpPr>
          <p:cNvPr id="5" name="Text 3"/>
          <p:cNvSpPr/>
          <p:nvPr/>
        </p:nvSpPr>
        <p:spPr>
          <a:xfrm>
            <a:off x="685800" y="1161288"/>
            <a:ext cx="78638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Greater autonomy → greater capability AND greater risk.</a:t>
            </a:r>
            <a:endParaRPr lang="en-US" sz="1350" dirty="0"/>
          </a:p>
        </p:txBody>
      </p:sp>
      <p:sp>
        <p:nvSpPr>
          <p:cNvPr id="6" name="Text 4"/>
          <p:cNvSpPr/>
          <p:nvPr/>
        </p:nvSpPr>
        <p:spPr>
          <a:xfrm>
            <a:off x="685800" y="1463040"/>
            <a:ext cx="7863840" cy="274320"/>
          </a:xfrm>
          <a:prstGeom prst="rect">
            <a:avLst/>
          </a:prstGeom>
          <a:noFill/>
          <a:ln/>
        </p:spPr>
        <p:txBody>
          <a:bodyPr wrap="square" rtlCol="0" anchor="ctr"/>
          <a:lstStyle/>
          <a:p>
            <a:pPr marL="0" indent="0">
              <a:buNone/>
            </a:pPr>
            <a:r>
              <a:rPr lang="en-US" sz="1200" dirty="0">
                <a:solidFill>
                  <a:srgbClr val="AABBD4"/>
                </a:solidFill>
                <a:latin typeface="Calibri" pitchFamily="34" charset="0"/>
                <a:ea typeface="Calibri" pitchFamily="34" charset="-122"/>
                <a:cs typeface="Calibri" pitchFamily="34" charset="-120"/>
              </a:rPr>
              <a:t>No single framework yet connects autonomy, lifecycle risks, and runtime enforcement. The field is fragmented.</a:t>
            </a:r>
            <a:endParaRPr lang="en-US" sz="1200" dirty="0"/>
          </a:p>
        </p:txBody>
      </p:sp>
      <p:sp>
        <p:nvSpPr>
          <p:cNvPr id="7" name="Shape 5"/>
          <p:cNvSpPr/>
          <p:nvPr/>
        </p:nvSpPr>
        <p:spPr>
          <a:xfrm>
            <a:off x="548640" y="1892808"/>
            <a:ext cx="27432" cy="621792"/>
          </a:xfrm>
          <a:prstGeom prst="rect">
            <a:avLst/>
          </a:prstGeom>
          <a:solidFill>
            <a:srgbClr val="FFFFFF"/>
          </a:solidFill>
          <a:ln w="12700">
            <a:solidFill>
              <a:srgbClr val="FFFFFF"/>
            </a:solidFill>
            <a:prstDash val="solid"/>
          </a:ln>
        </p:spPr>
      </p:sp>
      <p:sp>
        <p:nvSpPr>
          <p:cNvPr id="8" name="Text 6"/>
          <p:cNvSpPr/>
          <p:nvPr/>
        </p:nvSpPr>
        <p:spPr>
          <a:xfrm>
            <a:off x="685800" y="1911096"/>
            <a:ext cx="78638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Security failures arise from system-level interactions,</a:t>
            </a:r>
            <a:endParaRPr lang="en-US" sz="1350" dirty="0"/>
          </a:p>
        </p:txBody>
      </p:sp>
      <p:sp>
        <p:nvSpPr>
          <p:cNvPr id="9" name="Text 7"/>
          <p:cNvSpPr/>
          <p:nvPr/>
        </p:nvSpPr>
        <p:spPr>
          <a:xfrm>
            <a:off x="685800" y="2212848"/>
            <a:ext cx="7863840" cy="274320"/>
          </a:xfrm>
          <a:prstGeom prst="rect">
            <a:avLst/>
          </a:prstGeom>
          <a:noFill/>
          <a:ln/>
        </p:spPr>
        <p:txBody>
          <a:bodyPr wrap="square" rtlCol="0" anchor="ctr"/>
          <a:lstStyle/>
          <a:p>
            <a:pPr marL="0" indent="0">
              <a:buNone/>
            </a:pPr>
            <a:r>
              <a:rPr lang="en-US" sz="1200" dirty="0">
                <a:solidFill>
                  <a:srgbClr val="AABBD4"/>
                </a:solidFill>
                <a:latin typeface="Calibri" pitchFamily="34" charset="0"/>
                <a:ea typeface="Calibri" pitchFamily="34" charset="-122"/>
                <a:cs typeface="Calibri" pitchFamily="34" charset="-120"/>
              </a:rPr>
              <a:t>not model inference alone. Perception, reasoning, action, memory — all must be secured together.</a:t>
            </a:r>
            <a:endParaRPr lang="en-US" sz="1200" dirty="0"/>
          </a:p>
        </p:txBody>
      </p:sp>
      <p:sp>
        <p:nvSpPr>
          <p:cNvPr id="10" name="Shape 8"/>
          <p:cNvSpPr/>
          <p:nvPr/>
        </p:nvSpPr>
        <p:spPr>
          <a:xfrm>
            <a:off x="548640" y="2642616"/>
            <a:ext cx="27432" cy="621792"/>
          </a:xfrm>
          <a:prstGeom prst="rect">
            <a:avLst/>
          </a:prstGeom>
          <a:solidFill>
            <a:srgbClr val="FFFFFF"/>
          </a:solidFill>
          <a:ln w="12700">
            <a:solidFill>
              <a:srgbClr val="FFFFFF"/>
            </a:solidFill>
            <a:prstDash val="solid"/>
          </a:ln>
        </p:spPr>
      </p:sp>
      <p:sp>
        <p:nvSpPr>
          <p:cNvPr id="11" name="Text 9"/>
          <p:cNvSpPr/>
          <p:nvPr/>
        </p:nvSpPr>
        <p:spPr>
          <a:xfrm>
            <a:off x="685800" y="2660904"/>
            <a:ext cx="78638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Agentic AI compresses attacker timelines dramatically.</a:t>
            </a:r>
            <a:endParaRPr lang="en-US" sz="1350" dirty="0"/>
          </a:p>
        </p:txBody>
      </p:sp>
      <p:sp>
        <p:nvSpPr>
          <p:cNvPr id="12" name="Text 10"/>
          <p:cNvSpPr/>
          <p:nvPr/>
        </p:nvSpPr>
        <p:spPr>
          <a:xfrm>
            <a:off x="685800" y="2962656"/>
            <a:ext cx="7863840" cy="274320"/>
          </a:xfrm>
          <a:prstGeom prst="rect">
            <a:avLst/>
          </a:prstGeom>
          <a:noFill/>
          <a:ln/>
        </p:spPr>
        <p:txBody>
          <a:bodyPr wrap="square" rtlCol="0" anchor="ctr"/>
          <a:lstStyle/>
          <a:p>
            <a:pPr marL="0" indent="0">
              <a:buNone/>
            </a:pPr>
            <a:r>
              <a:rPr lang="en-US" sz="1200" dirty="0">
                <a:solidFill>
                  <a:srgbClr val="AABBD4"/>
                </a:solidFill>
                <a:latin typeface="Calibri" pitchFamily="34" charset="0"/>
                <a:ea typeface="Calibri" pitchFamily="34" charset="-122"/>
                <a:cs typeface="Calibri" pitchFamily="34" charset="-120"/>
              </a:rPr>
              <a:t>9-day → 25-minute ransomware. Detection must shift LEFT into the agent's planning loop.</a:t>
            </a:r>
            <a:endParaRPr lang="en-US" sz="1200" dirty="0"/>
          </a:p>
        </p:txBody>
      </p:sp>
      <p:sp>
        <p:nvSpPr>
          <p:cNvPr id="13" name="Shape 11"/>
          <p:cNvSpPr/>
          <p:nvPr/>
        </p:nvSpPr>
        <p:spPr>
          <a:xfrm>
            <a:off x="548640" y="3392424"/>
            <a:ext cx="27432" cy="621792"/>
          </a:xfrm>
          <a:prstGeom prst="rect">
            <a:avLst/>
          </a:prstGeom>
          <a:solidFill>
            <a:srgbClr val="FFFFFF"/>
          </a:solidFill>
          <a:ln w="12700">
            <a:solidFill>
              <a:srgbClr val="FFFFFF"/>
            </a:solidFill>
            <a:prstDash val="solid"/>
          </a:ln>
        </p:spPr>
      </p:sp>
      <p:sp>
        <p:nvSpPr>
          <p:cNvPr id="14" name="Text 12"/>
          <p:cNvSpPr/>
          <p:nvPr/>
        </p:nvSpPr>
        <p:spPr>
          <a:xfrm>
            <a:off x="685800" y="3410712"/>
            <a:ext cx="78638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Bounded autonomy is the only viable design pattern.</a:t>
            </a:r>
            <a:endParaRPr lang="en-US" sz="1350" dirty="0"/>
          </a:p>
        </p:txBody>
      </p:sp>
      <p:sp>
        <p:nvSpPr>
          <p:cNvPr id="15" name="Text 13"/>
          <p:cNvSpPr/>
          <p:nvPr/>
        </p:nvSpPr>
        <p:spPr>
          <a:xfrm>
            <a:off x="685800" y="3712464"/>
            <a:ext cx="7863840" cy="274320"/>
          </a:xfrm>
          <a:prstGeom prst="rect">
            <a:avLst/>
          </a:prstGeom>
          <a:noFill/>
          <a:ln/>
        </p:spPr>
        <p:txBody>
          <a:bodyPr wrap="square" rtlCol="0" anchor="ctr"/>
          <a:lstStyle/>
          <a:p>
            <a:pPr marL="0" indent="0">
              <a:buNone/>
            </a:pPr>
            <a:r>
              <a:rPr lang="en-US" sz="1200" dirty="0">
                <a:solidFill>
                  <a:srgbClr val="AABBD4"/>
                </a:solidFill>
                <a:latin typeface="Calibri" pitchFamily="34" charset="0"/>
                <a:ea typeface="Calibri" pitchFamily="34" charset="-122"/>
                <a:cs typeface="Calibri" pitchFamily="34" charset="-120"/>
              </a:rPr>
              <a:t>Irreversible actions need human approval. Policy gates and audit logs are non-negotiable.</a:t>
            </a:r>
            <a:endParaRPr lang="en-US" sz="1200" dirty="0"/>
          </a:p>
        </p:txBody>
      </p:sp>
      <p:sp>
        <p:nvSpPr>
          <p:cNvPr id="16" name="Shape 14"/>
          <p:cNvSpPr/>
          <p:nvPr/>
        </p:nvSpPr>
        <p:spPr>
          <a:xfrm>
            <a:off x="548640" y="4142232"/>
            <a:ext cx="27432" cy="621792"/>
          </a:xfrm>
          <a:prstGeom prst="rect">
            <a:avLst/>
          </a:prstGeom>
          <a:solidFill>
            <a:srgbClr val="FFFFFF"/>
          </a:solidFill>
          <a:ln w="12700">
            <a:solidFill>
              <a:srgbClr val="FFFFFF"/>
            </a:solidFill>
            <a:prstDash val="solid"/>
          </a:ln>
        </p:spPr>
      </p:sp>
      <p:sp>
        <p:nvSpPr>
          <p:cNvPr id="17" name="Text 15"/>
          <p:cNvSpPr/>
          <p:nvPr/>
        </p:nvSpPr>
        <p:spPr>
          <a:xfrm>
            <a:off x="685800" y="4160520"/>
            <a:ext cx="7863840" cy="292608"/>
          </a:xfrm>
          <a:prstGeom prst="rect">
            <a:avLst/>
          </a:prstGeom>
          <a:noFill/>
          <a:ln/>
        </p:spPr>
        <p:txBody>
          <a:bodyPr wrap="square"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Defense and offense are the same capabilities.</a:t>
            </a:r>
            <a:endParaRPr lang="en-US" sz="1350" dirty="0"/>
          </a:p>
        </p:txBody>
      </p:sp>
      <p:sp>
        <p:nvSpPr>
          <p:cNvPr id="18" name="Text 16"/>
          <p:cNvSpPr/>
          <p:nvPr/>
        </p:nvSpPr>
        <p:spPr>
          <a:xfrm>
            <a:off x="685800" y="4462272"/>
            <a:ext cx="7863840" cy="274320"/>
          </a:xfrm>
          <a:prstGeom prst="rect">
            <a:avLst/>
          </a:prstGeom>
          <a:noFill/>
          <a:ln/>
        </p:spPr>
        <p:txBody>
          <a:bodyPr wrap="square" rtlCol="0" anchor="ctr"/>
          <a:lstStyle/>
          <a:p>
            <a:pPr marL="0" indent="0">
              <a:buNone/>
            </a:pPr>
            <a:r>
              <a:rPr lang="en-US" sz="1200" dirty="0">
                <a:solidFill>
                  <a:srgbClr val="AABBD4"/>
                </a:solidFill>
                <a:latin typeface="Calibri" pitchFamily="34" charset="0"/>
                <a:ea typeface="Calibri" pitchFamily="34" charset="-122"/>
                <a:cs typeface="Calibri" pitchFamily="34" charset="-120"/>
              </a:rPr>
              <a:t>Every monitoring agent is a potential recon tool. Dual-use is the defining challenge of this era.</a:t>
            </a:r>
            <a:endParaRPr lang="en-US" sz="1200" dirty="0"/>
          </a:p>
        </p:txBody>
      </p:sp>
      <p:sp>
        <p:nvSpPr>
          <p:cNvPr id="19" name="Text 17"/>
          <p:cNvSpPr/>
          <p:nvPr/>
        </p:nvSpPr>
        <p:spPr>
          <a:xfrm>
            <a:off x="0" y="4800600"/>
            <a:ext cx="9144000" cy="347472"/>
          </a:xfrm>
          <a:prstGeom prst="rect">
            <a:avLst/>
          </a:prstGeom>
          <a:noFill/>
          <a:ln/>
        </p:spPr>
        <p:txBody>
          <a:bodyPr wrap="square" rtlCol="0" anchor="ctr"/>
          <a:lstStyle/>
          <a:p>
            <a:pPr marL="0" indent="0" algn="ctr">
              <a:buNone/>
            </a:pPr>
            <a:r>
              <a:rPr lang="en-US" sz="1500" dirty="0">
                <a:solidFill>
                  <a:srgbClr val="AABBD4"/>
                </a:solidFill>
                <a:latin typeface="Calibri" pitchFamily="34" charset="0"/>
                <a:ea typeface="Calibri" pitchFamily="34" charset="-122"/>
                <a:cs typeface="Calibri" pitchFamily="34" charset="-120"/>
              </a:rPr>
              <a:t>Thank you  ·  Questions?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420</TotalTime>
  <Words>10288</Words>
  <Application>Microsoft Office PowerPoint</Application>
  <PresentationFormat>On-screen Show (16:9)</PresentationFormat>
  <Paragraphs>537</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&amp; Cybersecurity</dc:title>
  <dc:subject>PptxGenJS Presentation</dc:subject>
  <dc:creator>PptxGenJS</dc:creator>
  <cp:lastModifiedBy>mester n</cp:lastModifiedBy>
  <cp:revision>4</cp:revision>
  <dcterms:created xsi:type="dcterms:W3CDTF">2026-02-23T07:34:49Z</dcterms:created>
  <dcterms:modified xsi:type="dcterms:W3CDTF">2026-02-23T17:27:46Z</dcterms:modified>
</cp:coreProperties>
</file>